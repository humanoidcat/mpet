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8 bits</c:v>
                </c:pt>
              </c:strCache>
            </c:strRef>
          </c:tx>
          <c:spPr>
            <a:solidFill>
              <a:srgbClr val="065A82"/>
            </a:solidFill>
            <a:effectLst/>
          </c:spPr>
          <c:invertIfNegative val="0"/>
          <c:dLbls>
            <c:numFmt formatCode="#,##0" sourceLinked="0"/>
            <c:txPr>
              <a:bodyPr/>
              <a:lstStyle/>
              <a:p>
                <a:pPr>
                  <a:defRPr b="0" i="0" strike="noStrike" sz="1200" u="none">
                    <a:solidFill>
                      <a:srgbClr val="1E24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Latencia por frase (ms)</c:v>
                  </c:pt>
                  <c:pt idx="1">
                    <c:v>Tamaño en caché (MB)</c:v>
                  </c:pt>
                </c:lvl>
              </c:multiLvlStrCache>
            </c:multiLvlStrRef>
          </c:cat>
          <c:val>
            <c:numRef>
              <c:f>Sheet1!$B$2:$B$3</c:f>
              <c:numCache>
                <c:formatCode>General</c:formatCode>
                <c:ptCount val="2"/>
                <c:pt idx="0">
                  <c:v>320</c:v>
                </c:pt>
                <c:pt idx="1">
                  <c:v>238</c:v>
                </c:pt>
              </c:numCache>
            </c:numRef>
          </c:val>
        </c:ser>
        <c:ser>
          <c:idx val="1"/>
          <c:order val="1"/>
          <c:tx>
            <c:strRef>
              <c:f>Sheet1!$C$1</c:f>
              <c:strCache>
                <c:ptCount val="1"/>
                <c:pt idx="0">
                  <c:v>4 bits</c:v>
                </c:pt>
              </c:strCache>
            </c:strRef>
          </c:tx>
          <c:spPr>
            <a:solidFill>
              <a:srgbClr val="C05621"/>
            </a:solidFill>
            <a:effectLst/>
          </c:spPr>
          <c:invertIfNegative val="0"/>
          <c:dLbls>
            <c:numFmt formatCode="#,##0" sourceLinked="0"/>
            <c:txPr>
              <a:bodyPr/>
              <a:lstStyle/>
              <a:p>
                <a:pPr>
                  <a:defRPr b="0" i="0" strike="noStrike" sz="1200" u="none">
                    <a:solidFill>
                      <a:srgbClr val="1E24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Latencia por frase (ms)</c:v>
                  </c:pt>
                  <c:pt idx="1">
                    <c:v>Tamaño en caché (MB)</c:v>
                  </c:pt>
                </c:lvl>
              </c:multiLvlStrCache>
            </c:multiLvlStrRef>
          </c:cat>
          <c:val>
            <c:numRef>
              <c:f>Sheet1!$C$2:$C$3</c:f>
              <c:numCache>
                <c:formatCode>General</c:formatCode>
                <c:ptCount val="2"/>
                <c:pt idx="0">
                  <c:v>1209</c:v>
                </c:pt>
                <c:pt idx="1">
                  <c:v>304</c:v>
                </c:pt>
              </c:numCache>
            </c:numRef>
          </c:val>
        </c:ser>
        <c:dLbls>
          <c:numFmt formatCode="#,##0" sourceLinked="0"/>
          <c:txPr>
            <a:bodyPr/>
            <a:lstStyle/>
            <a:p>
              <a:pPr>
                <a:defRPr b="0" i="0" strike="noStrike" sz="1200" u="none">
                  <a:solidFill>
                    <a:srgbClr val="1E243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64748B"/>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Alejandro. Saludo breve y presentación del equipo. 20 segundos, no leer los nombres uno por uno: "somos cuatro, cada uno lleva un módulo".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45 segundos. Lo importante: cerrar con la última tarjeta, que es la que conecta el problema con 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45 segundos. Recalcar que "sin servidores" no es una elección estetica: es requisito del curso y es lo que hace la herramienta accesible y privada.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60 segundos. Esta es la diapositiva de gestion más importante: explica por que el proyecto avanzo en paralelo sin bloqueos.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Fabrizio. 90 segundos. Recorrer la cadena de izquierda a derecha y cerrar con la justificación de por que el remuestreo es propio. Si preguntan por aliasing, la respuesta esta en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Fabrizio. 60 segundos. Las cuatro cifras primero, luego la justificación de la validacion analitica. Es el argumento más fuerte del proyecto frente al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Isaac. 60 segundos. La idea central: el requisito de cero servidores obliga a decisiones concretas de ingeniería, no es solo una etiqueta.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Isaac. 75 segundos. El hallazgo de la cuantización es lo más interesante para el profesor: un resultado medido que contradice la intuicion, con explicacion técnica.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Isaac. 45 segundos. Dejar que el grafico hable: la barra de 4 bits es peor en las dos metricas.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José Pablo. 60 segundos. Cerrar con la última franja: es la declaracion honesta de que esas vistas todavia no tienen datos detras. Decirlo antes de que lo pregunten.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Demostración en vivo, la lleva José Pablo con apoyo de Alejandro. Tres minutos. Checklist previo: modelos ya cacheados en el equipo, permiso de micrófono concedido, video de respaldo abierto en otra pestaña. Frase para el modo sin conexión: "voy a desactivar la red y la aplicación sigue funcionando".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45 segundos. Mencionar que el historial de commits documenta la contribucion de cada integrante, por si el profesor quiere revisarlo.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45 segundos. Ser explicito con la última fila: lo que falta esta planificado con fecha, no olvidado.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30 segundos. Cerrar reconociendo el riesgo abierto: muestra que el equipo sabe donde esta parado.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cuatro al frente. Preguntas probables: por que 16 kHz (Nyquist para voz), por que implementar la FFT si existen bibliotecas (es el contenido del curso y la validacion es analitica), por que Whisper tiny (medición de latencia), como se garantiza que funciona sin conexión (caché de modelos y del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22960" y="1046988"/>
            <a:ext cx="139177" cy="54864"/>
          </a:xfrm>
          <a:prstGeom prst="roundRect">
            <a:avLst>
              <a:gd name="adj" fmla="val 666667"/>
            </a:avLst>
          </a:prstGeom>
          <a:solidFill>
            <a:srgbClr val="2E3A73"/>
          </a:solidFill>
          <a:ln/>
        </p:spPr>
      </p:sp>
      <p:sp>
        <p:nvSpPr>
          <p:cNvPr id="3" name="Shape 1"/>
          <p:cNvSpPr/>
          <p:nvPr/>
        </p:nvSpPr>
        <p:spPr>
          <a:xfrm>
            <a:off x="1132242" y="988157"/>
            <a:ext cx="139177" cy="172526"/>
          </a:xfrm>
          <a:prstGeom prst="roundRect">
            <a:avLst>
              <a:gd name="adj" fmla="val 262802"/>
            </a:avLst>
          </a:prstGeom>
          <a:solidFill>
            <a:srgbClr val="2E3A73"/>
          </a:solidFill>
          <a:ln/>
        </p:spPr>
      </p:sp>
      <p:sp>
        <p:nvSpPr>
          <p:cNvPr id="4" name="Shape 2"/>
          <p:cNvSpPr/>
          <p:nvPr/>
        </p:nvSpPr>
        <p:spPr>
          <a:xfrm>
            <a:off x="1441525" y="950623"/>
            <a:ext cx="139177" cy="247594"/>
          </a:xfrm>
          <a:prstGeom prst="roundRect">
            <a:avLst>
              <a:gd name="adj" fmla="val 262802"/>
            </a:avLst>
          </a:prstGeom>
          <a:solidFill>
            <a:srgbClr val="2E3A73"/>
          </a:solidFill>
          <a:ln/>
        </p:spPr>
      </p:sp>
      <p:sp>
        <p:nvSpPr>
          <p:cNvPr id="5" name="Shape 3"/>
          <p:cNvSpPr/>
          <p:nvPr/>
        </p:nvSpPr>
        <p:spPr>
          <a:xfrm>
            <a:off x="1750807" y="995789"/>
            <a:ext cx="139177" cy="157263"/>
          </a:xfrm>
          <a:prstGeom prst="roundRect">
            <a:avLst>
              <a:gd name="adj" fmla="val 262802"/>
            </a:avLst>
          </a:prstGeom>
          <a:solidFill>
            <a:srgbClr val="2E3A73"/>
          </a:solidFill>
          <a:ln/>
        </p:spPr>
      </p:sp>
      <p:sp>
        <p:nvSpPr>
          <p:cNvPr id="6" name="Shape 4"/>
          <p:cNvSpPr/>
          <p:nvPr/>
        </p:nvSpPr>
        <p:spPr>
          <a:xfrm>
            <a:off x="2060089" y="871207"/>
            <a:ext cx="139177" cy="406426"/>
          </a:xfrm>
          <a:prstGeom prst="roundRect">
            <a:avLst>
              <a:gd name="adj" fmla="val 262802"/>
            </a:avLst>
          </a:prstGeom>
          <a:solidFill>
            <a:srgbClr val="2E3A73"/>
          </a:solidFill>
          <a:ln/>
        </p:spPr>
      </p:sp>
      <p:sp>
        <p:nvSpPr>
          <p:cNvPr id="7" name="Shape 5"/>
          <p:cNvSpPr/>
          <p:nvPr/>
        </p:nvSpPr>
        <p:spPr>
          <a:xfrm>
            <a:off x="2369372" y="877465"/>
            <a:ext cx="139177" cy="393910"/>
          </a:xfrm>
          <a:prstGeom prst="roundRect">
            <a:avLst>
              <a:gd name="adj" fmla="val 262802"/>
            </a:avLst>
          </a:prstGeom>
          <a:solidFill>
            <a:srgbClr val="2E3A73"/>
          </a:solidFill>
          <a:ln/>
        </p:spPr>
      </p:sp>
      <p:sp>
        <p:nvSpPr>
          <p:cNvPr id="8" name="Shape 6"/>
          <p:cNvSpPr/>
          <p:nvPr/>
        </p:nvSpPr>
        <p:spPr>
          <a:xfrm>
            <a:off x="2678654" y="934574"/>
            <a:ext cx="139177" cy="279692"/>
          </a:xfrm>
          <a:prstGeom prst="roundRect">
            <a:avLst>
              <a:gd name="adj" fmla="val 262802"/>
            </a:avLst>
          </a:prstGeom>
          <a:solidFill>
            <a:srgbClr val="2E3A73"/>
          </a:solidFill>
          <a:ln/>
        </p:spPr>
      </p:sp>
      <p:sp>
        <p:nvSpPr>
          <p:cNvPr id="9" name="Shape 7"/>
          <p:cNvSpPr/>
          <p:nvPr/>
        </p:nvSpPr>
        <p:spPr>
          <a:xfrm>
            <a:off x="2987936" y="791292"/>
            <a:ext cx="139177" cy="566256"/>
          </a:xfrm>
          <a:prstGeom prst="roundRect">
            <a:avLst>
              <a:gd name="adj" fmla="val 262802"/>
            </a:avLst>
          </a:prstGeom>
          <a:solidFill>
            <a:srgbClr val="2E3A73"/>
          </a:solidFill>
          <a:ln/>
        </p:spPr>
      </p:sp>
      <p:sp>
        <p:nvSpPr>
          <p:cNvPr id="10" name="Shape 8"/>
          <p:cNvSpPr/>
          <p:nvPr/>
        </p:nvSpPr>
        <p:spPr>
          <a:xfrm>
            <a:off x="3297219" y="842469"/>
            <a:ext cx="139177" cy="463901"/>
          </a:xfrm>
          <a:prstGeom prst="roundRect">
            <a:avLst>
              <a:gd name="adj" fmla="val 262802"/>
            </a:avLst>
          </a:prstGeom>
          <a:solidFill>
            <a:srgbClr val="2E3A73"/>
          </a:solidFill>
          <a:ln/>
        </p:spPr>
      </p:sp>
      <p:sp>
        <p:nvSpPr>
          <p:cNvPr id="11" name="Shape 9"/>
          <p:cNvSpPr/>
          <p:nvPr/>
        </p:nvSpPr>
        <p:spPr>
          <a:xfrm>
            <a:off x="3606501" y="875436"/>
            <a:ext cx="139177" cy="397968"/>
          </a:xfrm>
          <a:prstGeom prst="roundRect">
            <a:avLst>
              <a:gd name="adj" fmla="val 262802"/>
            </a:avLst>
          </a:prstGeom>
          <a:solidFill>
            <a:srgbClr val="2E3A73"/>
          </a:solidFill>
          <a:ln/>
        </p:spPr>
      </p:sp>
      <p:sp>
        <p:nvSpPr>
          <p:cNvPr id="12" name="Shape 10"/>
          <p:cNvSpPr/>
          <p:nvPr/>
        </p:nvSpPr>
        <p:spPr>
          <a:xfrm>
            <a:off x="3915784" y="735388"/>
            <a:ext cx="139177" cy="678063"/>
          </a:xfrm>
          <a:prstGeom prst="roundRect">
            <a:avLst>
              <a:gd name="adj" fmla="val 262802"/>
            </a:avLst>
          </a:prstGeom>
          <a:solidFill>
            <a:srgbClr val="2E3A73"/>
          </a:solidFill>
          <a:ln/>
        </p:spPr>
      </p:sp>
      <p:sp>
        <p:nvSpPr>
          <p:cNvPr id="13" name="Shape 11"/>
          <p:cNvSpPr/>
          <p:nvPr/>
        </p:nvSpPr>
        <p:spPr>
          <a:xfrm>
            <a:off x="4225066" y="833944"/>
            <a:ext cx="139177" cy="480952"/>
          </a:xfrm>
          <a:prstGeom prst="roundRect">
            <a:avLst>
              <a:gd name="adj" fmla="val 262802"/>
            </a:avLst>
          </a:prstGeom>
          <a:solidFill>
            <a:srgbClr val="2E3A73"/>
          </a:solidFill>
          <a:ln/>
        </p:spPr>
      </p:sp>
      <p:sp>
        <p:nvSpPr>
          <p:cNvPr id="14" name="Shape 12"/>
          <p:cNvSpPr/>
          <p:nvPr/>
        </p:nvSpPr>
        <p:spPr>
          <a:xfrm>
            <a:off x="4534348" y="822106"/>
            <a:ext cx="139177" cy="504627"/>
          </a:xfrm>
          <a:prstGeom prst="roundRect">
            <a:avLst>
              <a:gd name="adj" fmla="val 262802"/>
            </a:avLst>
          </a:prstGeom>
          <a:solidFill>
            <a:srgbClr val="2E3A73"/>
          </a:solidFill>
          <a:ln/>
        </p:spPr>
      </p:sp>
      <p:sp>
        <p:nvSpPr>
          <p:cNvPr id="15" name="Shape 13"/>
          <p:cNvSpPr/>
          <p:nvPr/>
        </p:nvSpPr>
        <p:spPr>
          <a:xfrm>
            <a:off x="4843631" y="702546"/>
            <a:ext cx="139177" cy="743748"/>
          </a:xfrm>
          <a:prstGeom prst="roundRect">
            <a:avLst>
              <a:gd name="adj" fmla="val 262802"/>
            </a:avLst>
          </a:prstGeom>
          <a:solidFill>
            <a:srgbClr val="2E3A73"/>
          </a:solidFill>
          <a:ln/>
        </p:spPr>
      </p:sp>
      <p:sp>
        <p:nvSpPr>
          <p:cNvPr id="16" name="Shape 14"/>
          <p:cNvSpPr/>
          <p:nvPr/>
        </p:nvSpPr>
        <p:spPr>
          <a:xfrm>
            <a:off x="5152913" y="846163"/>
            <a:ext cx="139177" cy="456514"/>
          </a:xfrm>
          <a:prstGeom prst="roundRect">
            <a:avLst>
              <a:gd name="adj" fmla="val 262802"/>
            </a:avLst>
          </a:prstGeom>
          <a:solidFill>
            <a:srgbClr val="2E3A73"/>
          </a:solidFill>
          <a:ln/>
        </p:spPr>
      </p:sp>
      <p:sp>
        <p:nvSpPr>
          <p:cNvPr id="17" name="Shape 15"/>
          <p:cNvSpPr/>
          <p:nvPr/>
        </p:nvSpPr>
        <p:spPr>
          <a:xfrm>
            <a:off x="5462195" y="779345"/>
            <a:ext cx="139177" cy="590150"/>
          </a:xfrm>
          <a:prstGeom prst="roundRect">
            <a:avLst>
              <a:gd name="adj" fmla="val 262802"/>
            </a:avLst>
          </a:prstGeom>
          <a:solidFill>
            <a:srgbClr val="2E3A73"/>
          </a:solidFill>
          <a:ln/>
        </p:spPr>
      </p:sp>
      <p:sp>
        <p:nvSpPr>
          <p:cNvPr id="18" name="Shape 16"/>
          <p:cNvSpPr/>
          <p:nvPr/>
        </p:nvSpPr>
        <p:spPr>
          <a:xfrm>
            <a:off x="5771478" y="692850"/>
            <a:ext cx="139177" cy="763140"/>
          </a:xfrm>
          <a:prstGeom prst="roundRect">
            <a:avLst>
              <a:gd name="adj" fmla="val 262802"/>
            </a:avLst>
          </a:prstGeom>
          <a:solidFill>
            <a:srgbClr val="2E3A73"/>
          </a:solidFill>
          <a:ln/>
        </p:spPr>
      </p:sp>
      <p:sp>
        <p:nvSpPr>
          <p:cNvPr id="19" name="Shape 17"/>
          <p:cNvSpPr/>
          <p:nvPr/>
        </p:nvSpPr>
        <p:spPr>
          <a:xfrm>
            <a:off x="6080760" y="874079"/>
            <a:ext cx="139177" cy="400682"/>
          </a:xfrm>
          <a:prstGeom prst="roundRect">
            <a:avLst>
              <a:gd name="adj" fmla="val 262802"/>
            </a:avLst>
          </a:prstGeom>
          <a:solidFill>
            <a:srgbClr val="2E3A73"/>
          </a:solidFill>
          <a:ln/>
        </p:spPr>
      </p:sp>
      <p:sp>
        <p:nvSpPr>
          <p:cNvPr id="20" name="Shape 18"/>
          <p:cNvSpPr/>
          <p:nvPr/>
        </p:nvSpPr>
        <p:spPr>
          <a:xfrm>
            <a:off x="6390042" y="751780"/>
            <a:ext cx="139177" cy="645281"/>
          </a:xfrm>
          <a:prstGeom prst="roundRect">
            <a:avLst>
              <a:gd name="adj" fmla="val 262802"/>
            </a:avLst>
          </a:prstGeom>
          <a:solidFill>
            <a:srgbClr val="2E3A73"/>
          </a:solidFill>
          <a:ln/>
        </p:spPr>
      </p:sp>
      <p:sp>
        <p:nvSpPr>
          <p:cNvPr id="21" name="Shape 19"/>
          <p:cNvSpPr/>
          <p:nvPr/>
        </p:nvSpPr>
        <p:spPr>
          <a:xfrm>
            <a:off x="6699325" y="705725"/>
            <a:ext cx="139177" cy="737390"/>
          </a:xfrm>
          <a:prstGeom prst="roundRect">
            <a:avLst>
              <a:gd name="adj" fmla="val 262802"/>
            </a:avLst>
          </a:prstGeom>
          <a:solidFill>
            <a:srgbClr val="2E3A73"/>
          </a:solidFill>
          <a:ln/>
        </p:spPr>
      </p:sp>
      <p:sp>
        <p:nvSpPr>
          <p:cNvPr id="22" name="Shape 20"/>
          <p:cNvSpPr/>
          <p:nvPr/>
        </p:nvSpPr>
        <p:spPr>
          <a:xfrm>
            <a:off x="7008607" y="912462"/>
            <a:ext cx="139177" cy="323916"/>
          </a:xfrm>
          <a:prstGeom prst="roundRect">
            <a:avLst>
              <a:gd name="adj" fmla="val 262802"/>
            </a:avLst>
          </a:prstGeom>
          <a:solidFill>
            <a:srgbClr val="2E3A73"/>
          </a:solidFill>
          <a:ln/>
        </p:spPr>
      </p:sp>
      <p:sp>
        <p:nvSpPr>
          <p:cNvPr id="23" name="Shape 21"/>
          <p:cNvSpPr/>
          <p:nvPr/>
        </p:nvSpPr>
        <p:spPr>
          <a:xfrm>
            <a:off x="7317889" y="743428"/>
            <a:ext cx="139177" cy="661984"/>
          </a:xfrm>
          <a:prstGeom prst="roundRect">
            <a:avLst>
              <a:gd name="adj" fmla="val 262802"/>
            </a:avLst>
          </a:prstGeom>
          <a:solidFill>
            <a:srgbClr val="2E3A73"/>
          </a:solidFill>
          <a:ln/>
        </p:spPr>
      </p:sp>
      <p:sp>
        <p:nvSpPr>
          <p:cNvPr id="24" name="Shape 22"/>
          <p:cNvSpPr/>
          <p:nvPr/>
        </p:nvSpPr>
        <p:spPr>
          <a:xfrm>
            <a:off x="7627172" y="739537"/>
            <a:ext cx="139177" cy="669766"/>
          </a:xfrm>
          <a:prstGeom prst="roundRect">
            <a:avLst>
              <a:gd name="adj" fmla="val 262802"/>
            </a:avLst>
          </a:prstGeom>
          <a:solidFill>
            <a:srgbClr val="2E3A73"/>
          </a:solidFill>
          <a:ln/>
        </p:spPr>
      </p:sp>
      <p:sp>
        <p:nvSpPr>
          <p:cNvPr id="25" name="Shape 23"/>
          <p:cNvSpPr/>
          <p:nvPr/>
        </p:nvSpPr>
        <p:spPr>
          <a:xfrm>
            <a:off x="7936454" y="946153"/>
            <a:ext cx="139177" cy="256533"/>
          </a:xfrm>
          <a:prstGeom prst="roundRect">
            <a:avLst>
              <a:gd name="adj" fmla="val 262802"/>
            </a:avLst>
          </a:prstGeom>
          <a:solidFill>
            <a:srgbClr val="2E3A73"/>
          </a:solidFill>
          <a:ln/>
        </p:spPr>
      </p:sp>
      <p:sp>
        <p:nvSpPr>
          <p:cNvPr id="26" name="Shape 24"/>
          <p:cNvSpPr/>
          <p:nvPr/>
        </p:nvSpPr>
        <p:spPr>
          <a:xfrm>
            <a:off x="8245736" y="757537"/>
            <a:ext cx="139177" cy="633766"/>
          </a:xfrm>
          <a:prstGeom prst="roundRect">
            <a:avLst>
              <a:gd name="adj" fmla="val 262802"/>
            </a:avLst>
          </a:prstGeom>
          <a:solidFill>
            <a:srgbClr val="2E3A73"/>
          </a:solidFill>
          <a:ln/>
        </p:spPr>
      </p:sp>
      <p:sp>
        <p:nvSpPr>
          <p:cNvPr id="27" name="Shape 25"/>
          <p:cNvSpPr/>
          <p:nvPr/>
        </p:nvSpPr>
        <p:spPr>
          <a:xfrm>
            <a:off x="8555019" y="791705"/>
            <a:ext cx="139177" cy="565429"/>
          </a:xfrm>
          <a:prstGeom prst="roundRect">
            <a:avLst>
              <a:gd name="adj" fmla="val 262802"/>
            </a:avLst>
          </a:prstGeom>
          <a:solidFill>
            <a:srgbClr val="2E3A73"/>
          </a:solidFill>
          <a:ln/>
        </p:spPr>
      </p:sp>
      <p:sp>
        <p:nvSpPr>
          <p:cNvPr id="28" name="Shape 26"/>
          <p:cNvSpPr/>
          <p:nvPr/>
        </p:nvSpPr>
        <p:spPr>
          <a:xfrm>
            <a:off x="8864301" y="935231"/>
            <a:ext cx="139177" cy="278379"/>
          </a:xfrm>
          <a:prstGeom prst="roundRect">
            <a:avLst>
              <a:gd name="adj" fmla="val 262802"/>
            </a:avLst>
          </a:prstGeom>
          <a:solidFill>
            <a:srgbClr val="2E3A73"/>
          </a:solidFill>
          <a:ln/>
        </p:spPr>
      </p:sp>
      <p:sp>
        <p:nvSpPr>
          <p:cNvPr id="29" name="Shape 27"/>
          <p:cNvSpPr/>
          <p:nvPr/>
        </p:nvSpPr>
        <p:spPr>
          <a:xfrm>
            <a:off x="9173584" y="796895"/>
            <a:ext cx="139177" cy="555049"/>
          </a:xfrm>
          <a:prstGeom prst="roundRect">
            <a:avLst>
              <a:gd name="adj" fmla="val 262802"/>
            </a:avLst>
          </a:prstGeom>
          <a:solidFill>
            <a:srgbClr val="2E3A73"/>
          </a:solidFill>
          <a:ln/>
        </p:spPr>
      </p:sp>
      <p:sp>
        <p:nvSpPr>
          <p:cNvPr id="30" name="Shape 28"/>
          <p:cNvSpPr/>
          <p:nvPr/>
        </p:nvSpPr>
        <p:spPr>
          <a:xfrm>
            <a:off x="9482866" y="859320"/>
            <a:ext cx="139177" cy="430201"/>
          </a:xfrm>
          <a:prstGeom prst="roundRect">
            <a:avLst>
              <a:gd name="adj" fmla="val 262802"/>
            </a:avLst>
          </a:prstGeom>
          <a:solidFill>
            <a:srgbClr val="2E3A73"/>
          </a:solidFill>
          <a:ln/>
        </p:spPr>
      </p:sp>
      <p:sp>
        <p:nvSpPr>
          <p:cNvPr id="31" name="Shape 29"/>
          <p:cNvSpPr/>
          <p:nvPr/>
        </p:nvSpPr>
        <p:spPr>
          <a:xfrm>
            <a:off x="9792148" y="944694"/>
            <a:ext cx="139177" cy="259452"/>
          </a:xfrm>
          <a:prstGeom prst="roundRect">
            <a:avLst>
              <a:gd name="adj" fmla="val 262802"/>
            </a:avLst>
          </a:prstGeom>
          <a:solidFill>
            <a:srgbClr val="2E3A73"/>
          </a:solidFill>
          <a:ln/>
        </p:spPr>
      </p:sp>
      <p:sp>
        <p:nvSpPr>
          <p:cNvPr id="32" name="Shape 30"/>
          <p:cNvSpPr/>
          <p:nvPr/>
        </p:nvSpPr>
        <p:spPr>
          <a:xfrm>
            <a:off x="10101431" y="865605"/>
            <a:ext cx="139177" cy="417630"/>
          </a:xfrm>
          <a:prstGeom prst="roundRect">
            <a:avLst>
              <a:gd name="adj" fmla="val 262802"/>
            </a:avLst>
          </a:prstGeom>
          <a:solidFill>
            <a:srgbClr val="2E3A73"/>
          </a:solidFill>
          <a:ln/>
        </p:spPr>
      </p:sp>
      <p:sp>
        <p:nvSpPr>
          <p:cNvPr id="33" name="Shape 31"/>
          <p:cNvSpPr/>
          <p:nvPr/>
        </p:nvSpPr>
        <p:spPr>
          <a:xfrm>
            <a:off x="10410713" y="941263"/>
            <a:ext cx="139177" cy="266314"/>
          </a:xfrm>
          <a:prstGeom prst="roundRect">
            <a:avLst>
              <a:gd name="adj" fmla="val 262802"/>
            </a:avLst>
          </a:prstGeom>
          <a:solidFill>
            <a:srgbClr val="2E3A73"/>
          </a:solidFill>
          <a:ln/>
        </p:spPr>
      </p:sp>
      <p:sp>
        <p:nvSpPr>
          <p:cNvPr id="34" name="Shape 32"/>
          <p:cNvSpPr/>
          <p:nvPr/>
        </p:nvSpPr>
        <p:spPr>
          <a:xfrm>
            <a:off x="10719995" y="986324"/>
            <a:ext cx="139177" cy="176193"/>
          </a:xfrm>
          <a:prstGeom prst="roundRect">
            <a:avLst>
              <a:gd name="adj" fmla="val 262802"/>
            </a:avLst>
          </a:prstGeom>
          <a:solidFill>
            <a:srgbClr val="2E3A73"/>
          </a:solidFill>
          <a:ln/>
        </p:spPr>
      </p:sp>
      <p:sp>
        <p:nvSpPr>
          <p:cNvPr id="35" name="Shape 33"/>
          <p:cNvSpPr/>
          <p:nvPr/>
        </p:nvSpPr>
        <p:spPr>
          <a:xfrm>
            <a:off x="11029278" y="981447"/>
            <a:ext cx="139177" cy="185945"/>
          </a:xfrm>
          <a:prstGeom prst="roundRect">
            <a:avLst>
              <a:gd name="adj" fmla="val 262802"/>
            </a:avLst>
          </a:prstGeom>
          <a:solidFill>
            <a:srgbClr val="2E3A73"/>
          </a:solidFill>
          <a:ln/>
        </p:spPr>
      </p:sp>
      <p:sp>
        <p:nvSpPr>
          <p:cNvPr id="36" name="Text 34"/>
          <p:cNvSpPr/>
          <p:nvPr/>
        </p:nvSpPr>
        <p:spPr>
          <a:xfrm>
            <a:off x="822960" y="1965960"/>
            <a:ext cx="10515600" cy="91440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My Personal English Teacher</a:t>
            </a:r>
            <a:endParaRPr lang="en-US" sz="4600" dirty="0"/>
          </a:p>
        </p:txBody>
      </p:sp>
      <p:sp>
        <p:nvSpPr>
          <p:cNvPr id="37" name="Text 35"/>
          <p:cNvSpPr/>
          <p:nvPr/>
        </p:nvSpPr>
        <p:spPr>
          <a:xfrm>
            <a:off x="841248" y="2880360"/>
            <a:ext cx="9326880" cy="731520"/>
          </a:xfrm>
          <a:prstGeom prst="rect">
            <a:avLst/>
          </a:prstGeom>
          <a:noFill/>
          <a:ln/>
        </p:spPr>
        <p:txBody>
          <a:bodyPr wrap="square" rtlCol="0" anchor="ctr"/>
          <a:lstStyle/>
          <a:p>
            <a:pPr indent="0" marL="0">
              <a:buNone/>
            </a:pPr>
            <a:r>
              <a:rPr lang="en-US" sz="1600" dirty="0">
                <a:solidFill>
                  <a:srgbClr val="C7D2E8"/>
                </a:solidFill>
                <a:latin typeface="Calibri" pitchFamily="34" charset="0"/>
                <a:ea typeface="Calibri" pitchFamily="34" charset="-122"/>
                <a:cs typeface="Calibri" pitchFamily="34" charset="-120"/>
              </a:rPr>
              <a:t>Práctica de inglés conversacional con procesamiento de señales e inteligencia artificial ejecutada en el navegador</a:t>
            </a:r>
            <a:endParaRPr lang="en-US" sz="1600" dirty="0"/>
          </a:p>
        </p:txBody>
      </p:sp>
      <p:sp>
        <p:nvSpPr>
          <p:cNvPr id="38" name="Shape 36"/>
          <p:cNvSpPr/>
          <p:nvPr/>
        </p:nvSpPr>
        <p:spPr>
          <a:xfrm>
            <a:off x="822960" y="3886200"/>
            <a:ext cx="2286000" cy="384048"/>
          </a:xfrm>
          <a:prstGeom prst="roundRect">
            <a:avLst>
              <a:gd name="adj" fmla="val 119048"/>
            </a:avLst>
          </a:prstGeom>
          <a:solidFill>
            <a:srgbClr val="02C39A"/>
          </a:solidFill>
          <a:ln/>
        </p:spPr>
      </p:sp>
      <p:sp>
        <p:nvSpPr>
          <p:cNvPr id="39" name="Text 37"/>
          <p:cNvSpPr/>
          <p:nvPr/>
        </p:nvSpPr>
        <p:spPr>
          <a:xfrm>
            <a:off x="822960" y="3886200"/>
            <a:ext cx="2286000" cy="384048"/>
          </a:xfrm>
          <a:prstGeom prst="rect">
            <a:avLst/>
          </a:prstGeom>
          <a:noFill/>
          <a:ln/>
        </p:spPr>
        <p:txBody>
          <a:bodyPr wrap="square" lIns="0" tIns="0" rIns="0" bIns="0" rtlCol="0" anchor="ctr"/>
          <a:lstStyle/>
          <a:p>
            <a:pPr algn="ctr" indent="0" marL="0">
              <a:buNone/>
            </a:pPr>
            <a:r>
              <a:rPr lang="en-US" sz="1200" b="1" spc="200" kern="0" dirty="0">
                <a:solidFill>
                  <a:srgbClr val="21295C"/>
                </a:solidFill>
                <a:latin typeface="Calibri" pitchFamily="34" charset="0"/>
                <a:ea typeface="Calibri" pitchFamily="34" charset="-122"/>
                <a:cs typeface="Calibri" pitchFamily="34" charset="-120"/>
              </a:rPr>
              <a:t>AVANCE 1</a:t>
            </a:r>
            <a:endParaRPr lang="en-US" sz="1200" dirty="0"/>
          </a:p>
        </p:txBody>
      </p:sp>
      <p:sp>
        <p:nvSpPr>
          <p:cNvPr id="40" name="Text 38"/>
          <p:cNvSpPr/>
          <p:nvPr/>
        </p:nvSpPr>
        <p:spPr>
          <a:xfrm>
            <a:off x="822960" y="4709160"/>
            <a:ext cx="2743200" cy="8229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Alejandro Zamora</a:t>
            </a:r>
            <a:endParaRPr lang="en-US" sz="1350" dirty="0"/>
          </a:p>
          <a:p>
            <a:pPr indent="0" marL="0">
              <a:buNone/>
            </a:pPr>
            <a:r>
              <a:rPr lang="en-US" sz="1100" dirty="0">
                <a:solidFill>
                  <a:srgbClr val="9FB0D0"/>
                </a:solidFill>
                <a:latin typeface="Calibri" pitchFamily="34" charset="0"/>
                <a:ea typeface="Calibri" pitchFamily="34" charset="-122"/>
                <a:cs typeface="Calibri" pitchFamily="34" charset="-120"/>
              </a:rPr>
              <a:t>Gestión, arquitectura e integración</a:t>
            </a:r>
            <a:endParaRPr lang="en-US" sz="1350" dirty="0"/>
          </a:p>
        </p:txBody>
      </p:sp>
      <p:sp>
        <p:nvSpPr>
          <p:cNvPr id="41" name="Text 39"/>
          <p:cNvSpPr/>
          <p:nvPr/>
        </p:nvSpPr>
        <p:spPr>
          <a:xfrm>
            <a:off x="3611880" y="4709160"/>
            <a:ext cx="2743200" cy="8229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Fabrizio Espinoza</a:t>
            </a:r>
            <a:endParaRPr lang="en-US" sz="1350" dirty="0"/>
          </a:p>
          <a:p>
            <a:pPr indent="0" marL="0">
              <a:buNone/>
            </a:pPr>
            <a:r>
              <a:rPr lang="en-US" sz="1100" dirty="0">
                <a:solidFill>
                  <a:srgbClr val="9FB0D0"/>
                </a:solidFill>
                <a:latin typeface="Calibri" pitchFamily="34" charset="0"/>
                <a:ea typeface="Calibri" pitchFamily="34" charset="-122"/>
                <a:cs typeface="Calibri" pitchFamily="34" charset="-120"/>
              </a:rPr>
              <a:t>Procesamiento digital de señales</a:t>
            </a:r>
            <a:endParaRPr lang="en-US" sz="1350" dirty="0"/>
          </a:p>
        </p:txBody>
      </p:sp>
      <p:sp>
        <p:nvSpPr>
          <p:cNvPr id="42" name="Text 40"/>
          <p:cNvSpPr/>
          <p:nvPr/>
        </p:nvSpPr>
        <p:spPr>
          <a:xfrm>
            <a:off x="6400800" y="4709160"/>
            <a:ext cx="2743200" cy="8229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Isaac Morum</a:t>
            </a:r>
            <a:endParaRPr lang="en-US" sz="1350" dirty="0"/>
          </a:p>
          <a:p>
            <a:pPr indent="0" marL="0">
              <a:buNone/>
            </a:pPr>
            <a:r>
              <a:rPr lang="en-US" sz="1100" dirty="0">
                <a:solidFill>
                  <a:srgbClr val="9FB0D0"/>
                </a:solidFill>
                <a:latin typeface="Calibri" pitchFamily="34" charset="0"/>
                <a:ea typeface="Calibri" pitchFamily="34" charset="-122"/>
                <a:cs typeface="Calibri" pitchFamily="34" charset="-120"/>
              </a:rPr>
              <a:t>Modelos de inteligencia artificial</a:t>
            </a:r>
            <a:endParaRPr lang="en-US" sz="1350" dirty="0"/>
          </a:p>
        </p:txBody>
      </p:sp>
      <p:sp>
        <p:nvSpPr>
          <p:cNvPr id="43" name="Text 41"/>
          <p:cNvSpPr/>
          <p:nvPr/>
        </p:nvSpPr>
        <p:spPr>
          <a:xfrm>
            <a:off x="9189720" y="4709160"/>
            <a:ext cx="2743200" cy="8229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José Pablo Monestel</a:t>
            </a:r>
            <a:endParaRPr lang="en-US" sz="1350" dirty="0"/>
          </a:p>
          <a:p>
            <a:pPr indent="0" marL="0">
              <a:buNone/>
            </a:pPr>
            <a:r>
              <a:rPr lang="en-US" sz="1100" dirty="0">
                <a:solidFill>
                  <a:srgbClr val="9FB0D0"/>
                </a:solidFill>
                <a:latin typeface="Calibri" pitchFamily="34" charset="0"/>
                <a:ea typeface="Calibri" pitchFamily="34" charset="-122"/>
                <a:cs typeface="Calibri" pitchFamily="34" charset="-120"/>
              </a:rPr>
              <a:t>Interfaz y diseño visual</a:t>
            </a:r>
            <a:endParaRPr lang="en-US" sz="1350" dirty="0"/>
          </a:p>
        </p:txBody>
      </p:sp>
      <p:sp>
        <p:nvSpPr>
          <p:cNvPr id="44" name="Text 42"/>
          <p:cNvSpPr/>
          <p:nvPr/>
        </p:nvSpPr>
        <p:spPr>
          <a:xfrm>
            <a:off x="822960" y="5943600"/>
            <a:ext cx="10515600" cy="320040"/>
          </a:xfrm>
          <a:prstGeom prst="rect">
            <a:avLst/>
          </a:prstGeom>
          <a:noFill/>
          <a:ln/>
        </p:spPr>
        <p:txBody>
          <a:bodyPr wrap="square" lIns="0" tIns="0" rIns="0" bIns="0" rtlCol="0" anchor="ctr"/>
          <a:lstStyle/>
          <a:p>
            <a:pPr indent="0" marL="0">
              <a:buNone/>
            </a:pPr>
            <a:r>
              <a:rPr lang="en-US" sz="1150" dirty="0">
                <a:solidFill>
                  <a:srgbClr val="7C8AAE"/>
                </a:solidFill>
                <a:latin typeface="Calibri" pitchFamily="34" charset="0"/>
                <a:ea typeface="Calibri" pitchFamily="34" charset="-122"/>
                <a:cs typeface="Calibri" pitchFamily="34" charset="-120"/>
              </a:rPr>
              <a:t>Señales y Sistemas  ·  Semana 4  ·  28 de julio de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84048"/>
            <a:ext cx="10881360" cy="685800"/>
          </a:xfrm>
          <a:prstGeom prst="rect">
            <a:avLst/>
          </a:prstGeom>
          <a:noFill/>
          <a:ln/>
        </p:spPr>
        <p:txBody>
          <a:bodyPr wrap="square" rtlCol="0" anchor="ctr"/>
          <a:lstStyle/>
          <a:p>
            <a:pPr indent="0" marL="0">
              <a:buNone/>
            </a:pPr>
            <a:r>
              <a:rPr lang="en-US" sz="3400" b="1" dirty="0">
                <a:solidFill>
                  <a:srgbClr val="1E2433"/>
                </a:solidFill>
                <a:latin typeface="Cambria" pitchFamily="34" charset="0"/>
                <a:ea typeface="Cambria" pitchFamily="34" charset="-122"/>
                <a:cs typeface="Cambria" pitchFamily="34" charset="-120"/>
              </a:rPr>
              <a:t>El problema</a:t>
            </a:r>
            <a:endParaRPr lang="en-US" sz="3400" dirty="0"/>
          </a:p>
        </p:txBody>
      </p:sp>
      <p:sp>
        <p:nvSpPr>
          <p:cNvPr id="3" name="Text 1"/>
          <p:cNvSpPr/>
          <p:nvPr/>
        </p:nvSpPr>
        <p:spPr>
          <a:xfrm>
            <a:off x="658368" y="1060704"/>
            <a:ext cx="10881360" cy="365760"/>
          </a:xfrm>
          <a:prstGeom prst="rect">
            <a:avLst/>
          </a:prstGeom>
          <a:noFill/>
          <a:ln/>
        </p:spPr>
        <p:txBody>
          <a:bodyPr wrap="square" rtlCol="0" anchor="ctr"/>
          <a:lstStyle/>
          <a:p>
            <a:pPr indent="0" marL="0">
              <a:buNone/>
            </a:pPr>
            <a:r>
              <a:rPr lang="en-US" sz="1400" dirty="0">
                <a:solidFill>
                  <a:srgbClr val="64748B"/>
                </a:solidFill>
                <a:latin typeface="Calibri" pitchFamily="34" charset="0"/>
                <a:ea typeface="Calibri" pitchFamily="34" charset="-122"/>
                <a:cs typeface="Calibri" pitchFamily="34" charset="-120"/>
              </a:rPr>
              <a:t>Por qué un hispanohablante que sabe la regla igual no logra hablar</a:t>
            </a:r>
            <a:endParaRPr lang="en-US" sz="1400" dirty="0"/>
          </a:p>
        </p:txBody>
      </p:sp>
      <p:sp>
        <p:nvSpPr>
          <p:cNvPr id="4" name="Shape 2"/>
          <p:cNvSpPr/>
          <p:nvPr/>
        </p:nvSpPr>
        <p:spPr>
          <a:xfrm>
            <a:off x="640080" y="1600200"/>
            <a:ext cx="3429000" cy="2331720"/>
          </a:xfrm>
          <a:prstGeom prst="roundRect">
            <a:avLst>
              <a:gd name="adj" fmla="val 2353"/>
            </a:avLst>
          </a:prstGeom>
          <a:solidFill>
            <a:srgbClr val="F1F5F9"/>
          </a:solidFill>
          <a:ln/>
        </p:spPr>
      </p:sp>
      <p:sp>
        <p:nvSpPr>
          <p:cNvPr id="5" name="Shape 3"/>
          <p:cNvSpPr/>
          <p:nvPr/>
        </p:nvSpPr>
        <p:spPr>
          <a:xfrm>
            <a:off x="932688" y="1874520"/>
            <a:ext cx="420624" cy="420624"/>
          </a:xfrm>
          <a:prstGeom prst="ellipse">
            <a:avLst/>
          </a:prstGeom>
          <a:solidFill>
            <a:srgbClr val="065A82"/>
          </a:solidFill>
          <a:ln/>
        </p:spPr>
      </p:sp>
      <p:sp>
        <p:nvSpPr>
          <p:cNvPr id="6" name="Text 4"/>
          <p:cNvSpPr/>
          <p:nvPr/>
        </p:nvSpPr>
        <p:spPr>
          <a:xfrm>
            <a:off x="932688" y="18745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932688" y="2395728"/>
            <a:ext cx="2834640" cy="365760"/>
          </a:xfrm>
          <a:prstGeom prst="rect">
            <a:avLst/>
          </a:prstGeom>
          <a:noFill/>
          <a:ln/>
        </p:spPr>
        <p:txBody>
          <a:bodyPr wrap="square" lIns="0" tIns="0" rIns="0" bIns="0" rtlCol="0" anchor="ctr"/>
          <a:lstStyle/>
          <a:p>
            <a:pPr indent="0" marL="0">
              <a:buNone/>
            </a:pPr>
            <a:r>
              <a:rPr lang="en-US" sz="1700" b="1" dirty="0">
                <a:solidFill>
                  <a:srgbClr val="1E2433"/>
                </a:solidFill>
                <a:latin typeface="Cambria" pitchFamily="34" charset="0"/>
                <a:ea typeface="Cambria" pitchFamily="34" charset="-122"/>
                <a:cs typeface="Cambria" pitchFamily="34" charset="-120"/>
              </a:rPr>
              <a:t>Barrera fonética</a:t>
            </a:r>
            <a:endParaRPr lang="en-US" sz="1700" dirty="0"/>
          </a:p>
        </p:txBody>
      </p:sp>
      <p:sp>
        <p:nvSpPr>
          <p:cNvPr id="8" name="Text 6"/>
          <p:cNvSpPr/>
          <p:nvPr/>
        </p:nvSpPr>
        <p:spPr>
          <a:xfrm>
            <a:off x="932688" y="2788920"/>
            <a:ext cx="2834640" cy="105156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El español tiene 5 vocales; el inglés supera las 11. Pares como ship y sheep se colapsan en un mismo sonido para el oído no entrenado.</a:t>
            </a:r>
            <a:endParaRPr lang="en-US" sz="1150" dirty="0"/>
          </a:p>
        </p:txBody>
      </p:sp>
      <p:sp>
        <p:nvSpPr>
          <p:cNvPr id="9" name="Shape 7"/>
          <p:cNvSpPr/>
          <p:nvPr/>
        </p:nvSpPr>
        <p:spPr>
          <a:xfrm>
            <a:off x="4361688" y="1600200"/>
            <a:ext cx="3429000" cy="2331720"/>
          </a:xfrm>
          <a:prstGeom prst="roundRect">
            <a:avLst>
              <a:gd name="adj" fmla="val 2353"/>
            </a:avLst>
          </a:prstGeom>
          <a:solidFill>
            <a:srgbClr val="F1F5F9"/>
          </a:solidFill>
          <a:ln/>
        </p:spPr>
      </p:sp>
      <p:sp>
        <p:nvSpPr>
          <p:cNvPr id="10" name="Shape 8"/>
          <p:cNvSpPr/>
          <p:nvPr/>
        </p:nvSpPr>
        <p:spPr>
          <a:xfrm>
            <a:off x="4654296" y="1874520"/>
            <a:ext cx="420624" cy="420624"/>
          </a:xfrm>
          <a:prstGeom prst="ellipse">
            <a:avLst/>
          </a:prstGeom>
          <a:solidFill>
            <a:srgbClr val="065A82"/>
          </a:solidFill>
          <a:ln/>
        </p:spPr>
      </p:sp>
      <p:sp>
        <p:nvSpPr>
          <p:cNvPr id="11" name="Text 9"/>
          <p:cNvSpPr/>
          <p:nvPr/>
        </p:nvSpPr>
        <p:spPr>
          <a:xfrm>
            <a:off x="4654296" y="18745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4654296" y="2395728"/>
            <a:ext cx="2834640" cy="365760"/>
          </a:xfrm>
          <a:prstGeom prst="rect">
            <a:avLst/>
          </a:prstGeom>
          <a:noFill/>
          <a:ln/>
        </p:spPr>
        <p:txBody>
          <a:bodyPr wrap="square" lIns="0" tIns="0" rIns="0" bIns="0" rtlCol="0" anchor="ctr"/>
          <a:lstStyle/>
          <a:p>
            <a:pPr indent="0" marL="0">
              <a:buNone/>
            </a:pPr>
            <a:r>
              <a:rPr lang="en-US" sz="1700" b="1" dirty="0">
                <a:solidFill>
                  <a:srgbClr val="1E2433"/>
                </a:solidFill>
                <a:latin typeface="Cambria" pitchFamily="34" charset="0"/>
                <a:ea typeface="Cambria" pitchFamily="34" charset="-122"/>
                <a:cs typeface="Cambria" pitchFamily="34" charset="-120"/>
              </a:rPr>
              <a:t>Práctica inaccesible</a:t>
            </a:r>
            <a:endParaRPr lang="en-US" sz="1700" dirty="0"/>
          </a:p>
        </p:txBody>
      </p:sp>
      <p:sp>
        <p:nvSpPr>
          <p:cNvPr id="13" name="Text 11"/>
          <p:cNvSpPr/>
          <p:nvPr/>
        </p:nvSpPr>
        <p:spPr>
          <a:xfrm>
            <a:off x="4654296" y="2788920"/>
            <a:ext cx="2834640" cy="105156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La corrección en el momento exige un interlocutor. Tutorías y academias cuestan, dependen de horario y de conexión estable.</a:t>
            </a:r>
            <a:endParaRPr lang="en-US" sz="1150" dirty="0"/>
          </a:p>
        </p:txBody>
      </p:sp>
      <p:sp>
        <p:nvSpPr>
          <p:cNvPr id="14" name="Shape 12"/>
          <p:cNvSpPr/>
          <p:nvPr/>
        </p:nvSpPr>
        <p:spPr>
          <a:xfrm>
            <a:off x="8083296" y="1600200"/>
            <a:ext cx="3429000" cy="2331720"/>
          </a:xfrm>
          <a:prstGeom prst="roundRect">
            <a:avLst>
              <a:gd name="adj" fmla="val 2353"/>
            </a:avLst>
          </a:prstGeom>
          <a:solidFill>
            <a:srgbClr val="F1F5F9"/>
          </a:solidFill>
          <a:ln/>
        </p:spPr>
      </p:sp>
      <p:sp>
        <p:nvSpPr>
          <p:cNvPr id="15" name="Shape 13"/>
          <p:cNvSpPr/>
          <p:nvPr/>
        </p:nvSpPr>
        <p:spPr>
          <a:xfrm>
            <a:off x="8375904" y="1874520"/>
            <a:ext cx="420624" cy="420624"/>
          </a:xfrm>
          <a:prstGeom prst="ellipse">
            <a:avLst/>
          </a:prstGeom>
          <a:solidFill>
            <a:srgbClr val="065A82"/>
          </a:solidFill>
          <a:ln/>
        </p:spPr>
      </p:sp>
      <p:sp>
        <p:nvSpPr>
          <p:cNvPr id="16" name="Text 14"/>
          <p:cNvSpPr/>
          <p:nvPr/>
        </p:nvSpPr>
        <p:spPr>
          <a:xfrm>
            <a:off x="8375904" y="18745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8375904" y="2395728"/>
            <a:ext cx="2834640" cy="365760"/>
          </a:xfrm>
          <a:prstGeom prst="rect">
            <a:avLst/>
          </a:prstGeom>
          <a:noFill/>
          <a:ln/>
        </p:spPr>
        <p:txBody>
          <a:bodyPr wrap="square" lIns="0" tIns="0" rIns="0" bIns="0" rtlCol="0" anchor="ctr"/>
          <a:lstStyle/>
          <a:p>
            <a:pPr indent="0" marL="0">
              <a:buNone/>
            </a:pPr>
            <a:r>
              <a:rPr lang="en-US" sz="1700" b="1" dirty="0">
                <a:solidFill>
                  <a:srgbClr val="1E2433"/>
                </a:solidFill>
                <a:latin typeface="Cambria" pitchFamily="34" charset="0"/>
                <a:ea typeface="Cambria" pitchFamily="34" charset="-122"/>
                <a:cs typeface="Cambria" pitchFamily="34" charset="-120"/>
              </a:rPr>
              <a:t>Retroalimentación vaga</a:t>
            </a:r>
            <a:endParaRPr lang="en-US" sz="1700" dirty="0"/>
          </a:p>
        </p:txBody>
      </p:sp>
      <p:sp>
        <p:nvSpPr>
          <p:cNvPr id="18" name="Text 16"/>
          <p:cNvSpPr/>
          <p:nvPr/>
        </p:nvSpPr>
        <p:spPr>
          <a:xfrm>
            <a:off x="8375904" y="2788920"/>
            <a:ext cx="2834640" cy="105156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Las aplicaciones masivas responden "correcto" o "inténtalo de nuevo", sin decir que fallo: la vocal, la entonación o una consonante final.</a:t>
            </a:r>
            <a:endParaRPr lang="en-US" sz="1150" dirty="0"/>
          </a:p>
        </p:txBody>
      </p:sp>
      <p:sp>
        <p:nvSpPr>
          <p:cNvPr id="19" name="Shape 17"/>
          <p:cNvSpPr/>
          <p:nvPr/>
        </p:nvSpPr>
        <p:spPr>
          <a:xfrm>
            <a:off x="640080" y="4224528"/>
            <a:ext cx="10881360" cy="1737360"/>
          </a:xfrm>
          <a:prstGeom prst="roundRect">
            <a:avLst>
              <a:gd name="adj" fmla="val 3158"/>
            </a:avLst>
          </a:prstGeom>
          <a:solidFill>
            <a:srgbClr val="21295C"/>
          </a:solidFill>
          <a:ln/>
        </p:spPr>
      </p:sp>
      <p:sp>
        <p:nvSpPr>
          <p:cNvPr id="20" name="Text 18"/>
          <p:cNvSpPr/>
          <p:nvPr/>
        </p:nvSpPr>
        <p:spPr>
          <a:xfrm>
            <a:off x="960120" y="4434840"/>
            <a:ext cx="4754880" cy="365760"/>
          </a:xfrm>
          <a:prstGeom prst="rect">
            <a:avLst/>
          </a:prstGeom>
          <a:noFill/>
          <a:ln/>
        </p:spPr>
        <p:txBody>
          <a:bodyPr wrap="square" lIns="0" tIns="0" rIns="0" bIns="0" rtlCol="0" anchor="ctr"/>
          <a:lstStyle/>
          <a:p>
            <a:pPr indent="0" marL="0">
              <a:buNone/>
            </a:pPr>
            <a:r>
              <a:rPr lang="en-US" sz="1800" b="1" dirty="0">
                <a:solidFill>
                  <a:srgbClr val="02C39A"/>
                </a:solidFill>
                <a:latin typeface="Cambria" pitchFamily="34" charset="0"/>
                <a:ea typeface="Cambria" pitchFamily="34" charset="-122"/>
                <a:cs typeface="Cambria" pitchFamily="34" charset="-120"/>
              </a:rPr>
              <a:t>Visto como problema de señales</a:t>
            </a:r>
            <a:endParaRPr lang="en-US" sz="1800" dirty="0"/>
          </a:p>
        </p:txBody>
      </p:sp>
      <p:sp>
        <p:nvSpPr>
          <p:cNvPr id="21" name="Text 19"/>
          <p:cNvSpPr/>
          <p:nvPr/>
        </p:nvSpPr>
        <p:spPr>
          <a:xfrm>
            <a:off x="960120" y="4846320"/>
            <a:ext cx="6766560" cy="914400"/>
          </a:xfrm>
          <a:prstGeom prst="rect">
            <a:avLst/>
          </a:prstGeom>
          <a:noFill/>
          <a:ln/>
        </p:spPr>
        <p:txBody>
          <a:bodyPr wrap="square" lIns="0" tIns="0" rIns="0" bIns="0" rtlCol="0" anchor="ctr"/>
          <a:lstStyle/>
          <a:p>
            <a:pPr indent="0" marL="0">
              <a:buNone/>
            </a:pPr>
            <a:r>
              <a:rPr lang="en-US" sz="1300" dirty="0">
                <a:solidFill>
                  <a:srgbClr val="C7D2E8"/>
                </a:solidFill>
                <a:latin typeface="Calibri" pitchFamily="34" charset="0"/>
                <a:ea typeface="Calibri" pitchFamily="34" charset="-122"/>
                <a:cs typeface="Calibri" pitchFamily="34" charset="-120"/>
              </a:rPr>
              <a:t>Evaluar pronunciación es analizar una señal: muestrearla sin aliasing, filtrar el ruido del canal, llevarla al dominio de la frecuencia y comparar características robustas a la variabilidad entre hablantes, todo en menos de dos segundos.</a:t>
            </a:r>
            <a:endParaRPr lang="en-US" sz="1300" dirty="0"/>
          </a:p>
        </p:txBody>
      </p:sp>
      <p:sp>
        <p:nvSpPr>
          <p:cNvPr id="22" name="Shape 20"/>
          <p:cNvSpPr/>
          <p:nvPr/>
        </p:nvSpPr>
        <p:spPr>
          <a:xfrm>
            <a:off x="8138160" y="5024628"/>
            <a:ext cx="38728" cy="54864"/>
          </a:xfrm>
          <a:prstGeom prst="roundRect">
            <a:avLst>
              <a:gd name="adj" fmla="val 944433"/>
            </a:avLst>
          </a:prstGeom>
          <a:solidFill>
            <a:srgbClr val="1C7293"/>
          </a:solidFill>
          <a:ln/>
        </p:spPr>
      </p:sp>
      <p:sp>
        <p:nvSpPr>
          <p:cNvPr id="23" name="Shape 21"/>
          <p:cNvSpPr/>
          <p:nvPr/>
        </p:nvSpPr>
        <p:spPr>
          <a:xfrm>
            <a:off x="8224221" y="4963613"/>
            <a:ext cx="38728" cy="176894"/>
          </a:xfrm>
          <a:prstGeom prst="roundRect">
            <a:avLst>
              <a:gd name="adj" fmla="val 944433"/>
            </a:avLst>
          </a:prstGeom>
          <a:solidFill>
            <a:srgbClr val="1C7293"/>
          </a:solidFill>
          <a:ln/>
        </p:spPr>
      </p:sp>
      <p:sp>
        <p:nvSpPr>
          <p:cNvPr id="24" name="Shape 22"/>
          <p:cNvSpPr/>
          <p:nvPr/>
        </p:nvSpPr>
        <p:spPr>
          <a:xfrm>
            <a:off x="8310282" y="4896697"/>
            <a:ext cx="38728" cy="310727"/>
          </a:xfrm>
          <a:prstGeom prst="roundRect">
            <a:avLst>
              <a:gd name="adj" fmla="val 944433"/>
            </a:avLst>
          </a:prstGeom>
          <a:solidFill>
            <a:srgbClr val="1C7293"/>
          </a:solidFill>
          <a:ln/>
        </p:spPr>
      </p:sp>
      <p:sp>
        <p:nvSpPr>
          <p:cNvPr id="25" name="Shape 23"/>
          <p:cNvSpPr/>
          <p:nvPr/>
        </p:nvSpPr>
        <p:spPr>
          <a:xfrm>
            <a:off x="8396344" y="4919659"/>
            <a:ext cx="38728" cy="264801"/>
          </a:xfrm>
          <a:prstGeom prst="roundRect">
            <a:avLst>
              <a:gd name="adj" fmla="val 944433"/>
            </a:avLst>
          </a:prstGeom>
          <a:solidFill>
            <a:srgbClr val="1C7293"/>
          </a:solidFill>
          <a:ln/>
        </p:spPr>
      </p:sp>
      <p:sp>
        <p:nvSpPr>
          <p:cNvPr id="26" name="Shape 24"/>
          <p:cNvSpPr/>
          <p:nvPr/>
        </p:nvSpPr>
        <p:spPr>
          <a:xfrm>
            <a:off x="8482405" y="4913183"/>
            <a:ext cx="38728" cy="277755"/>
          </a:xfrm>
          <a:prstGeom prst="roundRect">
            <a:avLst>
              <a:gd name="adj" fmla="val 944433"/>
            </a:avLst>
          </a:prstGeom>
          <a:solidFill>
            <a:srgbClr val="1C7293"/>
          </a:solidFill>
          <a:ln/>
        </p:spPr>
      </p:sp>
      <p:sp>
        <p:nvSpPr>
          <p:cNvPr id="27" name="Shape 25"/>
          <p:cNvSpPr/>
          <p:nvPr/>
        </p:nvSpPr>
        <p:spPr>
          <a:xfrm>
            <a:off x="8568466" y="4793128"/>
            <a:ext cx="38728" cy="517865"/>
          </a:xfrm>
          <a:prstGeom prst="roundRect">
            <a:avLst>
              <a:gd name="adj" fmla="val 944433"/>
            </a:avLst>
          </a:prstGeom>
          <a:solidFill>
            <a:srgbClr val="1C7293"/>
          </a:solidFill>
          <a:ln/>
        </p:spPr>
      </p:sp>
      <p:sp>
        <p:nvSpPr>
          <p:cNvPr id="28" name="Shape 26"/>
          <p:cNvSpPr/>
          <p:nvPr/>
        </p:nvSpPr>
        <p:spPr>
          <a:xfrm>
            <a:off x="8654527" y="4786344"/>
            <a:ext cx="38728" cy="531432"/>
          </a:xfrm>
          <a:prstGeom prst="roundRect">
            <a:avLst>
              <a:gd name="adj" fmla="val 944433"/>
            </a:avLst>
          </a:prstGeom>
          <a:solidFill>
            <a:srgbClr val="1C7293"/>
          </a:solidFill>
          <a:ln/>
        </p:spPr>
      </p:sp>
      <p:sp>
        <p:nvSpPr>
          <p:cNvPr id="29" name="Shape 27"/>
          <p:cNvSpPr/>
          <p:nvPr/>
        </p:nvSpPr>
        <p:spPr>
          <a:xfrm>
            <a:off x="8740588" y="4913602"/>
            <a:ext cx="38728" cy="276916"/>
          </a:xfrm>
          <a:prstGeom prst="roundRect">
            <a:avLst>
              <a:gd name="adj" fmla="val 944433"/>
            </a:avLst>
          </a:prstGeom>
          <a:solidFill>
            <a:srgbClr val="1C7293"/>
          </a:solidFill>
          <a:ln/>
        </p:spPr>
      </p:sp>
      <p:sp>
        <p:nvSpPr>
          <p:cNvPr id="30" name="Shape 28"/>
          <p:cNvSpPr/>
          <p:nvPr/>
        </p:nvSpPr>
        <p:spPr>
          <a:xfrm>
            <a:off x="8826649" y="4779778"/>
            <a:ext cx="38728" cy="544564"/>
          </a:xfrm>
          <a:prstGeom prst="roundRect">
            <a:avLst>
              <a:gd name="adj" fmla="val 944433"/>
            </a:avLst>
          </a:prstGeom>
          <a:solidFill>
            <a:srgbClr val="1C7293"/>
          </a:solidFill>
          <a:ln/>
        </p:spPr>
      </p:sp>
      <p:sp>
        <p:nvSpPr>
          <p:cNvPr id="31" name="Shape 29"/>
          <p:cNvSpPr/>
          <p:nvPr/>
        </p:nvSpPr>
        <p:spPr>
          <a:xfrm>
            <a:off x="8912711" y="4690250"/>
            <a:ext cx="38728" cy="723619"/>
          </a:xfrm>
          <a:prstGeom prst="roundRect">
            <a:avLst>
              <a:gd name="adj" fmla="val 944433"/>
            </a:avLst>
          </a:prstGeom>
          <a:solidFill>
            <a:srgbClr val="1C7293"/>
          </a:solidFill>
          <a:ln/>
        </p:spPr>
      </p:sp>
      <p:sp>
        <p:nvSpPr>
          <p:cNvPr id="32" name="Shape 30"/>
          <p:cNvSpPr/>
          <p:nvPr/>
        </p:nvSpPr>
        <p:spPr>
          <a:xfrm>
            <a:off x="8998772" y="4774131"/>
            <a:ext cx="38728" cy="555858"/>
          </a:xfrm>
          <a:prstGeom prst="roundRect">
            <a:avLst>
              <a:gd name="adj" fmla="val 944433"/>
            </a:avLst>
          </a:prstGeom>
          <a:solidFill>
            <a:srgbClr val="1C7293"/>
          </a:solidFill>
          <a:ln/>
        </p:spPr>
      </p:sp>
      <p:sp>
        <p:nvSpPr>
          <p:cNvPr id="33" name="Shape 31"/>
          <p:cNvSpPr/>
          <p:nvPr/>
        </p:nvSpPr>
        <p:spPr>
          <a:xfrm>
            <a:off x="9084833" y="4850753"/>
            <a:ext cx="38728" cy="402615"/>
          </a:xfrm>
          <a:prstGeom prst="roundRect">
            <a:avLst>
              <a:gd name="adj" fmla="val 944433"/>
            </a:avLst>
          </a:prstGeom>
          <a:solidFill>
            <a:srgbClr val="1C7293"/>
          </a:solidFill>
          <a:ln/>
        </p:spPr>
      </p:sp>
      <p:sp>
        <p:nvSpPr>
          <p:cNvPr id="34" name="Shape 32"/>
          <p:cNvSpPr/>
          <p:nvPr/>
        </p:nvSpPr>
        <p:spPr>
          <a:xfrm>
            <a:off x="9170894" y="4670937"/>
            <a:ext cx="38728" cy="762246"/>
          </a:xfrm>
          <a:prstGeom prst="roundRect">
            <a:avLst>
              <a:gd name="adj" fmla="val 944433"/>
            </a:avLst>
          </a:prstGeom>
          <a:solidFill>
            <a:srgbClr val="1C7293"/>
          </a:solidFill>
          <a:ln/>
        </p:spPr>
      </p:sp>
      <p:sp>
        <p:nvSpPr>
          <p:cNvPr id="35" name="Shape 33"/>
          <p:cNvSpPr/>
          <p:nvPr/>
        </p:nvSpPr>
        <p:spPr>
          <a:xfrm>
            <a:off x="9256955" y="4661161"/>
            <a:ext cx="38728" cy="781798"/>
          </a:xfrm>
          <a:prstGeom prst="roundRect">
            <a:avLst>
              <a:gd name="adj" fmla="val 944433"/>
            </a:avLst>
          </a:prstGeom>
          <a:solidFill>
            <a:srgbClr val="1C7293"/>
          </a:solidFill>
          <a:ln/>
        </p:spPr>
      </p:sp>
      <p:sp>
        <p:nvSpPr>
          <p:cNvPr id="36" name="Shape 34"/>
          <p:cNvSpPr/>
          <p:nvPr/>
        </p:nvSpPr>
        <p:spPr>
          <a:xfrm>
            <a:off x="9343016" y="4834541"/>
            <a:ext cx="38728" cy="435038"/>
          </a:xfrm>
          <a:prstGeom prst="roundRect">
            <a:avLst>
              <a:gd name="adj" fmla="val 944433"/>
            </a:avLst>
          </a:prstGeom>
          <a:solidFill>
            <a:srgbClr val="1C7293"/>
          </a:solidFill>
          <a:ln/>
        </p:spPr>
      </p:sp>
      <p:sp>
        <p:nvSpPr>
          <p:cNvPr id="37" name="Shape 35"/>
          <p:cNvSpPr/>
          <p:nvPr/>
        </p:nvSpPr>
        <p:spPr>
          <a:xfrm>
            <a:off x="9429078" y="4737737"/>
            <a:ext cx="38728" cy="628646"/>
          </a:xfrm>
          <a:prstGeom prst="roundRect">
            <a:avLst>
              <a:gd name="adj" fmla="val 944433"/>
            </a:avLst>
          </a:prstGeom>
          <a:solidFill>
            <a:srgbClr val="1C7293"/>
          </a:solidFill>
          <a:ln/>
        </p:spPr>
      </p:sp>
      <p:sp>
        <p:nvSpPr>
          <p:cNvPr id="38" name="Shape 36"/>
          <p:cNvSpPr/>
          <p:nvPr/>
        </p:nvSpPr>
        <p:spPr>
          <a:xfrm>
            <a:off x="9515139" y="4619420"/>
            <a:ext cx="38728" cy="865279"/>
          </a:xfrm>
          <a:prstGeom prst="roundRect">
            <a:avLst>
              <a:gd name="adj" fmla="val 944433"/>
            </a:avLst>
          </a:prstGeom>
          <a:solidFill>
            <a:srgbClr val="1C7293"/>
          </a:solidFill>
          <a:ln/>
        </p:spPr>
      </p:sp>
      <p:sp>
        <p:nvSpPr>
          <p:cNvPr id="39" name="Shape 37"/>
          <p:cNvSpPr/>
          <p:nvPr/>
        </p:nvSpPr>
        <p:spPr>
          <a:xfrm>
            <a:off x="9601200" y="4706387"/>
            <a:ext cx="38728" cy="691346"/>
          </a:xfrm>
          <a:prstGeom prst="roundRect">
            <a:avLst>
              <a:gd name="adj" fmla="val 944433"/>
            </a:avLst>
          </a:prstGeom>
          <a:solidFill>
            <a:srgbClr val="1C7293"/>
          </a:solidFill>
          <a:ln/>
        </p:spPr>
      </p:sp>
      <p:sp>
        <p:nvSpPr>
          <p:cNvPr id="40" name="Shape 38"/>
          <p:cNvSpPr/>
          <p:nvPr/>
        </p:nvSpPr>
        <p:spPr>
          <a:xfrm>
            <a:off x="9687261" y="4865701"/>
            <a:ext cx="38728" cy="372719"/>
          </a:xfrm>
          <a:prstGeom prst="roundRect">
            <a:avLst>
              <a:gd name="adj" fmla="val 944433"/>
            </a:avLst>
          </a:prstGeom>
          <a:solidFill>
            <a:srgbClr val="1C7293"/>
          </a:solidFill>
          <a:ln/>
        </p:spPr>
      </p:sp>
      <p:sp>
        <p:nvSpPr>
          <p:cNvPr id="41" name="Shape 39"/>
          <p:cNvSpPr/>
          <p:nvPr/>
        </p:nvSpPr>
        <p:spPr>
          <a:xfrm>
            <a:off x="9773322" y="4665991"/>
            <a:ext cx="38728" cy="772138"/>
          </a:xfrm>
          <a:prstGeom prst="roundRect">
            <a:avLst>
              <a:gd name="adj" fmla="val 944433"/>
            </a:avLst>
          </a:prstGeom>
          <a:solidFill>
            <a:srgbClr val="1C7293"/>
          </a:solidFill>
          <a:ln/>
        </p:spPr>
      </p:sp>
      <p:sp>
        <p:nvSpPr>
          <p:cNvPr id="42" name="Shape 40"/>
          <p:cNvSpPr/>
          <p:nvPr/>
        </p:nvSpPr>
        <p:spPr>
          <a:xfrm>
            <a:off x="9859384" y="4641054"/>
            <a:ext cx="38728" cy="822012"/>
          </a:xfrm>
          <a:prstGeom prst="roundRect">
            <a:avLst>
              <a:gd name="adj" fmla="val 944433"/>
            </a:avLst>
          </a:prstGeom>
          <a:solidFill>
            <a:srgbClr val="1C7293"/>
          </a:solidFill>
          <a:ln/>
        </p:spPr>
      </p:sp>
      <p:sp>
        <p:nvSpPr>
          <p:cNvPr id="43" name="Shape 41"/>
          <p:cNvSpPr/>
          <p:nvPr/>
        </p:nvSpPr>
        <p:spPr>
          <a:xfrm>
            <a:off x="9945445" y="4806034"/>
            <a:ext cx="38728" cy="492052"/>
          </a:xfrm>
          <a:prstGeom prst="roundRect">
            <a:avLst>
              <a:gd name="adj" fmla="val 944433"/>
            </a:avLst>
          </a:prstGeom>
          <a:solidFill>
            <a:srgbClr val="1C7293"/>
          </a:solidFill>
          <a:ln/>
        </p:spPr>
      </p:sp>
      <p:sp>
        <p:nvSpPr>
          <p:cNvPr id="44" name="Shape 42"/>
          <p:cNvSpPr/>
          <p:nvPr/>
        </p:nvSpPr>
        <p:spPr>
          <a:xfrm>
            <a:off x="10031506" y="4783120"/>
            <a:ext cx="38728" cy="537879"/>
          </a:xfrm>
          <a:prstGeom prst="roundRect">
            <a:avLst>
              <a:gd name="adj" fmla="val 944433"/>
            </a:avLst>
          </a:prstGeom>
          <a:solidFill>
            <a:srgbClr val="1C7293"/>
          </a:solidFill>
          <a:ln/>
        </p:spPr>
      </p:sp>
      <p:sp>
        <p:nvSpPr>
          <p:cNvPr id="45" name="Shape 43"/>
          <p:cNvSpPr/>
          <p:nvPr/>
        </p:nvSpPr>
        <p:spPr>
          <a:xfrm>
            <a:off x="10117567" y="4662675"/>
            <a:ext cx="38728" cy="778771"/>
          </a:xfrm>
          <a:prstGeom prst="roundRect">
            <a:avLst>
              <a:gd name="adj" fmla="val 944433"/>
            </a:avLst>
          </a:prstGeom>
          <a:solidFill>
            <a:srgbClr val="1C7293"/>
          </a:solidFill>
          <a:ln/>
        </p:spPr>
      </p:sp>
      <p:sp>
        <p:nvSpPr>
          <p:cNvPr id="46" name="Shape 44"/>
          <p:cNvSpPr/>
          <p:nvPr/>
        </p:nvSpPr>
        <p:spPr>
          <a:xfrm>
            <a:off x="10203628" y="4728876"/>
            <a:ext cx="38728" cy="646368"/>
          </a:xfrm>
          <a:prstGeom prst="roundRect">
            <a:avLst>
              <a:gd name="adj" fmla="val 944433"/>
            </a:avLst>
          </a:prstGeom>
          <a:solidFill>
            <a:srgbClr val="1C7293"/>
          </a:solidFill>
          <a:ln/>
        </p:spPr>
      </p:sp>
      <p:sp>
        <p:nvSpPr>
          <p:cNvPr id="47" name="Shape 45"/>
          <p:cNvSpPr/>
          <p:nvPr/>
        </p:nvSpPr>
        <p:spPr>
          <a:xfrm>
            <a:off x="10289689" y="4924609"/>
            <a:ext cx="38728" cy="254902"/>
          </a:xfrm>
          <a:prstGeom prst="roundRect">
            <a:avLst>
              <a:gd name="adj" fmla="val 944433"/>
            </a:avLst>
          </a:prstGeom>
          <a:solidFill>
            <a:srgbClr val="1C7293"/>
          </a:solidFill>
          <a:ln/>
        </p:spPr>
      </p:sp>
      <p:sp>
        <p:nvSpPr>
          <p:cNvPr id="48" name="Shape 46"/>
          <p:cNvSpPr/>
          <p:nvPr/>
        </p:nvSpPr>
        <p:spPr>
          <a:xfrm>
            <a:off x="10375751" y="4760898"/>
            <a:ext cx="38728" cy="582324"/>
          </a:xfrm>
          <a:prstGeom prst="roundRect">
            <a:avLst>
              <a:gd name="adj" fmla="val 944433"/>
            </a:avLst>
          </a:prstGeom>
          <a:solidFill>
            <a:srgbClr val="1C7293"/>
          </a:solidFill>
          <a:ln/>
        </p:spPr>
      </p:sp>
      <p:sp>
        <p:nvSpPr>
          <p:cNvPr id="49" name="Shape 47"/>
          <p:cNvSpPr/>
          <p:nvPr/>
        </p:nvSpPr>
        <p:spPr>
          <a:xfrm>
            <a:off x="10461812" y="4735108"/>
            <a:ext cx="38728" cy="633904"/>
          </a:xfrm>
          <a:prstGeom prst="roundRect">
            <a:avLst>
              <a:gd name="adj" fmla="val 944433"/>
            </a:avLst>
          </a:prstGeom>
          <a:solidFill>
            <a:srgbClr val="1C7293"/>
          </a:solidFill>
          <a:ln/>
        </p:spPr>
      </p:sp>
      <p:sp>
        <p:nvSpPr>
          <p:cNvPr id="50" name="Shape 48"/>
          <p:cNvSpPr/>
          <p:nvPr/>
        </p:nvSpPr>
        <p:spPr>
          <a:xfrm>
            <a:off x="10547873" y="4855539"/>
            <a:ext cx="38728" cy="393042"/>
          </a:xfrm>
          <a:prstGeom prst="roundRect">
            <a:avLst>
              <a:gd name="adj" fmla="val 944433"/>
            </a:avLst>
          </a:prstGeom>
          <a:solidFill>
            <a:srgbClr val="1C7293"/>
          </a:solidFill>
          <a:ln/>
        </p:spPr>
      </p:sp>
      <p:sp>
        <p:nvSpPr>
          <p:cNvPr id="51" name="Shape 49"/>
          <p:cNvSpPr/>
          <p:nvPr/>
        </p:nvSpPr>
        <p:spPr>
          <a:xfrm>
            <a:off x="10633934" y="4894970"/>
            <a:ext cx="38728" cy="314180"/>
          </a:xfrm>
          <a:prstGeom prst="roundRect">
            <a:avLst>
              <a:gd name="adj" fmla="val 944433"/>
            </a:avLst>
          </a:prstGeom>
          <a:solidFill>
            <a:srgbClr val="1C7293"/>
          </a:solidFill>
          <a:ln/>
        </p:spPr>
      </p:sp>
      <p:sp>
        <p:nvSpPr>
          <p:cNvPr id="52" name="Shape 50"/>
          <p:cNvSpPr/>
          <p:nvPr/>
        </p:nvSpPr>
        <p:spPr>
          <a:xfrm>
            <a:off x="10719995" y="4823940"/>
            <a:ext cx="38728" cy="456240"/>
          </a:xfrm>
          <a:prstGeom prst="roundRect">
            <a:avLst>
              <a:gd name="adj" fmla="val 944433"/>
            </a:avLst>
          </a:prstGeom>
          <a:solidFill>
            <a:srgbClr val="1C7293"/>
          </a:solidFill>
          <a:ln/>
        </p:spPr>
      </p:sp>
      <p:sp>
        <p:nvSpPr>
          <p:cNvPr id="53" name="Shape 51"/>
          <p:cNvSpPr/>
          <p:nvPr/>
        </p:nvSpPr>
        <p:spPr>
          <a:xfrm>
            <a:off x="10806056" y="4872416"/>
            <a:ext cx="38728" cy="359287"/>
          </a:xfrm>
          <a:prstGeom prst="roundRect">
            <a:avLst>
              <a:gd name="adj" fmla="val 944433"/>
            </a:avLst>
          </a:prstGeom>
          <a:solidFill>
            <a:srgbClr val="1C7293"/>
          </a:solidFill>
          <a:ln/>
        </p:spPr>
      </p:sp>
      <p:sp>
        <p:nvSpPr>
          <p:cNvPr id="54" name="Shape 52"/>
          <p:cNvSpPr/>
          <p:nvPr/>
        </p:nvSpPr>
        <p:spPr>
          <a:xfrm>
            <a:off x="10892118" y="4983883"/>
            <a:ext cx="38728" cy="136353"/>
          </a:xfrm>
          <a:prstGeom prst="roundRect">
            <a:avLst>
              <a:gd name="adj" fmla="val 944433"/>
            </a:avLst>
          </a:prstGeom>
          <a:solidFill>
            <a:srgbClr val="1C7293"/>
          </a:solidFill>
          <a:ln/>
        </p:spPr>
      </p:sp>
      <p:sp>
        <p:nvSpPr>
          <p:cNvPr id="55" name="Shape 53"/>
          <p:cNvSpPr/>
          <p:nvPr/>
        </p:nvSpPr>
        <p:spPr>
          <a:xfrm>
            <a:off x="10978179" y="4969600"/>
            <a:ext cx="38728" cy="164920"/>
          </a:xfrm>
          <a:prstGeom prst="roundRect">
            <a:avLst>
              <a:gd name="adj" fmla="val 944433"/>
            </a:avLst>
          </a:prstGeom>
          <a:solidFill>
            <a:srgbClr val="1C7293"/>
          </a:solidFill>
          <a:ln/>
        </p:spPr>
      </p:sp>
      <p:sp>
        <p:nvSpPr>
          <p:cNvPr id="56" name="Text 54"/>
          <p:cNvSpPr/>
          <p:nvPr/>
        </p:nvSpPr>
        <p:spPr>
          <a:xfrm>
            <a:off x="640080" y="6327648"/>
            <a:ext cx="10881360" cy="274320"/>
          </a:xfrm>
          <a:prstGeom prst="rect">
            <a:avLst/>
          </a:prstGeom>
          <a:noFill/>
          <a:ln/>
        </p:spPr>
        <p:txBody>
          <a:bodyPr wrap="square" lIns="0" tIns="0" rIns="0" bIns="0" rtlCol="0" anchor="ctr"/>
          <a:lstStyle/>
          <a:p>
            <a:pPr indent="0" marL="0">
              <a:buNone/>
            </a:pPr>
            <a:r>
              <a:rPr lang="en-US" sz="950" dirty="0">
                <a:solidFill>
                  <a:srgbClr val="A8B0BF"/>
                </a:solidFill>
                <a:latin typeface="Calibri" pitchFamily="34" charset="0"/>
                <a:ea typeface="Calibri" pitchFamily="34" charset="-122"/>
                <a:cs typeface="Calibri" pitchFamily="34" charset="-120"/>
              </a:rPr>
              <a:t>Documento técnico, sección 1: Descripción del problema</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640080" y="457200"/>
            <a:ext cx="10881360" cy="6858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Qué construimos</a:t>
            </a:r>
            <a:endParaRPr lang="en-US" sz="3400" dirty="0"/>
          </a:p>
        </p:txBody>
      </p:sp>
      <p:sp>
        <p:nvSpPr>
          <p:cNvPr id="3" name="Text 1"/>
          <p:cNvSpPr/>
          <p:nvPr/>
        </p:nvSpPr>
        <p:spPr>
          <a:xfrm>
            <a:off x="658368" y="1133856"/>
            <a:ext cx="9601200" cy="457200"/>
          </a:xfrm>
          <a:prstGeom prst="rect">
            <a:avLst/>
          </a:prstGeom>
          <a:noFill/>
          <a:ln/>
        </p:spPr>
        <p:txBody>
          <a:bodyPr wrap="square" rtlCol="0" anchor="ctr"/>
          <a:lstStyle/>
          <a:p>
            <a:pPr indent="0" marL="0">
              <a:buNone/>
            </a:pPr>
            <a:r>
              <a:rPr lang="en-US" sz="1400" dirty="0">
                <a:solidFill>
                  <a:srgbClr val="9FB0D0"/>
                </a:solidFill>
                <a:latin typeface="Calibri" pitchFamily="34" charset="0"/>
                <a:ea typeface="Calibri" pitchFamily="34" charset="-122"/>
                <a:cs typeface="Calibri" pitchFamily="34" charset="-120"/>
              </a:rPr>
              <a:t>Una aplicación web instalable que funciona sin conexión: el usuario habla y la aplicación transcribe, corrige y visualiza su voz. Ningún dato sale del dispositivo.</a:t>
            </a:r>
            <a:endParaRPr lang="en-US" sz="1400" dirty="0"/>
          </a:p>
        </p:txBody>
      </p:sp>
      <p:sp>
        <p:nvSpPr>
          <p:cNvPr id="4" name="Shape 2"/>
          <p:cNvSpPr/>
          <p:nvPr/>
        </p:nvSpPr>
        <p:spPr>
          <a:xfrm>
            <a:off x="640080" y="2148840"/>
            <a:ext cx="1965960" cy="1600200"/>
          </a:xfrm>
          <a:prstGeom prst="roundRect">
            <a:avLst>
              <a:gd name="adj" fmla="val 3429"/>
            </a:avLst>
          </a:prstGeom>
          <a:solidFill>
            <a:srgbClr val="2E3A73"/>
          </a:solidFill>
          <a:ln/>
        </p:spPr>
      </p:sp>
      <p:sp>
        <p:nvSpPr>
          <p:cNvPr id="5" name="Text 3"/>
          <p:cNvSpPr/>
          <p:nvPr/>
        </p:nvSpPr>
        <p:spPr>
          <a:xfrm>
            <a:off x="868680" y="2331720"/>
            <a:ext cx="1463040" cy="365760"/>
          </a:xfrm>
          <a:prstGeom prst="rect">
            <a:avLst/>
          </a:prstGeom>
          <a:noFill/>
          <a:ln/>
        </p:spPr>
        <p:txBody>
          <a:bodyPr wrap="square" lIns="0" tIns="0" rIns="0" bIns="0" rtlCol="0" anchor="ctr"/>
          <a:lstStyle/>
          <a:p>
            <a:pPr indent="0" marL="0">
              <a:buNone/>
            </a:pPr>
            <a:r>
              <a:rPr lang="en-US" sz="2200" b="1" dirty="0">
                <a:solidFill>
                  <a:srgbClr val="02C39A"/>
                </a:solidFill>
                <a:latin typeface="Cambria" pitchFamily="34" charset="0"/>
                <a:ea typeface="Cambria" pitchFamily="34" charset="-122"/>
                <a:cs typeface="Cambria" pitchFamily="34" charset="-120"/>
              </a:rPr>
              <a:t>01</a:t>
            </a:r>
            <a:endParaRPr lang="en-US" sz="2200" dirty="0"/>
          </a:p>
        </p:txBody>
      </p:sp>
      <p:sp>
        <p:nvSpPr>
          <p:cNvPr id="6" name="Text 4"/>
          <p:cNvSpPr/>
          <p:nvPr/>
        </p:nvSpPr>
        <p:spPr>
          <a:xfrm>
            <a:off x="868680" y="2743200"/>
            <a:ext cx="16002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Hablar</a:t>
            </a:r>
            <a:endParaRPr lang="en-US" sz="1400" dirty="0"/>
          </a:p>
        </p:txBody>
      </p:sp>
      <p:sp>
        <p:nvSpPr>
          <p:cNvPr id="7" name="Text 5"/>
          <p:cNvSpPr/>
          <p:nvPr/>
        </p:nvSpPr>
        <p:spPr>
          <a:xfrm>
            <a:off x="868680" y="3072384"/>
            <a:ext cx="1600200" cy="594360"/>
          </a:xfrm>
          <a:prstGeom prst="rect">
            <a:avLst/>
          </a:prstGeom>
          <a:noFill/>
          <a:ln/>
        </p:spPr>
        <p:txBody>
          <a:bodyPr wrap="square" lIns="0" tIns="0" rIns="0" bIns="0" rtlCol="0" anchor="ctr"/>
          <a:lstStyle/>
          <a:p>
            <a:pPr indent="0" marL="0">
              <a:buNone/>
            </a:pPr>
            <a:r>
              <a:rPr lang="en-US" sz="1050" dirty="0">
                <a:solidFill>
                  <a:srgbClr val="9FB0D0"/>
                </a:solidFill>
                <a:latin typeface="Calibri" pitchFamily="34" charset="0"/>
                <a:ea typeface="Calibri" pitchFamily="34" charset="-122"/>
                <a:cs typeface="Calibri" pitchFamily="34" charset="-120"/>
              </a:rPr>
              <a:t>Captura del micrófono</a:t>
            </a:r>
            <a:endParaRPr lang="en-US" sz="1050" dirty="0"/>
          </a:p>
        </p:txBody>
      </p:sp>
      <p:sp>
        <p:nvSpPr>
          <p:cNvPr id="8" name="Text 6"/>
          <p:cNvSpPr/>
          <p:nvPr/>
        </p:nvSpPr>
        <p:spPr>
          <a:xfrm>
            <a:off x="2615184" y="2697480"/>
            <a:ext cx="310896" cy="365760"/>
          </a:xfrm>
          <a:prstGeom prst="rect">
            <a:avLst/>
          </a:prstGeom>
          <a:noFill/>
          <a:ln/>
        </p:spPr>
        <p:txBody>
          <a:bodyPr wrap="square" lIns="0" tIns="0" rIns="0" bIns="0" rtlCol="0" anchor="ctr"/>
          <a:lstStyle/>
          <a:p>
            <a:pPr algn="ctr" indent="0" marL="0">
              <a:buNone/>
            </a:pPr>
            <a:r>
              <a:rPr lang="en-US" sz="1800" dirty="0">
                <a:solidFill>
                  <a:srgbClr val="1C7293"/>
                </a:solidFill>
                <a:latin typeface="Calibri" pitchFamily="34" charset="0"/>
                <a:ea typeface="Calibri" pitchFamily="34" charset="-122"/>
                <a:cs typeface="Calibri" pitchFamily="34" charset="-120"/>
              </a:rPr>
              <a:t>&gt;</a:t>
            </a:r>
            <a:endParaRPr lang="en-US" sz="1800" dirty="0"/>
          </a:p>
        </p:txBody>
      </p:sp>
      <p:sp>
        <p:nvSpPr>
          <p:cNvPr id="9" name="Shape 7"/>
          <p:cNvSpPr/>
          <p:nvPr/>
        </p:nvSpPr>
        <p:spPr>
          <a:xfrm>
            <a:off x="2926080" y="2148840"/>
            <a:ext cx="1965960" cy="1600200"/>
          </a:xfrm>
          <a:prstGeom prst="roundRect">
            <a:avLst>
              <a:gd name="adj" fmla="val 3429"/>
            </a:avLst>
          </a:prstGeom>
          <a:solidFill>
            <a:srgbClr val="2E3A73"/>
          </a:solidFill>
          <a:ln/>
        </p:spPr>
      </p:sp>
      <p:sp>
        <p:nvSpPr>
          <p:cNvPr id="10" name="Text 8"/>
          <p:cNvSpPr/>
          <p:nvPr/>
        </p:nvSpPr>
        <p:spPr>
          <a:xfrm>
            <a:off x="3154680" y="2331720"/>
            <a:ext cx="1463040" cy="365760"/>
          </a:xfrm>
          <a:prstGeom prst="rect">
            <a:avLst/>
          </a:prstGeom>
          <a:noFill/>
          <a:ln/>
        </p:spPr>
        <p:txBody>
          <a:bodyPr wrap="square" lIns="0" tIns="0" rIns="0" bIns="0" rtlCol="0" anchor="ctr"/>
          <a:lstStyle/>
          <a:p>
            <a:pPr indent="0" marL="0">
              <a:buNone/>
            </a:pPr>
            <a:r>
              <a:rPr lang="en-US" sz="2200" b="1" dirty="0">
                <a:solidFill>
                  <a:srgbClr val="02C39A"/>
                </a:solidFill>
                <a:latin typeface="Cambria" pitchFamily="34" charset="0"/>
                <a:ea typeface="Cambria" pitchFamily="34" charset="-122"/>
                <a:cs typeface="Cambria" pitchFamily="34" charset="-120"/>
              </a:rPr>
              <a:t>02</a:t>
            </a:r>
            <a:endParaRPr lang="en-US" sz="2200" dirty="0"/>
          </a:p>
        </p:txBody>
      </p:sp>
      <p:sp>
        <p:nvSpPr>
          <p:cNvPr id="11" name="Text 9"/>
          <p:cNvSpPr/>
          <p:nvPr/>
        </p:nvSpPr>
        <p:spPr>
          <a:xfrm>
            <a:off x="3154680" y="2743200"/>
            <a:ext cx="16002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Acondicionar</a:t>
            </a:r>
            <a:endParaRPr lang="en-US" sz="1400" dirty="0"/>
          </a:p>
        </p:txBody>
      </p:sp>
      <p:sp>
        <p:nvSpPr>
          <p:cNvPr id="12" name="Text 10"/>
          <p:cNvSpPr/>
          <p:nvPr/>
        </p:nvSpPr>
        <p:spPr>
          <a:xfrm>
            <a:off x="3154680" y="3072384"/>
            <a:ext cx="1600200" cy="594360"/>
          </a:xfrm>
          <a:prstGeom prst="rect">
            <a:avLst/>
          </a:prstGeom>
          <a:noFill/>
          <a:ln/>
        </p:spPr>
        <p:txBody>
          <a:bodyPr wrap="square" lIns="0" tIns="0" rIns="0" bIns="0" rtlCol="0" anchor="ctr"/>
          <a:lstStyle/>
          <a:p>
            <a:pPr indent="0" marL="0">
              <a:buNone/>
            </a:pPr>
            <a:r>
              <a:rPr lang="en-US" sz="1050" dirty="0">
                <a:solidFill>
                  <a:srgbClr val="9FB0D0"/>
                </a:solidFill>
                <a:latin typeface="Calibri" pitchFamily="34" charset="0"/>
                <a:ea typeface="Calibri" pitchFamily="34" charset="-122"/>
                <a:cs typeface="Calibri" pitchFamily="34" charset="-120"/>
              </a:rPr>
              <a:t>Remuestreo y filtrado</a:t>
            </a:r>
            <a:endParaRPr lang="en-US" sz="1050" dirty="0"/>
          </a:p>
        </p:txBody>
      </p:sp>
      <p:sp>
        <p:nvSpPr>
          <p:cNvPr id="13" name="Text 11"/>
          <p:cNvSpPr/>
          <p:nvPr/>
        </p:nvSpPr>
        <p:spPr>
          <a:xfrm>
            <a:off x="4901184" y="2697480"/>
            <a:ext cx="310896" cy="365760"/>
          </a:xfrm>
          <a:prstGeom prst="rect">
            <a:avLst/>
          </a:prstGeom>
          <a:noFill/>
          <a:ln/>
        </p:spPr>
        <p:txBody>
          <a:bodyPr wrap="square" lIns="0" tIns="0" rIns="0" bIns="0" rtlCol="0" anchor="ctr"/>
          <a:lstStyle/>
          <a:p>
            <a:pPr algn="ctr" indent="0" marL="0">
              <a:buNone/>
            </a:pPr>
            <a:r>
              <a:rPr lang="en-US" sz="1800" dirty="0">
                <a:solidFill>
                  <a:srgbClr val="1C7293"/>
                </a:solidFill>
                <a:latin typeface="Calibri" pitchFamily="34" charset="0"/>
                <a:ea typeface="Calibri" pitchFamily="34" charset="-122"/>
                <a:cs typeface="Calibri" pitchFamily="34" charset="-120"/>
              </a:rPr>
              <a:t>&gt;</a:t>
            </a:r>
            <a:endParaRPr lang="en-US" sz="1800" dirty="0"/>
          </a:p>
        </p:txBody>
      </p:sp>
      <p:sp>
        <p:nvSpPr>
          <p:cNvPr id="14" name="Shape 12"/>
          <p:cNvSpPr/>
          <p:nvPr/>
        </p:nvSpPr>
        <p:spPr>
          <a:xfrm>
            <a:off x="5212080" y="2148840"/>
            <a:ext cx="1965960" cy="1600200"/>
          </a:xfrm>
          <a:prstGeom prst="roundRect">
            <a:avLst>
              <a:gd name="adj" fmla="val 3429"/>
            </a:avLst>
          </a:prstGeom>
          <a:solidFill>
            <a:srgbClr val="2E3A73"/>
          </a:solidFill>
          <a:ln/>
        </p:spPr>
      </p:sp>
      <p:sp>
        <p:nvSpPr>
          <p:cNvPr id="15" name="Text 13"/>
          <p:cNvSpPr/>
          <p:nvPr/>
        </p:nvSpPr>
        <p:spPr>
          <a:xfrm>
            <a:off x="5440680" y="2331720"/>
            <a:ext cx="1463040" cy="365760"/>
          </a:xfrm>
          <a:prstGeom prst="rect">
            <a:avLst/>
          </a:prstGeom>
          <a:noFill/>
          <a:ln/>
        </p:spPr>
        <p:txBody>
          <a:bodyPr wrap="square" lIns="0" tIns="0" rIns="0" bIns="0" rtlCol="0" anchor="ctr"/>
          <a:lstStyle/>
          <a:p>
            <a:pPr indent="0" marL="0">
              <a:buNone/>
            </a:pPr>
            <a:r>
              <a:rPr lang="en-US" sz="2200" b="1" dirty="0">
                <a:solidFill>
                  <a:srgbClr val="02C39A"/>
                </a:solidFill>
                <a:latin typeface="Cambria" pitchFamily="34" charset="0"/>
                <a:ea typeface="Cambria" pitchFamily="34" charset="-122"/>
                <a:cs typeface="Cambria" pitchFamily="34" charset="-120"/>
              </a:rPr>
              <a:t>03</a:t>
            </a:r>
            <a:endParaRPr lang="en-US" sz="2200" dirty="0"/>
          </a:p>
        </p:txBody>
      </p:sp>
      <p:sp>
        <p:nvSpPr>
          <p:cNvPr id="16" name="Text 14"/>
          <p:cNvSpPr/>
          <p:nvPr/>
        </p:nvSpPr>
        <p:spPr>
          <a:xfrm>
            <a:off x="5440680" y="2743200"/>
            <a:ext cx="16002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Analizar</a:t>
            </a:r>
            <a:endParaRPr lang="en-US" sz="1400" dirty="0"/>
          </a:p>
        </p:txBody>
      </p:sp>
      <p:sp>
        <p:nvSpPr>
          <p:cNvPr id="17" name="Text 15"/>
          <p:cNvSpPr/>
          <p:nvPr/>
        </p:nvSpPr>
        <p:spPr>
          <a:xfrm>
            <a:off x="5440680" y="3072384"/>
            <a:ext cx="1600200" cy="594360"/>
          </a:xfrm>
          <a:prstGeom prst="rect">
            <a:avLst/>
          </a:prstGeom>
          <a:noFill/>
          <a:ln/>
        </p:spPr>
        <p:txBody>
          <a:bodyPr wrap="square" lIns="0" tIns="0" rIns="0" bIns="0" rtlCol="0" anchor="ctr"/>
          <a:lstStyle/>
          <a:p>
            <a:pPr indent="0" marL="0">
              <a:buNone/>
            </a:pPr>
            <a:r>
              <a:rPr lang="en-US" sz="1050" dirty="0">
                <a:solidFill>
                  <a:srgbClr val="9FB0D0"/>
                </a:solidFill>
                <a:latin typeface="Calibri" pitchFamily="34" charset="0"/>
                <a:ea typeface="Calibri" pitchFamily="34" charset="-122"/>
                <a:cs typeface="Calibri" pitchFamily="34" charset="-120"/>
              </a:rPr>
              <a:t>FFT y espectro</a:t>
            </a:r>
            <a:endParaRPr lang="en-US" sz="1050" dirty="0"/>
          </a:p>
        </p:txBody>
      </p:sp>
      <p:sp>
        <p:nvSpPr>
          <p:cNvPr id="18" name="Text 16"/>
          <p:cNvSpPr/>
          <p:nvPr/>
        </p:nvSpPr>
        <p:spPr>
          <a:xfrm>
            <a:off x="7187184" y="2697480"/>
            <a:ext cx="310896" cy="365760"/>
          </a:xfrm>
          <a:prstGeom prst="rect">
            <a:avLst/>
          </a:prstGeom>
          <a:noFill/>
          <a:ln/>
        </p:spPr>
        <p:txBody>
          <a:bodyPr wrap="square" lIns="0" tIns="0" rIns="0" bIns="0" rtlCol="0" anchor="ctr"/>
          <a:lstStyle/>
          <a:p>
            <a:pPr algn="ctr" indent="0" marL="0">
              <a:buNone/>
            </a:pPr>
            <a:r>
              <a:rPr lang="en-US" sz="1800" dirty="0">
                <a:solidFill>
                  <a:srgbClr val="1C7293"/>
                </a:solidFill>
                <a:latin typeface="Calibri" pitchFamily="34" charset="0"/>
                <a:ea typeface="Calibri" pitchFamily="34" charset="-122"/>
                <a:cs typeface="Calibri" pitchFamily="34" charset="-120"/>
              </a:rPr>
              <a:t>&gt;</a:t>
            </a:r>
            <a:endParaRPr lang="en-US" sz="1800" dirty="0"/>
          </a:p>
        </p:txBody>
      </p:sp>
      <p:sp>
        <p:nvSpPr>
          <p:cNvPr id="19" name="Shape 17"/>
          <p:cNvSpPr/>
          <p:nvPr/>
        </p:nvSpPr>
        <p:spPr>
          <a:xfrm>
            <a:off x="7498080" y="2148840"/>
            <a:ext cx="1965960" cy="1600200"/>
          </a:xfrm>
          <a:prstGeom prst="roundRect">
            <a:avLst>
              <a:gd name="adj" fmla="val 3429"/>
            </a:avLst>
          </a:prstGeom>
          <a:solidFill>
            <a:srgbClr val="2E3A73"/>
          </a:solidFill>
          <a:ln/>
        </p:spPr>
      </p:sp>
      <p:sp>
        <p:nvSpPr>
          <p:cNvPr id="20" name="Text 18"/>
          <p:cNvSpPr/>
          <p:nvPr/>
        </p:nvSpPr>
        <p:spPr>
          <a:xfrm>
            <a:off x="7726680" y="2331720"/>
            <a:ext cx="1463040" cy="365760"/>
          </a:xfrm>
          <a:prstGeom prst="rect">
            <a:avLst/>
          </a:prstGeom>
          <a:noFill/>
          <a:ln/>
        </p:spPr>
        <p:txBody>
          <a:bodyPr wrap="square" lIns="0" tIns="0" rIns="0" bIns="0" rtlCol="0" anchor="ctr"/>
          <a:lstStyle/>
          <a:p>
            <a:pPr indent="0" marL="0">
              <a:buNone/>
            </a:pPr>
            <a:r>
              <a:rPr lang="en-US" sz="2200" b="1" dirty="0">
                <a:solidFill>
                  <a:srgbClr val="02C39A"/>
                </a:solidFill>
                <a:latin typeface="Cambria" pitchFamily="34" charset="0"/>
                <a:ea typeface="Cambria" pitchFamily="34" charset="-122"/>
                <a:cs typeface="Cambria" pitchFamily="34" charset="-120"/>
              </a:rPr>
              <a:t>04</a:t>
            </a:r>
            <a:endParaRPr lang="en-US" sz="2200" dirty="0"/>
          </a:p>
        </p:txBody>
      </p:sp>
      <p:sp>
        <p:nvSpPr>
          <p:cNvPr id="21" name="Text 19"/>
          <p:cNvSpPr/>
          <p:nvPr/>
        </p:nvSpPr>
        <p:spPr>
          <a:xfrm>
            <a:off x="7726680" y="2743200"/>
            <a:ext cx="16002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Transcribir</a:t>
            </a:r>
            <a:endParaRPr lang="en-US" sz="1400" dirty="0"/>
          </a:p>
        </p:txBody>
      </p:sp>
      <p:sp>
        <p:nvSpPr>
          <p:cNvPr id="22" name="Text 20"/>
          <p:cNvSpPr/>
          <p:nvPr/>
        </p:nvSpPr>
        <p:spPr>
          <a:xfrm>
            <a:off x="7726680" y="3072384"/>
            <a:ext cx="1600200" cy="594360"/>
          </a:xfrm>
          <a:prstGeom prst="rect">
            <a:avLst/>
          </a:prstGeom>
          <a:noFill/>
          <a:ln/>
        </p:spPr>
        <p:txBody>
          <a:bodyPr wrap="square" lIns="0" tIns="0" rIns="0" bIns="0" rtlCol="0" anchor="ctr"/>
          <a:lstStyle/>
          <a:p>
            <a:pPr indent="0" marL="0">
              <a:buNone/>
            </a:pPr>
            <a:r>
              <a:rPr lang="en-US" sz="1050" dirty="0">
                <a:solidFill>
                  <a:srgbClr val="9FB0D0"/>
                </a:solidFill>
                <a:latin typeface="Calibri" pitchFamily="34" charset="0"/>
                <a:ea typeface="Calibri" pitchFamily="34" charset="-122"/>
                <a:cs typeface="Calibri" pitchFamily="34" charset="-120"/>
              </a:rPr>
              <a:t>Whisper en el navegador</a:t>
            </a:r>
            <a:endParaRPr lang="en-US" sz="1050" dirty="0"/>
          </a:p>
        </p:txBody>
      </p:sp>
      <p:sp>
        <p:nvSpPr>
          <p:cNvPr id="23" name="Text 21"/>
          <p:cNvSpPr/>
          <p:nvPr/>
        </p:nvSpPr>
        <p:spPr>
          <a:xfrm>
            <a:off x="9473184" y="2697480"/>
            <a:ext cx="310896" cy="365760"/>
          </a:xfrm>
          <a:prstGeom prst="rect">
            <a:avLst/>
          </a:prstGeom>
          <a:noFill/>
          <a:ln/>
        </p:spPr>
        <p:txBody>
          <a:bodyPr wrap="square" lIns="0" tIns="0" rIns="0" bIns="0" rtlCol="0" anchor="ctr"/>
          <a:lstStyle/>
          <a:p>
            <a:pPr algn="ctr" indent="0" marL="0">
              <a:buNone/>
            </a:pPr>
            <a:r>
              <a:rPr lang="en-US" sz="1800" dirty="0">
                <a:solidFill>
                  <a:srgbClr val="1C7293"/>
                </a:solidFill>
                <a:latin typeface="Calibri" pitchFamily="34" charset="0"/>
                <a:ea typeface="Calibri" pitchFamily="34" charset="-122"/>
                <a:cs typeface="Calibri" pitchFamily="34" charset="-120"/>
              </a:rPr>
              <a:t>&gt;</a:t>
            </a:r>
            <a:endParaRPr lang="en-US" sz="1800" dirty="0"/>
          </a:p>
        </p:txBody>
      </p:sp>
      <p:sp>
        <p:nvSpPr>
          <p:cNvPr id="24" name="Shape 22"/>
          <p:cNvSpPr/>
          <p:nvPr/>
        </p:nvSpPr>
        <p:spPr>
          <a:xfrm>
            <a:off x="9784080" y="2148840"/>
            <a:ext cx="1965960" cy="1600200"/>
          </a:xfrm>
          <a:prstGeom prst="roundRect">
            <a:avLst>
              <a:gd name="adj" fmla="val 3429"/>
            </a:avLst>
          </a:prstGeom>
          <a:solidFill>
            <a:srgbClr val="2E3A73"/>
          </a:solidFill>
          <a:ln/>
        </p:spPr>
      </p:sp>
      <p:sp>
        <p:nvSpPr>
          <p:cNvPr id="25" name="Text 23"/>
          <p:cNvSpPr/>
          <p:nvPr/>
        </p:nvSpPr>
        <p:spPr>
          <a:xfrm>
            <a:off x="10012680" y="2331720"/>
            <a:ext cx="1463040" cy="365760"/>
          </a:xfrm>
          <a:prstGeom prst="rect">
            <a:avLst/>
          </a:prstGeom>
          <a:noFill/>
          <a:ln/>
        </p:spPr>
        <p:txBody>
          <a:bodyPr wrap="square" lIns="0" tIns="0" rIns="0" bIns="0" rtlCol="0" anchor="ctr"/>
          <a:lstStyle/>
          <a:p>
            <a:pPr indent="0" marL="0">
              <a:buNone/>
            </a:pPr>
            <a:r>
              <a:rPr lang="en-US" sz="2200" b="1" dirty="0">
                <a:solidFill>
                  <a:srgbClr val="02C39A"/>
                </a:solidFill>
                <a:latin typeface="Cambria" pitchFamily="34" charset="0"/>
                <a:ea typeface="Cambria" pitchFamily="34" charset="-122"/>
                <a:cs typeface="Cambria" pitchFamily="34" charset="-120"/>
              </a:rPr>
              <a:t>05</a:t>
            </a:r>
            <a:endParaRPr lang="en-US" sz="2200" dirty="0"/>
          </a:p>
        </p:txBody>
      </p:sp>
      <p:sp>
        <p:nvSpPr>
          <p:cNvPr id="26" name="Text 24"/>
          <p:cNvSpPr/>
          <p:nvPr/>
        </p:nvSpPr>
        <p:spPr>
          <a:xfrm>
            <a:off x="10012680" y="2743200"/>
            <a:ext cx="16002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Corregir</a:t>
            </a:r>
            <a:endParaRPr lang="en-US" sz="1400" dirty="0"/>
          </a:p>
        </p:txBody>
      </p:sp>
      <p:sp>
        <p:nvSpPr>
          <p:cNvPr id="27" name="Text 25"/>
          <p:cNvSpPr/>
          <p:nvPr/>
        </p:nvSpPr>
        <p:spPr>
          <a:xfrm>
            <a:off x="10012680" y="3072384"/>
            <a:ext cx="1600200" cy="594360"/>
          </a:xfrm>
          <a:prstGeom prst="rect">
            <a:avLst/>
          </a:prstGeom>
          <a:noFill/>
          <a:ln/>
        </p:spPr>
        <p:txBody>
          <a:bodyPr wrap="square" lIns="0" tIns="0" rIns="0" bIns="0" rtlCol="0" anchor="ctr"/>
          <a:lstStyle/>
          <a:p>
            <a:pPr indent="0" marL="0">
              <a:buNone/>
            </a:pPr>
            <a:r>
              <a:rPr lang="en-US" sz="1050" dirty="0">
                <a:solidFill>
                  <a:srgbClr val="9FB0D0"/>
                </a:solidFill>
                <a:latin typeface="Calibri" pitchFamily="34" charset="0"/>
                <a:ea typeface="Calibri" pitchFamily="34" charset="-122"/>
                <a:cs typeface="Calibri" pitchFamily="34" charset="-120"/>
              </a:rPr>
              <a:t>T5 y resaltado de errores</a:t>
            </a:r>
            <a:endParaRPr lang="en-US" sz="1050" dirty="0"/>
          </a:p>
        </p:txBody>
      </p:sp>
      <p:sp>
        <p:nvSpPr>
          <p:cNvPr id="28" name="Text 26"/>
          <p:cNvSpPr/>
          <p:nvPr/>
        </p:nvSpPr>
        <p:spPr>
          <a:xfrm>
            <a:off x="640080" y="4343400"/>
            <a:ext cx="3429000" cy="365760"/>
          </a:xfrm>
          <a:prstGeom prst="rect">
            <a:avLst/>
          </a:prstGeom>
          <a:noFill/>
          <a:ln/>
        </p:spPr>
        <p:txBody>
          <a:bodyPr wrap="square" lIns="0" tIns="0" rIns="0" bIns="0" rtlCol="0" anchor="ctr"/>
          <a:lstStyle/>
          <a:p>
            <a:pPr indent="0" marL="0">
              <a:buNone/>
            </a:pPr>
            <a:r>
              <a:rPr lang="en-US" sz="1800" b="1" dirty="0">
                <a:solidFill>
                  <a:srgbClr val="02C39A"/>
                </a:solidFill>
                <a:latin typeface="Cambria" pitchFamily="34" charset="0"/>
                <a:ea typeface="Cambria" pitchFamily="34" charset="-122"/>
                <a:cs typeface="Cambria" pitchFamily="34" charset="-120"/>
              </a:rPr>
              <a:t>Sin servidores</a:t>
            </a:r>
            <a:endParaRPr lang="en-US" sz="1800" dirty="0"/>
          </a:p>
        </p:txBody>
      </p:sp>
      <p:sp>
        <p:nvSpPr>
          <p:cNvPr id="29" name="Text 27"/>
          <p:cNvSpPr/>
          <p:nvPr/>
        </p:nvSpPr>
        <p:spPr>
          <a:xfrm>
            <a:off x="640080" y="4736592"/>
            <a:ext cx="3291840" cy="640080"/>
          </a:xfrm>
          <a:prstGeom prst="rect">
            <a:avLst/>
          </a:prstGeom>
          <a:noFill/>
          <a:ln/>
        </p:spPr>
        <p:txBody>
          <a:bodyPr wrap="square" lIns="0" tIns="0" rIns="0" bIns="0" rtlCol="0" anchor="ctr"/>
          <a:lstStyle/>
          <a:p>
            <a:pPr indent="0" marL="0">
              <a:buNone/>
            </a:pPr>
            <a:r>
              <a:rPr lang="en-US" sz="1200" dirty="0">
                <a:solidFill>
                  <a:srgbClr val="C7D2E8"/>
                </a:solidFill>
                <a:latin typeface="Calibri" pitchFamily="34" charset="0"/>
                <a:ea typeface="Calibri" pitchFamily="34" charset="-122"/>
                <a:cs typeface="Calibri" pitchFamily="34" charset="-120"/>
              </a:rPr>
              <a:t>Toda la inferencia ocurre en el navegador del usuario</a:t>
            </a:r>
            <a:endParaRPr lang="en-US" sz="1200" dirty="0"/>
          </a:p>
        </p:txBody>
      </p:sp>
      <p:sp>
        <p:nvSpPr>
          <p:cNvPr id="30" name="Text 28"/>
          <p:cNvSpPr/>
          <p:nvPr/>
        </p:nvSpPr>
        <p:spPr>
          <a:xfrm>
            <a:off x="4361688" y="4343400"/>
            <a:ext cx="3429000" cy="365760"/>
          </a:xfrm>
          <a:prstGeom prst="rect">
            <a:avLst/>
          </a:prstGeom>
          <a:noFill/>
          <a:ln/>
        </p:spPr>
        <p:txBody>
          <a:bodyPr wrap="square" lIns="0" tIns="0" rIns="0" bIns="0" rtlCol="0" anchor="ctr"/>
          <a:lstStyle/>
          <a:p>
            <a:pPr indent="0" marL="0">
              <a:buNone/>
            </a:pPr>
            <a:r>
              <a:rPr lang="en-US" sz="1800" b="1" dirty="0">
                <a:solidFill>
                  <a:srgbClr val="02C39A"/>
                </a:solidFill>
                <a:latin typeface="Cambria" pitchFamily="34" charset="0"/>
                <a:ea typeface="Cambria" pitchFamily="34" charset="-122"/>
                <a:cs typeface="Cambria" pitchFamily="34" charset="-120"/>
              </a:rPr>
              <a:t>Sin conexión</a:t>
            </a:r>
            <a:endParaRPr lang="en-US" sz="1800" dirty="0"/>
          </a:p>
        </p:txBody>
      </p:sp>
      <p:sp>
        <p:nvSpPr>
          <p:cNvPr id="31" name="Text 29"/>
          <p:cNvSpPr/>
          <p:nvPr/>
        </p:nvSpPr>
        <p:spPr>
          <a:xfrm>
            <a:off x="4361688" y="4736592"/>
            <a:ext cx="3291840" cy="640080"/>
          </a:xfrm>
          <a:prstGeom prst="rect">
            <a:avLst/>
          </a:prstGeom>
          <a:noFill/>
          <a:ln/>
        </p:spPr>
        <p:txBody>
          <a:bodyPr wrap="square" lIns="0" tIns="0" rIns="0" bIns="0" rtlCol="0" anchor="ctr"/>
          <a:lstStyle/>
          <a:p>
            <a:pPr indent="0" marL="0">
              <a:buNone/>
            </a:pPr>
            <a:r>
              <a:rPr lang="en-US" sz="1200" dirty="0">
                <a:solidFill>
                  <a:srgbClr val="C7D2E8"/>
                </a:solidFill>
                <a:latin typeface="Calibri" pitchFamily="34" charset="0"/>
                <a:ea typeface="Calibri" pitchFamily="34" charset="-122"/>
                <a:cs typeface="Calibri" pitchFamily="34" charset="-120"/>
              </a:rPr>
              <a:t>Tras la descarga inicial la aplicación opera offline</a:t>
            </a:r>
            <a:endParaRPr lang="en-US" sz="1200" dirty="0"/>
          </a:p>
        </p:txBody>
      </p:sp>
      <p:sp>
        <p:nvSpPr>
          <p:cNvPr id="32" name="Text 30"/>
          <p:cNvSpPr/>
          <p:nvPr/>
        </p:nvSpPr>
        <p:spPr>
          <a:xfrm>
            <a:off x="8083296" y="4343400"/>
            <a:ext cx="3429000" cy="365760"/>
          </a:xfrm>
          <a:prstGeom prst="rect">
            <a:avLst/>
          </a:prstGeom>
          <a:noFill/>
          <a:ln/>
        </p:spPr>
        <p:txBody>
          <a:bodyPr wrap="square" lIns="0" tIns="0" rIns="0" bIns="0" rtlCol="0" anchor="ctr"/>
          <a:lstStyle/>
          <a:p>
            <a:pPr indent="0" marL="0">
              <a:buNone/>
            </a:pPr>
            <a:r>
              <a:rPr lang="en-US" sz="1800" b="1" dirty="0">
                <a:solidFill>
                  <a:srgbClr val="02C39A"/>
                </a:solidFill>
                <a:latin typeface="Cambria" pitchFamily="34" charset="0"/>
                <a:ea typeface="Cambria" pitchFamily="34" charset="-122"/>
                <a:cs typeface="Cambria" pitchFamily="34" charset="-120"/>
              </a:rPr>
              <a:t>Privado por diseño</a:t>
            </a:r>
            <a:endParaRPr lang="en-US" sz="1800" dirty="0"/>
          </a:p>
        </p:txBody>
      </p:sp>
      <p:sp>
        <p:nvSpPr>
          <p:cNvPr id="33" name="Text 31"/>
          <p:cNvSpPr/>
          <p:nvPr/>
        </p:nvSpPr>
        <p:spPr>
          <a:xfrm>
            <a:off x="8083296" y="4736592"/>
            <a:ext cx="3291840" cy="640080"/>
          </a:xfrm>
          <a:prstGeom prst="rect">
            <a:avLst/>
          </a:prstGeom>
          <a:noFill/>
          <a:ln/>
        </p:spPr>
        <p:txBody>
          <a:bodyPr wrap="square" lIns="0" tIns="0" rIns="0" bIns="0" rtlCol="0" anchor="ctr"/>
          <a:lstStyle/>
          <a:p>
            <a:pPr indent="0" marL="0">
              <a:buNone/>
            </a:pPr>
            <a:r>
              <a:rPr lang="en-US" sz="1200" dirty="0">
                <a:solidFill>
                  <a:srgbClr val="C7D2E8"/>
                </a:solidFill>
                <a:latin typeface="Calibri" pitchFamily="34" charset="0"/>
                <a:ea typeface="Calibri" pitchFamily="34" charset="-122"/>
                <a:cs typeface="Calibri" pitchFamily="34" charset="-120"/>
              </a:rPr>
              <a:t>La voz, dato biométrico, nunca se transmite</a:t>
            </a:r>
            <a:endParaRPr lang="en-US" sz="1200" dirty="0"/>
          </a:p>
        </p:txBody>
      </p:sp>
      <p:sp>
        <p:nvSpPr>
          <p:cNvPr id="34" name="Shape 32"/>
          <p:cNvSpPr/>
          <p:nvPr/>
        </p:nvSpPr>
        <p:spPr>
          <a:xfrm>
            <a:off x="640080" y="5870448"/>
            <a:ext cx="144018" cy="54864"/>
          </a:xfrm>
          <a:prstGeom prst="roundRect">
            <a:avLst>
              <a:gd name="adj" fmla="val 666667"/>
            </a:avLst>
          </a:prstGeom>
          <a:solidFill>
            <a:srgbClr val="2E3A73"/>
          </a:solidFill>
          <a:ln/>
        </p:spPr>
      </p:sp>
      <p:sp>
        <p:nvSpPr>
          <p:cNvPr id="35" name="Shape 33"/>
          <p:cNvSpPr/>
          <p:nvPr/>
        </p:nvSpPr>
        <p:spPr>
          <a:xfrm>
            <a:off x="960120" y="5853266"/>
            <a:ext cx="144018" cy="89228"/>
          </a:xfrm>
          <a:prstGeom prst="roundRect">
            <a:avLst>
              <a:gd name="adj" fmla="val 409916"/>
            </a:avLst>
          </a:prstGeom>
          <a:solidFill>
            <a:srgbClr val="2E3A73"/>
          </a:solidFill>
          <a:ln/>
        </p:spPr>
      </p:sp>
      <p:sp>
        <p:nvSpPr>
          <p:cNvPr id="36" name="Shape 34"/>
          <p:cNvSpPr/>
          <p:nvPr/>
        </p:nvSpPr>
        <p:spPr>
          <a:xfrm>
            <a:off x="1280160" y="5806751"/>
            <a:ext cx="144018" cy="182257"/>
          </a:xfrm>
          <a:prstGeom prst="roundRect">
            <a:avLst>
              <a:gd name="adj" fmla="val 253968"/>
            </a:avLst>
          </a:prstGeom>
          <a:solidFill>
            <a:srgbClr val="2E3A73"/>
          </a:solidFill>
          <a:ln/>
        </p:spPr>
      </p:sp>
      <p:sp>
        <p:nvSpPr>
          <p:cNvPr id="37" name="Shape 35"/>
          <p:cNvSpPr/>
          <p:nvPr/>
        </p:nvSpPr>
        <p:spPr>
          <a:xfrm>
            <a:off x="1600200" y="5771841"/>
            <a:ext cx="144018" cy="252079"/>
          </a:xfrm>
          <a:prstGeom prst="roundRect">
            <a:avLst>
              <a:gd name="adj" fmla="val 253968"/>
            </a:avLst>
          </a:prstGeom>
          <a:solidFill>
            <a:srgbClr val="2E3A73"/>
          </a:solidFill>
          <a:ln/>
        </p:spPr>
      </p:sp>
      <p:sp>
        <p:nvSpPr>
          <p:cNvPr id="38" name="Shape 36"/>
          <p:cNvSpPr/>
          <p:nvPr/>
        </p:nvSpPr>
        <p:spPr>
          <a:xfrm>
            <a:off x="1920240" y="5763524"/>
            <a:ext cx="144018" cy="268712"/>
          </a:xfrm>
          <a:prstGeom prst="roundRect">
            <a:avLst>
              <a:gd name="adj" fmla="val 253968"/>
            </a:avLst>
          </a:prstGeom>
          <a:solidFill>
            <a:srgbClr val="2E3A73"/>
          </a:solidFill>
          <a:ln/>
        </p:spPr>
      </p:sp>
      <p:sp>
        <p:nvSpPr>
          <p:cNvPr id="39" name="Shape 37"/>
          <p:cNvSpPr/>
          <p:nvPr/>
        </p:nvSpPr>
        <p:spPr>
          <a:xfrm>
            <a:off x="2240280" y="5787696"/>
            <a:ext cx="144018" cy="220368"/>
          </a:xfrm>
          <a:prstGeom prst="roundRect">
            <a:avLst>
              <a:gd name="adj" fmla="val 253968"/>
            </a:avLst>
          </a:prstGeom>
          <a:solidFill>
            <a:srgbClr val="2E3A73"/>
          </a:solidFill>
          <a:ln/>
        </p:spPr>
      </p:sp>
      <p:sp>
        <p:nvSpPr>
          <p:cNvPr id="40" name="Shape 38"/>
          <p:cNvSpPr/>
          <p:nvPr/>
        </p:nvSpPr>
        <p:spPr>
          <a:xfrm>
            <a:off x="2560320" y="5826730"/>
            <a:ext cx="144018" cy="142300"/>
          </a:xfrm>
          <a:prstGeom prst="roundRect">
            <a:avLst>
              <a:gd name="adj" fmla="val 257034"/>
            </a:avLst>
          </a:prstGeom>
          <a:solidFill>
            <a:srgbClr val="2E3A73"/>
          </a:solidFill>
          <a:ln/>
        </p:spPr>
      </p:sp>
      <p:sp>
        <p:nvSpPr>
          <p:cNvPr id="41" name="Shape 39"/>
          <p:cNvSpPr/>
          <p:nvPr/>
        </p:nvSpPr>
        <p:spPr>
          <a:xfrm>
            <a:off x="2880360" y="5754965"/>
            <a:ext cx="144018" cy="285831"/>
          </a:xfrm>
          <a:prstGeom prst="roundRect">
            <a:avLst>
              <a:gd name="adj" fmla="val 253968"/>
            </a:avLst>
          </a:prstGeom>
          <a:solidFill>
            <a:srgbClr val="2E3A73"/>
          </a:solidFill>
          <a:ln/>
        </p:spPr>
      </p:sp>
      <p:sp>
        <p:nvSpPr>
          <p:cNvPr id="42" name="Shape 40"/>
          <p:cNvSpPr/>
          <p:nvPr/>
        </p:nvSpPr>
        <p:spPr>
          <a:xfrm>
            <a:off x="3200400" y="5696043"/>
            <a:ext cx="144018" cy="403674"/>
          </a:xfrm>
          <a:prstGeom prst="roundRect">
            <a:avLst>
              <a:gd name="adj" fmla="val 253968"/>
            </a:avLst>
          </a:prstGeom>
          <a:solidFill>
            <a:srgbClr val="2E3A73"/>
          </a:solidFill>
          <a:ln/>
        </p:spPr>
      </p:sp>
      <p:sp>
        <p:nvSpPr>
          <p:cNvPr id="43" name="Shape 41"/>
          <p:cNvSpPr/>
          <p:nvPr/>
        </p:nvSpPr>
        <p:spPr>
          <a:xfrm>
            <a:off x="3520440" y="5669469"/>
            <a:ext cx="144018" cy="456821"/>
          </a:xfrm>
          <a:prstGeom prst="roundRect">
            <a:avLst>
              <a:gd name="adj" fmla="val 253968"/>
            </a:avLst>
          </a:prstGeom>
          <a:solidFill>
            <a:srgbClr val="2E3A73"/>
          </a:solidFill>
          <a:ln/>
        </p:spPr>
      </p:sp>
      <p:sp>
        <p:nvSpPr>
          <p:cNvPr id="44" name="Shape 42"/>
          <p:cNvSpPr/>
          <p:nvPr/>
        </p:nvSpPr>
        <p:spPr>
          <a:xfrm>
            <a:off x="3840480" y="5685805"/>
            <a:ext cx="144018" cy="424150"/>
          </a:xfrm>
          <a:prstGeom prst="roundRect">
            <a:avLst>
              <a:gd name="adj" fmla="val 253968"/>
            </a:avLst>
          </a:prstGeom>
          <a:solidFill>
            <a:srgbClr val="2E3A73"/>
          </a:solidFill>
          <a:ln/>
        </p:spPr>
      </p:sp>
      <p:sp>
        <p:nvSpPr>
          <p:cNvPr id="45" name="Shape 43"/>
          <p:cNvSpPr/>
          <p:nvPr/>
        </p:nvSpPr>
        <p:spPr>
          <a:xfrm>
            <a:off x="4160520" y="5742507"/>
            <a:ext cx="144018" cy="310746"/>
          </a:xfrm>
          <a:prstGeom prst="roundRect">
            <a:avLst>
              <a:gd name="adj" fmla="val 253968"/>
            </a:avLst>
          </a:prstGeom>
          <a:solidFill>
            <a:srgbClr val="2E3A73"/>
          </a:solidFill>
          <a:ln/>
        </p:spPr>
      </p:sp>
      <p:sp>
        <p:nvSpPr>
          <p:cNvPr id="46" name="Shape 44"/>
          <p:cNvSpPr/>
          <p:nvPr/>
        </p:nvSpPr>
        <p:spPr>
          <a:xfrm>
            <a:off x="4480560" y="5792060"/>
            <a:ext cx="144018" cy="211639"/>
          </a:xfrm>
          <a:prstGeom prst="roundRect">
            <a:avLst>
              <a:gd name="adj" fmla="val 253968"/>
            </a:avLst>
          </a:prstGeom>
          <a:solidFill>
            <a:srgbClr val="2E3A73"/>
          </a:solidFill>
          <a:ln/>
        </p:spPr>
      </p:sp>
      <p:sp>
        <p:nvSpPr>
          <p:cNvPr id="47" name="Shape 45"/>
          <p:cNvSpPr/>
          <p:nvPr/>
        </p:nvSpPr>
        <p:spPr>
          <a:xfrm>
            <a:off x="4800600" y="5705422"/>
            <a:ext cx="144018" cy="384916"/>
          </a:xfrm>
          <a:prstGeom prst="roundRect">
            <a:avLst>
              <a:gd name="adj" fmla="val 253968"/>
            </a:avLst>
          </a:prstGeom>
          <a:solidFill>
            <a:srgbClr val="2E3A73"/>
          </a:solidFill>
          <a:ln/>
        </p:spPr>
      </p:sp>
      <p:sp>
        <p:nvSpPr>
          <p:cNvPr id="48" name="Shape 46"/>
          <p:cNvSpPr/>
          <p:nvPr/>
        </p:nvSpPr>
        <p:spPr>
          <a:xfrm>
            <a:off x="5120640" y="5644446"/>
            <a:ext cx="144018" cy="506868"/>
          </a:xfrm>
          <a:prstGeom prst="roundRect">
            <a:avLst>
              <a:gd name="adj" fmla="val 253968"/>
            </a:avLst>
          </a:prstGeom>
          <a:solidFill>
            <a:srgbClr val="2E3A73"/>
          </a:solidFill>
          <a:ln/>
        </p:spPr>
      </p:sp>
      <p:sp>
        <p:nvSpPr>
          <p:cNvPr id="49" name="Shape 47"/>
          <p:cNvSpPr/>
          <p:nvPr/>
        </p:nvSpPr>
        <p:spPr>
          <a:xfrm>
            <a:off x="5440680" y="5627639"/>
            <a:ext cx="144018" cy="540481"/>
          </a:xfrm>
          <a:prstGeom prst="roundRect">
            <a:avLst>
              <a:gd name="adj" fmla="val 253968"/>
            </a:avLst>
          </a:prstGeom>
          <a:solidFill>
            <a:srgbClr val="2E3A73"/>
          </a:solidFill>
          <a:ln/>
        </p:spPr>
      </p:sp>
      <p:sp>
        <p:nvSpPr>
          <p:cNvPr id="50" name="Shape 48"/>
          <p:cNvSpPr/>
          <p:nvPr/>
        </p:nvSpPr>
        <p:spPr>
          <a:xfrm>
            <a:off x="5760720" y="5660691"/>
            <a:ext cx="144018" cy="474378"/>
          </a:xfrm>
          <a:prstGeom prst="roundRect">
            <a:avLst>
              <a:gd name="adj" fmla="val 253968"/>
            </a:avLst>
          </a:prstGeom>
          <a:solidFill>
            <a:srgbClr val="2E3A73"/>
          </a:solidFill>
          <a:ln/>
        </p:spPr>
      </p:sp>
      <p:sp>
        <p:nvSpPr>
          <p:cNvPr id="51" name="Shape 49"/>
          <p:cNvSpPr/>
          <p:nvPr/>
        </p:nvSpPr>
        <p:spPr>
          <a:xfrm>
            <a:off x="6080760" y="5734456"/>
            <a:ext cx="144018" cy="326847"/>
          </a:xfrm>
          <a:prstGeom prst="roundRect">
            <a:avLst>
              <a:gd name="adj" fmla="val 253968"/>
            </a:avLst>
          </a:prstGeom>
          <a:solidFill>
            <a:srgbClr val="2E3A73"/>
          </a:solidFill>
          <a:ln/>
        </p:spPr>
      </p:sp>
      <p:sp>
        <p:nvSpPr>
          <p:cNvPr id="52" name="Shape 50"/>
          <p:cNvSpPr/>
          <p:nvPr/>
        </p:nvSpPr>
        <p:spPr>
          <a:xfrm>
            <a:off x="6400800" y="5776611"/>
            <a:ext cx="144018" cy="242538"/>
          </a:xfrm>
          <a:prstGeom prst="roundRect">
            <a:avLst>
              <a:gd name="adj" fmla="val 253968"/>
            </a:avLst>
          </a:prstGeom>
          <a:solidFill>
            <a:srgbClr val="2E3A73"/>
          </a:solidFill>
          <a:ln/>
        </p:spPr>
      </p:sp>
      <p:sp>
        <p:nvSpPr>
          <p:cNvPr id="53" name="Shape 51"/>
          <p:cNvSpPr/>
          <p:nvPr/>
        </p:nvSpPr>
        <p:spPr>
          <a:xfrm>
            <a:off x="6720840" y="5692504"/>
            <a:ext cx="144018" cy="410752"/>
          </a:xfrm>
          <a:prstGeom prst="roundRect">
            <a:avLst>
              <a:gd name="adj" fmla="val 253968"/>
            </a:avLst>
          </a:prstGeom>
          <a:solidFill>
            <a:srgbClr val="2E3A73"/>
          </a:solidFill>
          <a:ln/>
        </p:spPr>
      </p:sp>
      <p:sp>
        <p:nvSpPr>
          <p:cNvPr id="54" name="Shape 52"/>
          <p:cNvSpPr/>
          <p:nvPr/>
        </p:nvSpPr>
        <p:spPr>
          <a:xfrm>
            <a:off x="7040880" y="5641288"/>
            <a:ext cx="144018" cy="513184"/>
          </a:xfrm>
          <a:prstGeom prst="roundRect">
            <a:avLst>
              <a:gd name="adj" fmla="val 253968"/>
            </a:avLst>
          </a:prstGeom>
          <a:solidFill>
            <a:srgbClr val="2E3A73"/>
          </a:solidFill>
          <a:ln/>
        </p:spPr>
      </p:sp>
      <p:sp>
        <p:nvSpPr>
          <p:cNvPr id="55" name="Shape 53"/>
          <p:cNvSpPr/>
          <p:nvPr/>
        </p:nvSpPr>
        <p:spPr>
          <a:xfrm>
            <a:off x="7360920" y="5637233"/>
            <a:ext cx="144018" cy="521294"/>
          </a:xfrm>
          <a:prstGeom prst="roundRect">
            <a:avLst>
              <a:gd name="adj" fmla="val 253968"/>
            </a:avLst>
          </a:prstGeom>
          <a:solidFill>
            <a:srgbClr val="2E3A73"/>
          </a:solidFill>
          <a:ln/>
        </p:spPr>
      </p:sp>
      <p:sp>
        <p:nvSpPr>
          <p:cNvPr id="56" name="Shape 54"/>
          <p:cNvSpPr/>
          <p:nvPr/>
        </p:nvSpPr>
        <p:spPr>
          <a:xfrm>
            <a:off x="7680960" y="5680373"/>
            <a:ext cx="144018" cy="435014"/>
          </a:xfrm>
          <a:prstGeom prst="roundRect">
            <a:avLst>
              <a:gd name="adj" fmla="val 253968"/>
            </a:avLst>
          </a:prstGeom>
          <a:solidFill>
            <a:srgbClr val="2E3A73"/>
          </a:solidFill>
          <a:ln/>
        </p:spPr>
      </p:sp>
      <p:sp>
        <p:nvSpPr>
          <p:cNvPr id="57" name="Shape 55"/>
          <p:cNvSpPr/>
          <p:nvPr/>
        </p:nvSpPr>
        <p:spPr>
          <a:xfrm>
            <a:off x="8001000" y="5756868"/>
            <a:ext cx="144018" cy="282025"/>
          </a:xfrm>
          <a:prstGeom prst="roundRect">
            <a:avLst>
              <a:gd name="adj" fmla="val 253968"/>
            </a:avLst>
          </a:prstGeom>
          <a:solidFill>
            <a:srgbClr val="2E3A73"/>
          </a:solidFill>
          <a:ln/>
        </p:spPr>
      </p:sp>
      <p:sp>
        <p:nvSpPr>
          <p:cNvPr id="58" name="Shape 56"/>
          <p:cNvSpPr/>
          <p:nvPr/>
        </p:nvSpPr>
        <p:spPr>
          <a:xfrm>
            <a:off x="8321040" y="5784330"/>
            <a:ext cx="144018" cy="227101"/>
          </a:xfrm>
          <a:prstGeom prst="roundRect">
            <a:avLst>
              <a:gd name="adj" fmla="val 253968"/>
            </a:avLst>
          </a:prstGeom>
          <a:solidFill>
            <a:srgbClr val="2E3A73"/>
          </a:solidFill>
          <a:ln/>
        </p:spPr>
      </p:sp>
      <p:sp>
        <p:nvSpPr>
          <p:cNvPr id="59" name="Shape 57"/>
          <p:cNvSpPr/>
          <p:nvPr/>
        </p:nvSpPr>
        <p:spPr>
          <a:xfrm>
            <a:off x="8641080" y="5719355"/>
            <a:ext cx="144018" cy="357050"/>
          </a:xfrm>
          <a:prstGeom prst="roundRect">
            <a:avLst>
              <a:gd name="adj" fmla="val 253968"/>
            </a:avLst>
          </a:prstGeom>
          <a:solidFill>
            <a:srgbClr val="2E3A73"/>
          </a:solidFill>
          <a:ln/>
        </p:spPr>
      </p:sp>
      <p:sp>
        <p:nvSpPr>
          <p:cNvPr id="60" name="Shape 58"/>
          <p:cNvSpPr/>
          <p:nvPr/>
        </p:nvSpPr>
        <p:spPr>
          <a:xfrm>
            <a:off x="8961120" y="5688396"/>
            <a:ext cx="144018" cy="418968"/>
          </a:xfrm>
          <a:prstGeom prst="roundRect">
            <a:avLst>
              <a:gd name="adj" fmla="val 253968"/>
            </a:avLst>
          </a:prstGeom>
          <a:solidFill>
            <a:srgbClr val="2E3A73"/>
          </a:solidFill>
          <a:ln/>
        </p:spPr>
      </p:sp>
      <p:sp>
        <p:nvSpPr>
          <p:cNvPr id="61" name="Shape 59"/>
          <p:cNvSpPr/>
          <p:nvPr/>
        </p:nvSpPr>
        <p:spPr>
          <a:xfrm>
            <a:off x="9281160" y="5698496"/>
            <a:ext cx="144018" cy="398768"/>
          </a:xfrm>
          <a:prstGeom prst="roundRect">
            <a:avLst>
              <a:gd name="adj" fmla="val 253968"/>
            </a:avLst>
          </a:prstGeom>
          <a:solidFill>
            <a:srgbClr val="2E3A73"/>
          </a:solidFill>
          <a:ln/>
        </p:spPr>
      </p:sp>
      <p:sp>
        <p:nvSpPr>
          <p:cNvPr id="62" name="Shape 60"/>
          <p:cNvSpPr/>
          <p:nvPr/>
        </p:nvSpPr>
        <p:spPr>
          <a:xfrm>
            <a:off x="9601200" y="5743557"/>
            <a:ext cx="144018" cy="308645"/>
          </a:xfrm>
          <a:prstGeom prst="roundRect">
            <a:avLst>
              <a:gd name="adj" fmla="val 253968"/>
            </a:avLst>
          </a:prstGeom>
          <a:solidFill>
            <a:srgbClr val="2E3A73"/>
          </a:solidFill>
          <a:ln/>
        </p:spPr>
      </p:sp>
      <p:sp>
        <p:nvSpPr>
          <p:cNvPr id="63" name="Shape 61"/>
          <p:cNvSpPr/>
          <p:nvPr/>
        </p:nvSpPr>
        <p:spPr>
          <a:xfrm>
            <a:off x="9921240" y="5807169"/>
            <a:ext cx="144018" cy="181422"/>
          </a:xfrm>
          <a:prstGeom prst="roundRect">
            <a:avLst>
              <a:gd name="adj" fmla="val 253968"/>
            </a:avLst>
          </a:prstGeom>
          <a:solidFill>
            <a:srgbClr val="2E3A73"/>
          </a:solidFill>
          <a:ln/>
        </p:spPr>
      </p:sp>
      <p:sp>
        <p:nvSpPr>
          <p:cNvPr id="64" name="Shape 62"/>
          <p:cNvSpPr/>
          <p:nvPr/>
        </p:nvSpPr>
        <p:spPr>
          <a:xfrm>
            <a:off x="10241280" y="5822769"/>
            <a:ext cx="144018" cy="150222"/>
          </a:xfrm>
          <a:prstGeom prst="roundRect">
            <a:avLst>
              <a:gd name="adj" fmla="val 253968"/>
            </a:avLst>
          </a:prstGeom>
          <a:solidFill>
            <a:srgbClr val="2E3A73"/>
          </a:solidFill>
          <a:ln/>
        </p:spPr>
      </p:sp>
      <p:sp>
        <p:nvSpPr>
          <p:cNvPr id="65" name="Shape 63"/>
          <p:cNvSpPr/>
          <p:nvPr/>
        </p:nvSpPr>
        <p:spPr>
          <a:xfrm>
            <a:off x="10561320" y="5796633"/>
            <a:ext cx="144018" cy="202493"/>
          </a:xfrm>
          <a:prstGeom prst="roundRect">
            <a:avLst>
              <a:gd name="adj" fmla="val 253968"/>
            </a:avLst>
          </a:prstGeom>
          <a:solidFill>
            <a:srgbClr val="2E3A73"/>
          </a:solidFill>
          <a:ln/>
        </p:spPr>
      </p:sp>
      <p:sp>
        <p:nvSpPr>
          <p:cNvPr id="66" name="Shape 64"/>
          <p:cNvSpPr/>
          <p:nvPr/>
        </p:nvSpPr>
        <p:spPr>
          <a:xfrm>
            <a:off x="10881360" y="5800915"/>
            <a:ext cx="144018" cy="193929"/>
          </a:xfrm>
          <a:prstGeom prst="roundRect">
            <a:avLst>
              <a:gd name="adj" fmla="val 253968"/>
            </a:avLst>
          </a:prstGeom>
          <a:solidFill>
            <a:srgbClr val="2E3A73"/>
          </a:solidFill>
          <a:ln/>
        </p:spPr>
      </p:sp>
      <p:sp>
        <p:nvSpPr>
          <p:cNvPr id="67" name="Shape 65"/>
          <p:cNvSpPr/>
          <p:nvPr/>
        </p:nvSpPr>
        <p:spPr>
          <a:xfrm>
            <a:off x="11201400" y="5833698"/>
            <a:ext cx="144018" cy="128364"/>
          </a:xfrm>
          <a:prstGeom prst="roundRect">
            <a:avLst>
              <a:gd name="adj" fmla="val 284940"/>
            </a:avLst>
          </a:prstGeom>
          <a:solidFill>
            <a:srgbClr val="2E3A73"/>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84048"/>
            <a:ext cx="10881360" cy="685800"/>
          </a:xfrm>
          <a:prstGeom prst="rect">
            <a:avLst/>
          </a:prstGeom>
          <a:noFill/>
          <a:ln/>
        </p:spPr>
        <p:txBody>
          <a:bodyPr wrap="square" rtlCol="0" anchor="ctr"/>
          <a:lstStyle/>
          <a:p>
            <a:pPr indent="0" marL="0">
              <a:buNone/>
            </a:pPr>
            <a:r>
              <a:rPr lang="en-US" sz="3400" b="1" dirty="0">
                <a:solidFill>
                  <a:srgbClr val="1E2433"/>
                </a:solidFill>
                <a:latin typeface="Cambria" pitchFamily="34" charset="0"/>
                <a:ea typeface="Cambria" pitchFamily="34" charset="-122"/>
                <a:cs typeface="Cambria" pitchFamily="34" charset="-120"/>
              </a:rPr>
              <a:t>Arquitectura: cuatro módulos, un contrato</a:t>
            </a:r>
            <a:endParaRPr lang="en-US" sz="3400" dirty="0"/>
          </a:p>
        </p:txBody>
      </p:sp>
      <p:sp>
        <p:nvSpPr>
          <p:cNvPr id="3" name="Text 1"/>
          <p:cNvSpPr/>
          <p:nvPr/>
        </p:nvSpPr>
        <p:spPr>
          <a:xfrm>
            <a:off x="658368" y="1060704"/>
            <a:ext cx="10881360" cy="365760"/>
          </a:xfrm>
          <a:prstGeom prst="rect">
            <a:avLst/>
          </a:prstGeom>
          <a:noFill/>
          <a:ln/>
        </p:spPr>
        <p:txBody>
          <a:bodyPr wrap="square" rtlCol="0" anchor="ctr"/>
          <a:lstStyle/>
          <a:p>
            <a:pPr indent="0" marL="0">
              <a:buNone/>
            </a:pPr>
            <a:r>
              <a:rPr lang="en-US" sz="1400" dirty="0">
                <a:solidFill>
                  <a:srgbClr val="64748B"/>
                </a:solidFill>
                <a:latin typeface="Calibri" pitchFamily="34" charset="0"/>
                <a:ea typeface="Calibri" pitchFamily="34" charset="-122"/>
                <a:cs typeface="Calibri" pitchFamily="34" charset="-120"/>
              </a:rPr>
              <a:t>La decisión de diseño que permitió que cuatro personas avanzaran en paralelo</a:t>
            </a:r>
            <a:endParaRPr lang="en-US" sz="1400" dirty="0"/>
          </a:p>
        </p:txBody>
      </p:sp>
      <p:sp>
        <p:nvSpPr>
          <p:cNvPr id="4" name="Shape 2"/>
          <p:cNvSpPr/>
          <p:nvPr/>
        </p:nvSpPr>
        <p:spPr>
          <a:xfrm>
            <a:off x="640080" y="1645920"/>
            <a:ext cx="2560320" cy="2148840"/>
          </a:xfrm>
          <a:prstGeom prst="roundRect">
            <a:avLst>
              <a:gd name="adj" fmla="val 2553"/>
            </a:avLst>
          </a:prstGeom>
          <a:solidFill>
            <a:srgbClr val="F1F5F9"/>
          </a:solidFill>
          <a:ln/>
        </p:spPr>
      </p:sp>
      <p:sp>
        <p:nvSpPr>
          <p:cNvPr id="5" name="Shape 3"/>
          <p:cNvSpPr/>
          <p:nvPr/>
        </p:nvSpPr>
        <p:spPr>
          <a:xfrm>
            <a:off x="896112" y="1874520"/>
            <a:ext cx="310896" cy="310896"/>
          </a:xfrm>
          <a:prstGeom prst="ellipse">
            <a:avLst/>
          </a:prstGeom>
          <a:solidFill>
            <a:srgbClr val="065A82"/>
          </a:solidFill>
          <a:ln/>
        </p:spPr>
      </p:sp>
      <p:sp>
        <p:nvSpPr>
          <p:cNvPr id="6" name="Text 4"/>
          <p:cNvSpPr/>
          <p:nvPr/>
        </p:nvSpPr>
        <p:spPr>
          <a:xfrm>
            <a:off x="896112" y="2286000"/>
            <a:ext cx="2103120" cy="320040"/>
          </a:xfrm>
          <a:prstGeom prst="rect">
            <a:avLst/>
          </a:prstGeom>
          <a:noFill/>
          <a:ln/>
        </p:spPr>
        <p:txBody>
          <a:bodyPr wrap="square" lIns="0" tIns="0" rIns="0" bIns="0" rtlCol="0" anchor="ctr"/>
          <a:lstStyle/>
          <a:p>
            <a:pPr indent="0" marL="0">
              <a:buNone/>
            </a:pPr>
            <a:r>
              <a:rPr lang="en-US" sz="1550" b="1" dirty="0">
                <a:solidFill>
                  <a:srgbClr val="1E2433"/>
                </a:solidFill>
                <a:latin typeface="Cambria" pitchFamily="34" charset="0"/>
                <a:ea typeface="Cambria" pitchFamily="34" charset="-122"/>
                <a:cs typeface="Cambria" pitchFamily="34" charset="-120"/>
              </a:rPr>
              <a:t>Audio (DSP)</a:t>
            </a:r>
            <a:endParaRPr lang="en-US" sz="1550" dirty="0"/>
          </a:p>
        </p:txBody>
      </p:sp>
      <p:sp>
        <p:nvSpPr>
          <p:cNvPr id="7" name="Text 5"/>
          <p:cNvSpPr/>
          <p:nvPr/>
        </p:nvSpPr>
        <p:spPr>
          <a:xfrm>
            <a:off x="896112" y="2606040"/>
            <a:ext cx="2103120" cy="274320"/>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Fabrizio Espinoza</a:t>
            </a:r>
            <a:endParaRPr lang="en-US" sz="1100" dirty="0"/>
          </a:p>
        </p:txBody>
      </p:sp>
      <p:sp>
        <p:nvSpPr>
          <p:cNvPr id="8" name="Text 6"/>
          <p:cNvSpPr/>
          <p:nvPr/>
        </p:nvSpPr>
        <p:spPr>
          <a:xfrm>
            <a:off x="896112" y="2926080"/>
            <a:ext cx="2103120" cy="7772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Captura, remuestreo, filtrado, VAD, FFT y STFT</a:t>
            </a:r>
            <a:endParaRPr lang="en-US" sz="1100" dirty="0"/>
          </a:p>
        </p:txBody>
      </p:sp>
      <p:sp>
        <p:nvSpPr>
          <p:cNvPr id="9" name="Shape 7"/>
          <p:cNvSpPr/>
          <p:nvPr/>
        </p:nvSpPr>
        <p:spPr>
          <a:xfrm>
            <a:off x="3429000" y="1645920"/>
            <a:ext cx="2560320" cy="2148840"/>
          </a:xfrm>
          <a:prstGeom prst="roundRect">
            <a:avLst>
              <a:gd name="adj" fmla="val 2553"/>
            </a:avLst>
          </a:prstGeom>
          <a:solidFill>
            <a:srgbClr val="F1F5F9"/>
          </a:solidFill>
          <a:ln/>
        </p:spPr>
      </p:sp>
      <p:sp>
        <p:nvSpPr>
          <p:cNvPr id="10" name="Shape 8"/>
          <p:cNvSpPr/>
          <p:nvPr/>
        </p:nvSpPr>
        <p:spPr>
          <a:xfrm>
            <a:off x="3685032" y="1874520"/>
            <a:ext cx="310896" cy="310896"/>
          </a:xfrm>
          <a:prstGeom prst="ellipse">
            <a:avLst/>
          </a:prstGeom>
          <a:solidFill>
            <a:srgbClr val="1C7293"/>
          </a:solidFill>
          <a:ln/>
        </p:spPr>
      </p:sp>
      <p:sp>
        <p:nvSpPr>
          <p:cNvPr id="11" name="Text 9"/>
          <p:cNvSpPr/>
          <p:nvPr/>
        </p:nvSpPr>
        <p:spPr>
          <a:xfrm>
            <a:off x="3685032" y="2286000"/>
            <a:ext cx="2103120" cy="320040"/>
          </a:xfrm>
          <a:prstGeom prst="rect">
            <a:avLst/>
          </a:prstGeom>
          <a:noFill/>
          <a:ln/>
        </p:spPr>
        <p:txBody>
          <a:bodyPr wrap="square" lIns="0" tIns="0" rIns="0" bIns="0" rtlCol="0" anchor="ctr"/>
          <a:lstStyle/>
          <a:p>
            <a:pPr indent="0" marL="0">
              <a:buNone/>
            </a:pPr>
            <a:r>
              <a:rPr lang="en-US" sz="1550" b="1" dirty="0">
                <a:solidFill>
                  <a:srgbClr val="1E2433"/>
                </a:solidFill>
                <a:latin typeface="Cambria" pitchFamily="34" charset="0"/>
                <a:ea typeface="Cambria" pitchFamily="34" charset="-122"/>
                <a:cs typeface="Cambria" pitchFamily="34" charset="-120"/>
              </a:rPr>
              <a:t>Inteligencia artificial</a:t>
            </a:r>
            <a:endParaRPr lang="en-US" sz="1550" dirty="0"/>
          </a:p>
        </p:txBody>
      </p:sp>
      <p:sp>
        <p:nvSpPr>
          <p:cNvPr id="12" name="Text 10"/>
          <p:cNvSpPr/>
          <p:nvPr/>
        </p:nvSpPr>
        <p:spPr>
          <a:xfrm>
            <a:off x="3685032" y="2606040"/>
            <a:ext cx="2103120" cy="274320"/>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Isaac Morum</a:t>
            </a:r>
            <a:endParaRPr lang="en-US" sz="1100" dirty="0"/>
          </a:p>
        </p:txBody>
      </p:sp>
      <p:sp>
        <p:nvSpPr>
          <p:cNvPr id="13" name="Text 11"/>
          <p:cNvSpPr/>
          <p:nvPr/>
        </p:nvSpPr>
        <p:spPr>
          <a:xfrm>
            <a:off x="3685032" y="2926080"/>
            <a:ext cx="2103120" cy="7772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Reconocimiento de voz y corrección gramatical en workers</a:t>
            </a:r>
            <a:endParaRPr lang="en-US" sz="1100" dirty="0"/>
          </a:p>
        </p:txBody>
      </p:sp>
      <p:sp>
        <p:nvSpPr>
          <p:cNvPr id="14" name="Shape 12"/>
          <p:cNvSpPr/>
          <p:nvPr/>
        </p:nvSpPr>
        <p:spPr>
          <a:xfrm>
            <a:off x="6217920" y="1645920"/>
            <a:ext cx="2560320" cy="2148840"/>
          </a:xfrm>
          <a:prstGeom prst="roundRect">
            <a:avLst>
              <a:gd name="adj" fmla="val 2553"/>
            </a:avLst>
          </a:prstGeom>
          <a:solidFill>
            <a:srgbClr val="F1F5F9"/>
          </a:solidFill>
          <a:ln/>
        </p:spPr>
      </p:sp>
      <p:sp>
        <p:nvSpPr>
          <p:cNvPr id="15" name="Shape 13"/>
          <p:cNvSpPr/>
          <p:nvPr/>
        </p:nvSpPr>
        <p:spPr>
          <a:xfrm>
            <a:off x="6473952" y="1874520"/>
            <a:ext cx="310896" cy="310896"/>
          </a:xfrm>
          <a:prstGeom prst="ellipse">
            <a:avLst/>
          </a:prstGeom>
          <a:solidFill>
            <a:srgbClr val="0F766E"/>
          </a:solidFill>
          <a:ln/>
        </p:spPr>
      </p:sp>
      <p:sp>
        <p:nvSpPr>
          <p:cNvPr id="16" name="Text 14"/>
          <p:cNvSpPr/>
          <p:nvPr/>
        </p:nvSpPr>
        <p:spPr>
          <a:xfrm>
            <a:off x="6473952" y="2286000"/>
            <a:ext cx="2103120" cy="320040"/>
          </a:xfrm>
          <a:prstGeom prst="rect">
            <a:avLst/>
          </a:prstGeom>
          <a:noFill/>
          <a:ln/>
        </p:spPr>
        <p:txBody>
          <a:bodyPr wrap="square" lIns="0" tIns="0" rIns="0" bIns="0" rtlCol="0" anchor="ctr"/>
          <a:lstStyle/>
          <a:p>
            <a:pPr indent="0" marL="0">
              <a:buNone/>
            </a:pPr>
            <a:r>
              <a:rPr lang="en-US" sz="1550" b="1" dirty="0">
                <a:solidFill>
                  <a:srgbClr val="1E2433"/>
                </a:solidFill>
                <a:latin typeface="Cambria" pitchFamily="34" charset="0"/>
                <a:ea typeface="Cambria" pitchFamily="34" charset="-122"/>
                <a:cs typeface="Cambria" pitchFamily="34" charset="-120"/>
              </a:rPr>
              <a:t>Interfaz</a:t>
            </a:r>
            <a:endParaRPr lang="en-US" sz="1550" dirty="0"/>
          </a:p>
        </p:txBody>
      </p:sp>
      <p:sp>
        <p:nvSpPr>
          <p:cNvPr id="17" name="Text 15"/>
          <p:cNvSpPr/>
          <p:nvPr/>
        </p:nvSpPr>
        <p:spPr>
          <a:xfrm>
            <a:off x="6473952" y="2606040"/>
            <a:ext cx="2103120" cy="274320"/>
          </a:xfrm>
          <a:prstGeom prst="rect">
            <a:avLst/>
          </a:prstGeom>
          <a:noFill/>
          <a:ln/>
        </p:spPr>
        <p:txBody>
          <a:bodyPr wrap="square" lIns="0" tIns="0" rIns="0" bIns="0" rtlCol="0" anchor="ctr"/>
          <a:lstStyle/>
          <a:p>
            <a:pPr indent="0" marL="0">
              <a:buNone/>
            </a:pPr>
            <a:r>
              <a:rPr lang="en-US" sz="1100" b="1" dirty="0">
                <a:solidFill>
                  <a:srgbClr val="0F766E"/>
                </a:solidFill>
                <a:latin typeface="Calibri" pitchFamily="34" charset="0"/>
                <a:ea typeface="Calibri" pitchFamily="34" charset="-122"/>
                <a:cs typeface="Calibri" pitchFamily="34" charset="-120"/>
              </a:rPr>
              <a:t>José Pablo Monestel</a:t>
            </a:r>
            <a:endParaRPr lang="en-US" sz="1100" dirty="0"/>
          </a:p>
        </p:txBody>
      </p:sp>
      <p:sp>
        <p:nvSpPr>
          <p:cNvPr id="18" name="Text 16"/>
          <p:cNvSpPr/>
          <p:nvPr/>
        </p:nvSpPr>
        <p:spPr>
          <a:xfrm>
            <a:off x="6473952" y="2926080"/>
            <a:ext cx="2103120" cy="7772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Diseño visual, chat, visualización y navegación</a:t>
            </a:r>
            <a:endParaRPr lang="en-US" sz="1100" dirty="0"/>
          </a:p>
        </p:txBody>
      </p:sp>
      <p:sp>
        <p:nvSpPr>
          <p:cNvPr id="19" name="Shape 17"/>
          <p:cNvSpPr/>
          <p:nvPr/>
        </p:nvSpPr>
        <p:spPr>
          <a:xfrm>
            <a:off x="9006840" y="1645920"/>
            <a:ext cx="2560320" cy="2148840"/>
          </a:xfrm>
          <a:prstGeom prst="roundRect">
            <a:avLst>
              <a:gd name="adj" fmla="val 2553"/>
            </a:avLst>
          </a:prstGeom>
          <a:solidFill>
            <a:srgbClr val="F1F5F9"/>
          </a:solidFill>
          <a:ln/>
        </p:spPr>
      </p:sp>
      <p:sp>
        <p:nvSpPr>
          <p:cNvPr id="20" name="Shape 18"/>
          <p:cNvSpPr/>
          <p:nvPr/>
        </p:nvSpPr>
        <p:spPr>
          <a:xfrm>
            <a:off x="9262872" y="1874520"/>
            <a:ext cx="310896" cy="310896"/>
          </a:xfrm>
          <a:prstGeom prst="ellipse">
            <a:avLst/>
          </a:prstGeom>
          <a:solidFill>
            <a:srgbClr val="21295C"/>
          </a:solidFill>
          <a:ln/>
        </p:spPr>
      </p:sp>
      <p:sp>
        <p:nvSpPr>
          <p:cNvPr id="21" name="Text 19"/>
          <p:cNvSpPr/>
          <p:nvPr/>
        </p:nvSpPr>
        <p:spPr>
          <a:xfrm>
            <a:off x="9262872" y="2286000"/>
            <a:ext cx="2103120" cy="320040"/>
          </a:xfrm>
          <a:prstGeom prst="rect">
            <a:avLst/>
          </a:prstGeom>
          <a:noFill/>
          <a:ln/>
        </p:spPr>
        <p:txBody>
          <a:bodyPr wrap="square" lIns="0" tIns="0" rIns="0" bIns="0" rtlCol="0" anchor="ctr"/>
          <a:lstStyle/>
          <a:p>
            <a:pPr indent="0" marL="0">
              <a:buNone/>
            </a:pPr>
            <a:r>
              <a:rPr lang="en-US" sz="1550" b="1" dirty="0">
                <a:solidFill>
                  <a:srgbClr val="1E2433"/>
                </a:solidFill>
                <a:latin typeface="Cambria" pitchFamily="34" charset="0"/>
                <a:ea typeface="Cambria" pitchFamily="34" charset="-122"/>
                <a:cs typeface="Cambria" pitchFamily="34" charset="-120"/>
              </a:rPr>
              <a:t>Núcleo</a:t>
            </a:r>
            <a:endParaRPr lang="en-US" sz="1550" dirty="0"/>
          </a:p>
        </p:txBody>
      </p:sp>
      <p:sp>
        <p:nvSpPr>
          <p:cNvPr id="22" name="Text 20"/>
          <p:cNvSpPr/>
          <p:nvPr/>
        </p:nvSpPr>
        <p:spPr>
          <a:xfrm>
            <a:off x="9262872" y="2606040"/>
            <a:ext cx="2103120" cy="274320"/>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Alejandro Zamora</a:t>
            </a:r>
            <a:endParaRPr lang="en-US" sz="1100" dirty="0"/>
          </a:p>
        </p:txBody>
      </p:sp>
      <p:sp>
        <p:nvSpPr>
          <p:cNvPr id="23" name="Text 21"/>
          <p:cNvSpPr/>
          <p:nvPr/>
        </p:nvSpPr>
        <p:spPr>
          <a:xfrm>
            <a:off x="9262872" y="2926080"/>
            <a:ext cx="2103120" cy="7772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Contratos, orquestador, PWA e integración continua</a:t>
            </a:r>
            <a:endParaRPr lang="en-US" sz="1100" dirty="0"/>
          </a:p>
        </p:txBody>
      </p:sp>
      <p:sp>
        <p:nvSpPr>
          <p:cNvPr id="24" name="Shape 22"/>
          <p:cNvSpPr/>
          <p:nvPr/>
        </p:nvSpPr>
        <p:spPr>
          <a:xfrm>
            <a:off x="640080" y="4069080"/>
            <a:ext cx="5349240" cy="1920240"/>
          </a:xfrm>
          <a:prstGeom prst="roundRect">
            <a:avLst>
              <a:gd name="adj" fmla="val 2857"/>
            </a:avLst>
          </a:prstGeom>
          <a:solidFill>
            <a:srgbClr val="21295C"/>
          </a:solidFill>
          <a:ln/>
        </p:spPr>
      </p:sp>
      <p:sp>
        <p:nvSpPr>
          <p:cNvPr id="25" name="Text 23"/>
          <p:cNvSpPr/>
          <p:nvPr/>
        </p:nvSpPr>
        <p:spPr>
          <a:xfrm>
            <a:off x="914400" y="4279392"/>
            <a:ext cx="4754880" cy="347472"/>
          </a:xfrm>
          <a:prstGeom prst="rect">
            <a:avLst/>
          </a:prstGeom>
          <a:noFill/>
          <a:ln/>
        </p:spPr>
        <p:txBody>
          <a:bodyPr wrap="square" lIns="0" tIns="0" rIns="0" bIns="0" rtlCol="0" anchor="ctr"/>
          <a:lstStyle/>
          <a:p>
            <a:pPr indent="0" marL="0">
              <a:buNone/>
            </a:pPr>
            <a:r>
              <a:rPr lang="en-US" sz="1700" b="1" dirty="0">
                <a:solidFill>
                  <a:srgbClr val="02C39A"/>
                </a:solidFill>
                <a:latin typeface="Cambria" pitchFamily="34" charset="0"/>
                <a:ea typeface="Cambria" pitchFamily="34" charset="-122"/>
                <a:cs typeface="Cambria" pitchFamily="34" charset="-120"/>
              </a:rPr>
              <a:t>Contratos congelados en la semana 1</a:t>
            </a:r>
            <a:endParaRPr lang="en-US" sz="1700" dirty="0"/>
          </a:p>
        </p:txBody>
      </p:sp>
      <p:sp>
        <p:nvSpPr>
          <p:cNvPr id="26" name="Text 24"/>
          <p:cNvSpPr/>
          <p:nvPr/>
        </p:nvSpPr>
        <p:spPr>
          <a:xfrm>
            <a:off x="914400" y="4663440"/>
            <a:ext cx="4800600" cy="1097280"/>
          </a:xfrm>
          <a:prstGeom prst="rect">
            <a:avLst/>
          </a:prstGeom>
          <a:noFill/>
          <a:ln/>
        </p:spPr>
        <p:txBody>
          <a:bodyPr wrap="square" lIns="0" tIns="0" rIns="0" bIns="0" rtlCol="0" anchor="ctr"/>
          <a:lstStyle/>
          <a:p>
            <a:pPr indent="0" marL="0">
              <a:buNone/>
            </a:pPr>
            <a:r>
              <a:rPr lang="en-US" sz="1200" dirty="0">
                <a:solidFill>
                  <a:srgbClr val="C7D2E8"/>
                </a:solidFill>
                <a:latin typeface="Calibri" pitchFamily="34" charset="0"/>
                <a:ea typeface="Calibri" pitchFamily="34" charset="-122"/>
                <a:cs typeface="Calibri" pitchFamily="34" charset="-120"/>
              </a:rPr>
              <a:t>Cada módulo se comunica solo a través de interfaces de TypeScript, y cada uno tiene una implementación simulada. Nadie espera el código de otro: la interfaz se construyó contra una señal sintética antes de que existiera la captura real.</a:t>
            </a:r>
            <a:endParaRPr lang="en-US" sz="1200" dirty="0"/>
          </a:p>
        </p:txBody>
      </p:sp>
      <p:sp>
        <p:nvSpPr>
          <p:cNvPr id="27" name="Shape 25"/>
          <p:cNvSpPr/>
          <p:nvPr/>
        </p:nvSpPr>
        <p:spPr>
          <a:xfrm>
            <a:off x="6172200" y="4069080"/>
            <a:ext cx="5349240" cy="1920240"/>
          </a:xfrm>
          <a:prstGeom prst="roundRect">
            <a:avLst>
              <a:gd name="adj" fmla="val 2857"/>
            </a:avLst>
          </a:prstGeom>
          <a:solidFill>
            <a:srgbClr val="F1F5F9"/>
          </a:solidFill>
          <a:ln/>
        </p:spPr>
      </p:sp>
      <p:sp>
        <p:nvSpPr>
          <p:cNvPr id="28" name="Text 26"/>
          <p:cNvSpPr/>
          <p:nvPr/>
        </p:nvSpPr>
        <p:spPr>
          <a:xfrm>
            <a:off x="6446520" y="4279392"/>
            <a:ext cx="4754880" cy="347472"/>
          </a:xfrm>
          <a:prstGeom prst="rect">
            <a:avLst/>
          </a:prstGeom>
          <a:noFill/>
          <a:ln/>
        </p:spPr>
        <p:txBody>
          <a:bodyPr wrap="square" lIns="0" tIns="0" rIns="0" bIns="0" rtlCol="0" anchor="ctr"/>
          <a:lstStyle/>
          <a:p>
            <a:pPr indent="0" marL="0">
              <a:buNone/>
            </a:pPr>
            <a:r>
              <a:rPr lang="en-US" sz="1700" b="1" dirty="0">
                <a:solidFill>
                  <a:srgbClr val="1E2433"/>
                </a:solidFill>
                <a:latin typeface="Cambria" pitchFamily="34" charset="0"/>
                <a:ea typeface="Cambria" pitchFamily="34" charset="-122"/>
                <a:cs typeface="Cambria" pitchFamily="34" charset="-120"/>
              </a:rPr>
              <a:t>Lo que eso nos permitió</a:t>
            </a:r>
            <a:endParaRPr lang="en-US" sz="1700" dirty="0"/>
          </a:p>
        </p:txBody>
      </p:sp>
      <p:sp>
        <p:nvSpPr>
          <p:cNvPr id="29" name="Text 27"/>
          <p:cNvSpPr/>
          <p:nvPr/>
        </p:nvSpPr>
        <p:spPr>
          <a:xfrm>
            <a:off x="6446520" y="4663440"/>
            <a:ext cx="4800600" cy="11430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64748B"/>
                </a:solidFill>
                <a:latin typeface="Calibri" pitchFamily="34" charset="0"/>
                <a:ea typeface="Calibri" pitchFamily="34" charset="-122"/>
                <a:cs typeface="Calibri" pitchFamily="34" charset="-120"/>
              </a:rPr>
              <a:t>Sustituir un módulo simulado por el real cambiando una línea</a:t>
            </a:r>
            <a:endParaRPr lang="en-US" sz="1200" dirty="0"/>
          </a:p>
          <a:p>
            <a:pPr marL="342900" indent="-342900">
              <a:spcAft>
                <a:spcPts val="600"/>
              </a:spcAft>
              <a:buSzPct val="100000"/>
              <a:buChar char="•"/>
            </a:pPr>
            <a:r>
              <a:rPr lang="en-US" sz="1200" dirty="0">
                <a:solidFill>
                  <a:srgbClr val="64748B"/>
                </a:solidFill>
                <a:latin typeface="Calibri" pitchFamily="34" charset="0"/>
                <a:ea typeface="Calibri" pitchFamily="34" charset="-122"/>
                <a:cs typeface="Calibri" pitchFamily="34" charset="-120"/>
              </a:rPr>
              <a:t>Absorber la baja temporal de un integrante sin replanificar</a:t>
            </a:r>
            <a:endParaRPr lang="en-US" sz="1200" dirty="0"/>
          </a:p>
          <a:p>
            <a:pPr marL="342900" indent="-342900">
              <a:spcAft>
                <a:spcPts val="600"/>
              </a:spcAft>
              <a:buSzPct val="100000"/>
              <a:buChar char="•"/>
            </a:pPr>
            <a:r>
              <a:rPr lang="en-US" sz="1200" dirty="0">
                <a:solidFill>
                  <a:srgbClr val="64748B"/>
                </a:solidFill>
                <a:latin typeface="Calibri" pitchFamily="34" charset="0"/>
                <a:ea typeface="Calibri" pitchFamily="34" charset="-122"/>
                <a:cs typeface="Calibri" pitchFamily="34" charset="-120"/>
              </a:rPr>
              <a:t>Verificar cada módulo por separado: 155 pruebas automatizadas</a:t>
            </a:r>
            <a:endParaRPr lang="en-US" sz="1200" dirty="0"/>
          </a:p>
        </p:txBody>
      </p:sp>
      <p:sp>
        <p:nvSpPr>
          <p:cNvPr id="30" name="Text 28"/>
          <p:cNvSpPr/>
          <p:nvPr/>
        </p:nvSpPr>
        <p:spPr>
          <a:xfrm>
            <a:off x="640080" y="6327648"/>
            <a:ext cx="10881360" cy="274320"/>
          </a:xfrm>
          <a:prstGeom prst="rect">
            <a:avLst/>
          </a:prstGeom>
          <a:noFill/>
          <a:ln/>
        </p:spPr>
        <p:txBody>
          <a:bodyPr wrap="square" lIns="0" tIns="0" rIns="0" bIns="0" rtlCol="0" anchor="ctr"/>
          <a:lstStyle/>
          <a:p>
            <a:pPr indent="0" marL="0">
              <a:buNone/>
            </a:pPr>
            <a:r>
              <a:rPr lang="en-US" sz="950" dirty="0">
                <a:solidFill>
                  <a:srgbClr val="A8B0BF"/>
                </a:solidFill>
                <a:latin typeface="Calibri" pitchFamily="34" charset="0"/>
                <a:ea typeface="Calibri" pitchFamily="34" charset="-122"/>
                <a:cs typeface="Calibri" pitchFamily="34" charset="-120"/>
              </a:rPr>
              <a:t>Documento técnico, sección 3: Arquitectura propuesta</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10881360" cy="685800"/>
          </a:xfrm>
          <a:prstGeom prst="rect">
            <a:avLst/>
          </a:prstGeom>
          <a:noFill/>
          <a:ln/>
        </p:spPr>
        <p:txBody>
          <a:bodyPr wrap="square" rtlCol="0" anchor="ctr"/>
          <a:lstStyle/>
          <a:p>
            <a:pPr indent="0" marL="0">
              <a:buNone/>
            </a:pPr>
            <a:r>
              <a:rPr lang="en-US" sz="3400" b="1" dirty="0">
                <a:solidFill>
                  <a:srgbClr val="1E2433"/>
                </a:solidFill>
                <a:latin typeface="Cambria" pitchFamily="34" charset="0"/>
                <a:ea typeface="Cambria" pitchFamily="34" charset="-122"/>
                <a:cs typeface="Cambria" pitchFamily="34" charset="-120"/>
              </a:rPr>
              <a:t>La cadena de procesamiento de señales</a:t>
            </a:r>
            <a:endParaRPr lang="en-US" sz="3400" dirty="0"/>
          </a:p>
        </p:txBody>
      </p:sp>
      <p:sp>
        <p:nvSpPr>
          <p:cNvPr id="3" name="Text 1"/>
          <p:cNvSpPr/>
          <p:nvPr/>
        </p:nvSpPr>
        <p:spPr>
          <a:xfrm>
            <a:off x="658368" y="1060704"/>
            <a:ext cx="10881360" cy="365760"/>
          </a:xfrm>
          <a:prstGeom prst="rect">
            <a:avLst/>
          </a:prstGeom>
          <a:noFill/>
          <a:ln/>
        </p:spPr>
        <p:txBody>
          <a:bodyPr wrap="square" rtlCol="0" anchor="ctr"/>
          <a:lstStyle/>
          <a:p>
            <a:pPr indent="0" marL="0">
              <a:buNone/>
            </a:pPr>
            <a:r>
              <a:rPr lang="en-US" sz="1400" dirty="0">
                <a:solidFill>
                  <a:srgbClr val="64748B"/>
                </a:solidFill>
                <a:latin typeface="Calibri" pitchFamily="34" charset="0"/>
                <a:ea typeface="Calibri" pitchFamily="34" charset="-122"/>
                <a:cs typeface="Calibri" pitchFamily="34" charset="-120"/>
              </a:rPr>
              <a:t>Del micrófono al espectro, implementado por el equipo</a:t>
            </a:r>
            <a:endParaRPr lang="en-US" sz="1400" dirty="0"/>
          </a:p>
        </p:txBody>
      </p:sp>
      <p:sp>
        <p:nvSpPr>
          <p:cNvPr id="4" name="Shape 2"/>
          <p:cNvSpPr/>
          <p:nvPr/>
        </p:nvSpPr>
        <p:spPr>
          <a:xfrm>
            <a:off x="640080" y="1691640"/>
            <a:ext cx="2011680" cy="1965960"/>
          </a:xfrm>
          <a:prstGeom prst="roundRect">
            <a:avLst>
              <a:gd name="adj" fmla="val 2791"/>
            </a:avLst>
          </a:prstGeom>
          <a:solidFill>
            <a:srgbClr val="F1F5F9"/>
          </a:solidFill>
          <a:ln/>
        </p:spPr>
      </p:sp>
      <p:sp>
        <p:nvSpPr>
          <p:cNvPr id="5" name="Text 3"/>
          <p:cNvSpPr/>
          <p:nvPr/>
        </p:nvSpPr>
        <p:spPr>
          <a:xfrm>
            <a:off x="822960" y="1874520"/>
            <a:ext cx="1691640" cy="365760"/>
          </a:xfrm>
          <a:prstGeom prst="rect">
            <a:avLst/>
          </a:prstGeom>
          <a:noFill/>
          <a:ln/>
        </p:spPr>
        <p:txBody>
          <a:bodyPr wrap="square" lIns="0" tIns="0" rIns="0" bIns="0" rtlCol="0" anchor="ctr"/>
          <a:lstStyle/>
          <a:p>
            <a:pPr indent="0" marL="0">
              <a:buNone/>
            </a:pPr>
            <a:r>
              <a:rPr lang="en-US" sz="1500" b="1" dirty="0">
                <a:solidFill>
                  <a:srgbClr val="065A82"/>
                </a:solidFill>
                <a:latin typeface="Cambria" pitchFamily="34" charset="0"/>
                <a:ea typeface="Cambria" pitchFamily="34" charset="-122"/>
                <a:cs typeface="Cambria" pitchFamily="34" charset="-120"/>
              </a:rPr>
              <a:t>48 000 Hz</a:t>
            </a:r>
            <a:endParaRPr lang="en-US" sz="1500" dirty="0"/>
          </a:p>
        </p:txBody>
      </p:sp>
      <p:sp>
        <p:nvSpPr>
          <p:cNvPr id="6" name="Text 4"/>
          <p:cNvSpPr/>
          <p:nvPr/>
        </p:nvSpPr>
        <p:spPr>
          <a:xfrm>
            <a:off x="822960" y="2286000"/>
            <a:ext cx="1691640" cy="11887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El micrófono no negocia:</a:t>
            </a:r>
            <a:endParaRPr lang="en-US" sz="1050" dirty="0"/>
          </a:p>
          <a:p>
            <a:pPr indent="0" marL="0">
              <a:buNone/>
            </a:pPr>
            <a:r>
              <a:rPr lang="en-US" sz="1050" dirty="0">
                <a:solidFill>
                  <a:srgbClr val="64748B"/>
                </a:solidFill>
                <a:latin typeface="Calibri" pitchFamily="34" charset="0"/>
                <a:ea typeface="Calibri" pitchFamily="34" charset="-122"/>
                <a:cs typeface="Calibri" pitchFamily="34" charset="-120"/>
              </a:rPr>
              <a:t>getCapabilities devuelve</a:t>
            </a:r>
            <a:endParaRPr lang="en-US" sz="1050" dirty="0"/>
          </a:p>
          <a:p>
            <a:pPr indent="0" marL="0">
              <a:buNone/>
            </a:pPr>
            <a:r>
              <a:rPr lang="en-US" sz="1050" dirty="0">
                <a:solidFill>
                  <a:srgbClr val="64748B"/>
                </a:solidFill>
                <a:latin typeface="Calibri" pitchFamily="34" charset="0"/>
                <a:ea typeface="Calibri" pitchFamily="34" charset="-122"/>
                <a:cs typeface="Calibri" pitchFamily="34" charset="-120"/>
              </a:rPr>
              <a:t>un valor único</a:t>
            </a:r>
            <a:endParaRPr lang="en-US" sz="1050" dirty="0"/>
          </a:p>
        </p:txBody>
      </p:sp>
      <p:sp>
        <p:nvSpPr>
          <p:cNvPr id="7" name="Text 5"/>
          <p:cNvSpPr/>
          <p:nvPr/>
        </p:nvSpPr>
        <p:spPr>
          <a:xfrm>
            <a:off x="2651760" y="2514600"/>
            <a:ext cx="219456" cy="320040"/>
          </a:xfrm>
          <a:prstGeom prst="rect">
            <a:avLst/>
          </a:prstGeom>
          <a:noFill/>
          <a:ln/>
        </p:spPr>
        <p:txBody>
          <a:bodyPr wrap="square" lIns="0" tIns="0" rIns="0" bIns="0" rtlCol="0" anchor="ctr"/>
          <a:lstStyle/>
          <a:p>
            <a:pPr algn="ctr" indent="0" marL="0">
              <a:buNone/>
            </a:pPr>
            <a:r>
              <a:rPr lang="en-US" sz="1600" dirty="0">
                <a:solidFill>
                  <a:srgbClr val="1C7293"/>
                </a:solidFill>
                <a:latin typeface="Calibri" pitchFamily="34" charset="0"/>
                <a:ea typeface="Calibri" pitchFamily="34" charset="-122"/>
                <a:cs typeface="Calibri" pitchFamily="34" charset="-120"/>
              </a:rPr>
              <a:t>&gt;</a:t>
            </a:r>
            <a:endParaRPr lang="en-US" sz="1600" dirty="0"/>
          </a:p>
        </p:txBody>
      </p:sp>
      <p:sp>
        <p:nvSpPr>
          <p:cNvPr id="8" name="Shape 6"/>
          <p:cNvSpPr/>
          <p:nvPr/>
        </p:nvSpPr>
        <p:spPr>
          <a:xfrm>
            <a:off x="2871216" y="1691640"/>
            <a:ext cx="2011680" cy="1965960"/>
          </a:xfrm>
          <a:prstGeom prst="roundRect">
            <a:avLst>
              <a:gd name="adj" fmla="val 2791"/>
            </a:avLst>
          </a:prstGeom>
          <a:solidFill>
            <a:srgbClr val="E8F1F5"/>
          </a:solidFill>
          <a:ln/>
        </p:spPr>
      </p:sp>
      <p:sp>
        <p:nvSpPr>
          <p:cNvPr id="9" name="Text 7"/>
          <p:cNvSpPr/>
          <p:nvPr/>
        </p:nvSpPr>
        <p:spPr>
          <a:xfrm>
            <a:off x="3054096" y="1874520"/>
            <a:ext cx="1691640" cy="365760"/>
          </a:xfrm>
          <a:prstGeom prst="rect">
            <a:avLst/>
          </a:prstGeom>
          <a:noFill/>
          <a:ln/>
        </p:spPr>
        <p:txBody>
          <a:bodyPr wrap="square" lIns="0" tIns="0" rIns="0" bIns="0" rtlCol="0" anchor="ctr"/>
          <a:lstStyle/>
          <a:p>
            <a:pPr indent="0" marL="0">
              <a:buNone/>
            </a:pPr>
            <a:r>
              <a:rPr lang="en-US" sz="1500" b="1" dirty="0">
                <a:solidFill>
                  <a:srgbClr val="065A82"/>
                </a:solidFill>
                <a:latin typeface="Cambria" pitchFamily="34" charset="0"/>
                <a:ea typeface="Cambria" pitchFamily="34" charset="-122"/>
                <a:cs typeface="Cambria" pitchFamily="34" charset="-120"/>
              </a:rPr>
              <a:t>Filtro FIR</a:t>
            </a:r>
            <a:endParaRPr lang="en-US" sz="1500" dirty="0"/>
          </a:p>
        </p:txBody>
      </p:sp>
      <p:sp>
        <p:nvSpPr>
          <p:cNvPr id="10" name="Text 8"/>
          <p:cNvSpPr/>
          <p:nvPr/>
        </p:nvSpPr>
        <p:spPr>
          <a:xfrm>
            <a:off x="3054096" y="2286000"/>
            <a:ext cx="1691640" cy="11887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Anti-aliasing con corte</a:t>
            </a:r>
            <a:endParaRPr lang="en-US" sz="1050" dirty="0"/>
          </a:p>
          <a:p>
            <a:pPr indent="0" marL="0">
              <a:buNone/>
            </a:pPr>
            <a:r>
              <a:rPr lang="en-US" sz="1050" dirty="0">
                <a:solidFill>
                  <a:srgbClr val="64748B"/>
                </a:solidFill>
                <a:latin typeface="Calibri" pitchFamily="34" charset="0"/>
                <a:ea typeface="Calibri" pitchFamily="34" charset="-122"/>
                <a:cs typeface="Calibri" pitchFamily="34" charset="-120"/>
              </a:rPr>
              <a:t>en 7 200 Hz, el 90 %</a:t>
            </a:r>
            <a:endParaRPr lang="en-US" sz="1050" dirty="0"/>
          </a:p>
          <a:p>
            <a:pPr indent="0" marL="0">
              <a:buNone/>
            </a:pPr>
            <a:r>
              <a:rPr lang="en-US" sz="1050" dirty="0">
                <a:solidFill>
                  <a:srgbClr val="64748B"/>
                </a:solidFill>
                <a:latin typeface="Calibri" pitchFamily="34" charset="0"/>
                <a:ea typeface="Calibri" pitchFamily="34" charset="-122"/>
                <a:cs typeface="Calibri" pitchFamily="34" charset="-120"/>
              </a:rPr>
              <a:t>del Nyquist destino</a:t>
            </a:r>
            <a:endParaRPr lang="en-US" sz="1050" dirty="0"/>
          </a:p>
        </p:txBody>
      </p:sp>
      <p:sp>
        <p:nvSpPr>
          <p:cNvPr id="11" name="Text 9"/>
          <p:cNvSpPr/>
          <p:nvPr/>
        </p:nvSpPr>
        <p:spPr>
          <a:xfrm>
            <a:off x="4882896" y="2514600"/>
            <a:ext cx="219456" cy="320040"/>
          </a:xfrm>
          <a:prstGeom prst="rect">
            <a:avLst/>
          </a:prstGeom>
          <a:noFill/>
          <a:ln/>
        </p:spPr>
        <p:txBody>
          <a:bodyPr wrap="square" lIns="0" tIns="0" rIns="0" bIns="0" rtlCol="0" anchor="ctr"/>
          <a:lstStyle/>
          <a:p>
            <a:pPr algn="ctr" indent="0" marL="0">
              <a:buNone/>
            </a:pPr>
            <a:r>
              <a:rPr lang="en-US" sz="1600" dirty="0">
                <a:solidFill>
                  <a:srgbClr val="1C7293"/>
                </a:solidFill>
                <a:latin typeface="Calibri" pitchFamily="34" charset="0"/>
                <a:ea typeface="Calibri" pitchFamily="34" charset="-122"/>
                <a:cs typeface="Calibri" pitchFamily="34" charset="-120"/>
              </a:rPr>
              <a:t>&gt;</a:t>
            </a:r>
            <a:endParaRPr lang="en-US" sz="1600" dirty="0"/>
          </a:p>
        </p:txBody>
      </p:sp>
      <p:sp>
        <p:nvSpPr>
          <p:cNvPr id="12" name="Shape 10"/>
          <p:cNvSpPr/>
          <p:nvPr/>
        </p:nvSpPr>
        <p:spPr>
          <a:xfrm>
            <a:off x="5102352" y="1691640"/>
            <a:ext cx="2011680" cy="1965960"/>
          </a:xfrm>
          <a:prstGeom prst="roundRect">
            <a:avLst>
              <a:gd name="adj" fmla="val 2791"/>
            </a:avLst>
          </a:prstGeom>
          <a:solidFill>
            <a:srgbClr val="E8F1F5"/>
          </a:solidFill>
          <a:ln/>
        </p:spPr>
      </p:sp>
      <p:sp>
        <p:nvSpPr>
          <p:cNvPr id="13" name="Text 11"/>
          <p:cNvSpPr/>
          <p:nvPr/>
        </p:nvSpPr>
        <p:spPr>
          <a:xfrm>
            <a:off x="5285232" y="1874520"/>
            <a:ext cx="1691640" cy="365760"/>
          </a:xfrm>
          <a:prstGeom prst="rect">
            <a:avLst/>
          </a:prstGeom>
          <a:noFill/>
          <a:ln/>
        </p:spPr>
        <p:txBody>
          <a:bodyPr wrap="square" lIns="0" tIns="0" rIns="0" bIns="0" rtlCol="0" anchor="ctr"/>
          <a:lstStyle/>
          <a:p>
            <a:pPr indent="0" marL="0">
              <a:buNone/>
            </a:pPr>
            <a:r>
              <a:rPr lang="en-US" sz="1500" b="1" dirty="0">
                <a:solidFill>
                  <a:srgbClr val="065A82"/>
                </a:solidFill>
                <a:latin typeface="Cambria" pitchFamily="34" charset="0"/>
                <a:ea typeface="Cambria" pitchFamily="34" charset="-122"/>
                <a:cs typeface="Cambria" pitchFamily="34" charset="-120"/>
              </a:rPr>
              <a:t>Decimación x3</a:t>
            </a:r>
            <a:endParaRPr lang="en-US" sz="1500" dirty="0"/>
          </a:p>
        </p:txBody>
      </p:sp>
      <p:sp>
        <p:nvSpPr>
          <p:cNvPr id="14" name="Text 12"/>
          <p:cNvSpPr/>
          <p:nvPr/>
        </p:nvSpPr>
        <p:spPr>
          <a:xfrm>
            <a:off x="5285232" y="2286000"/>
            <a:ext cx="1691640" cy="11887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Relación entera:</a:t>
            </a:r>
            <a:endParaRPr lang="en-US" sz="1050" dirty="0"/>
          </a:p>
          <a:p>
            <a:pPr indent="0" marL="0">
              <a:buNone/>
            </a:pPr>
            <a:r>
              <a:rPr lang="en-US" sz="1050" dirty="0">
                <a:solidFill>
                  <a:srgbClr val="64748B"/>
                </a:solidFill>
                <a:latin typeface="Calibri" pitchFamily="34" charset="0"/>
                <a:ea typeface="Calibri" pitchFamily="34" charset="-122"/>
                <a:cs typeface="Calibri" pitchFamily="34" charset="-120"/>
              </a:rPr>
              <a:t>se conserva una</a:t>
            </a:r>
            <a:endParaRPr lang="en-US" sz="1050" dirty="0"/>
          </a:p>
          <a:p>
            <a:pPr indent="0" marL="0">
              <a:buNone/>
            </a:pPr>
            <a:r>
              <a:rPr lang="en-US" sz="1050" dirty="0">
                <a:solidFill>
                  <a:srgbClr val="64748B"/>
                </a:solidFill>
                <a:latin typeface="Calibri" pitchFamily="34" charset="0"/>
                <a:ea typeface="Calibri" pitchFamily="34" charset="-122"/>
                <a:cs typeface="Calibri" pitchFamily="34" charset="-120"/>
              </a:rPr>
              <a:t>de cada tres muestras</a:t>
            </a:r>
            <a:endParaRPr lang="en-US" sz="1050" dirty="0"/>
          </a:p>
        </p:txBody>
      </p:sp>
      <p:sp>
        <p:nvSpPr>
          <p:cNvPr id="15" name="Text 13"/>
          <p:cNvSpPr/>
          <p:nvPr/>
        </p:nvSpPr>
        <p:spPr>
          <a:xfrm>
            <a:off x="7114032" y="2514600"/>
            <a:ext cx="219456" cy="320040"/>
          </a:xfrm>
          <a:prstGeom prst="rect">
            <a:avLst/>
          </a:prstGeom>
          <a:noFill/>
          <a:ln/>
        </p:spPr>
        <p:txBody>
          <a:bodyPr wrap="square" lIns="0" tIns="0" rIns="0" bIns="0" rtlCol="0" anchor="ctr"/>
          <a:lstStyle/>
          <a:p>
            <a:pPr algn="ctr" indent="0" marL="0">
              <a:buNone/>
            </a:pPr>
            <a:r>
              <a:rPr lang="en-US" sz="1600" dirty="0">
                <a:solidFill>
                  <a:srgbClr val="1C7293"/>
                </a:solidFill>
                <a:latin typeface="Calibri" pitchFamily="34" charset="0"/>
                <a:ea typeface="Calibri" pitchFamily="34" charset="-122"/>
                <a:cs typeface="Calibri" pitchFamily="34" charset="-120"/>
              </a:rPr>
              <a:t>&gt;</a:t>
            </a:r>
            <a:endParaRPr lang="en-US" sz="1600" dirty="0"/>
          </a:p>
        </p:txBody>
      </p:sp>
      <p:sp>
        <p:nvSpPr>
          <p:cNvPr id="16" name="Shape 14"/>
          <p:cNvSpPr/>
          <p:nvPr/>
        </p:nvSpPr>
        <p:spPr>
          <a:xfrm>
            <a:off x="7333488" y="1691640"/>
            <a:ext cx="2011680" cy="1965960"/>
          </a:xfrm>
          <a:prstGeom prst="roundRect">
            <a:avLst>
              <a:gd name="adj" fmla="val 2791"/>
            </a:avLst>
          </a:prstGeom>
          <a:solidFill>
            <a:srgbClr val="E8F1F5"/>
          </a:solidFill>
          <a:ln/>
        </p:spPr>
      </p:sp>
      <p:sp>
        <p:nvSpPr>
          <p:cNvPr id="17" name="Text 15"/>
          <p:cNvSpPr/>
          <p:nvPr/>
        </p:nvSpPr>
        <p:spPr>
          <a:xfrm>
            <a:off x="7516368" y="1874520"/>
            <a:ext cx="1691640" cy="365760"/>
          </a:xfrm>
          <a:prstGeom prst="rect">
            <a:avLst/>
          </a:prstGeom>
          <a:noFill/>
          <a:ln/>
        </p:spPr>
        <p:txBody>
          <a:bodyPr wrap="square" lIns="0" tIns="0" rIns="0" bIns="0" rtlCol="0" anchor="ctr"/>
          <a:lstStyle/>
          <a:p>
            <a:pPr indent="0" marL="0">
              <a:buNone/>
            </a:pPr>
            <a:r>
              <a:rPr lang="en-US" sz="1500" b="1" dirty="0">
                <a:solidFill>
                  <a:srgbClr val="065A82"/>
                </a:solidFill>
                <a:latin typeface="Cambria" pitchFamily="34" charset="0"/>
                <a:ea typeface="Cambria" pitchFamily="34" charset="-122"/>
                <a:cs typeface="Cambria" pitchFamily="34" charset="-120"/>
              </a:rPr>
              <a:t>Pasa-banda</a:t>
            </a:r>
            <a:endParaRPr lang="en-US" sz="1500" dirty="0"/>
          </a:p>
        </p:txBody>
      </p:sp>
      <p:sp>
        <p:nvSpPr>
          <p:cNvPr id="18" name="Text 16"/>
          <p:cNvSpPr/>
          <p:nvPr/>
        </p:nvSpPr>
        <p:spPr>
          <a:xfrm>
            <a:off x="7516368" y="2286000"/>
            <a:ext cx="1691640" cy="11887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Biquads Butterworth</a:t>
            </a:r>
            <a:endParaRPr lang="en-US" sz="1050" dirty="0"/>
          </a:p>
          <a:p>
            <a:pPr indent="0" marL="0">
              <a:buNone/>
            </a:pPr>
            <a:r>
              <a:rPr lang="en-US" sz="1050" dirty="0">
                <a:solidFill>
                  <a:srgbClr val="64748B"/>
                </a:solidFill>
                <a:latin typeface="Calibri" pitchFamily="34" charset="0"/>
                <a:ea typeface="Calibri" pitchFamily="34" charset="-122"/>
                <a:cs typeface="Calibri" pitchFamily="34" charset="-120"/>
              </a:rPr>
              <a:t>de 80 a 8 000 Hz</a:t>
            </a:r>
            <a:endParaRPr lang="en-US" sz="1050" dirty="0"/>
          </a:p>
          <a:p>
            <a:pPr indent="0" marL="0">
              <a:buNone/>
            </a:pPr>
            <a:r>
              <a:rPr lang="en-US" sz="1050" dirty="0">
                <a:solidFill>
                  <a:srgbClr val="64748B"/>
                </a:solidFill>
                <a:latin typeface="Calibri" pitchFamily="34" charset="0"/>
                <a:ea typeface="Calibri" pitchFamily="34" charset="-122"/>
                <a:cs typeface="Calibri" pitchFamily="34" charset="-120"/>
              </a:rPr>
              <a:t>mas normalización RMS</a:t>
            </a:r>
            <a:endParaRPr lang="en-US" sz="1050" dirty="0"/>
          </a:p>
        </p:txBody>
      </p:sp>
      <p:sp>
        <p:nvSpPr>
          <p:cNvPr id="19" name="Text 17"/>
          <p:cNvSpPr/>
          <p:nvPr/>
        </p:nvSpPr>
        <p:spPr>
          <a:xfrm>
            <a:off x="9345168" y="2514600"/>
            <a:ext cx="219456" cy="320040"/>
          </a:xfrm>
          <a:prstGeom prst="rect">
            <a:avLst/>
          </a:prstGeom>
          <a:noFill/>
          <a:ln/>
        </p:spPr>
        <p:txBody>
          <a:bodyPr wrap="square" lIns="0" tIns="0" rIns="0" bIns="0" rtlCol="0" anchor="ctr"/>
          <a:lstStyle/>
          <a:p>
            <a:pPr algn="ctr" indent="0" marL="0">
              <a:buNone/>
            </a:pPr>
            <a:r>
              <a:rPr lang="en-US" sz="1600" dirty="0">
                <a:solidFill>
                  <a:srgbClr val="1C7293"/>
                </a:solidFill>
                <a:latin typeface="Calibri" pitchFamily="34" charset="0"/>
                <a:ea typeface="Calibri" pitchFamily="34" charset="-122"/>
                <a:cs typeface="Calibri" pitchFamily="34" charset="-120"/>
              </a:rPr>
              <a:t>&gt;</a:t>
            </a:r>
            <a:endParaRPr lang="en-US" sz="1600" dirty="0"/>
          </a:p>
        </p:txBody>
      </p:sp>
      <p:sp>
        <p:nvSpPr>
          <p:cNvPr id="20" name="Shape 18"/>
          <p:cNvSpPr/>
          <p:nvPr/>
        </p:nvSpPr>
        <p:spPr>
          <a:xfrm>
            <a:off x="9564624" y="1691640"/>
            <a:ext cx="2011680" cy="1965960"/>
          </a:xfrm>
          <a:prstGeom prst="roundRect">
            <a:avLst>
              <a:gd name="adj" fmla="val 2791"/>
            </a:avLst>
          </a:prstGeom>
          <a:solidFill>
            <a:srgbClr val="E8F1F5"/>
          </a:solidFill>
          <a:ln/>
        </p:spPr>
      </p:sp>
      <p:sp>
        <p:nvSpPr>
          <p:cNvPr id="21" name="Text 19"/>
          <p:cNvSpPr/>
          <p:nvPr/>
        </p:nvSpPr>
        <p:spPr>
          <a:xfrm>
            <a:off x="9747504" y="1874520"/>
            <a:ext cx="1691640" cy="365760"/>
          </a:xfrm>
          <a:prstGeom prst="rect">
            <a:avLst/>
          </a:prstGeom>
          <a:noFill/>
          <a:ln/>
        </p:spPr>
        <p:txBody>
          <a:bodyPr wrap="square" lIns="0" tIns="0" rIns="0" bIns="0" rtlCol="0" anchor="ctr"/>
          <a:lstStyle/>
          <a:p>
            <a:pPr indent="0" marL="0">
              <a:buNone/>
            </a:pPr>
            <a:r>
              <a:rPr lang="en-US" sz="1500" b="1" dirty="0">
                <a:solidFill>
                  <a:srgbClr val="065A82"/>
                </a:solidFill>
                <a:latin typeface="Cambria" pitchFamily="34" charset="0"/>
                <a:ea typeface="Cambria" pitchFamily="34" charset="-122"/>
                <a:cs typeface="Cambria" pitchFamily="34" charset="-120"/>
              </a:rPr>
              <a:t>FFT radix-2</a:t>
            </a:r>
            <a:endParaRPr lang="en-US" sz="1500" dirty="0"/>
          </a:p>
        </p:txBody>
      </p:sp>
      <p:sp>
        <p:nvSpPr>
          <p:cNvPr id="22" name="Text 20"/>
          <p:cNvSpPr/>
          <p:nvPr/>
        </p:nvSpPr>
        <p:spPr>
          <a:xfrm>
            <a:off x="9747504" y="2286000"/>
            <a:ext cx="1691640" cy="11887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Ventana de Hann</a:t>
            </a:r>
            <a:endParaRPr lang="en-US" sz="1050" dirty="0"/>
          </a:p>
          <a:p>
            <a:pPr indent="0" marL="0">
              <a:buNone/>
            </a:pPr>
            <a:r>
              <a:rPr lang="en-US" sz="1050" dirty="0">
                <a:solidFill>
                  <a:srgbClr val="64748B"/>
                </a:solidFill>
                <a:latin typeface="Calibri" pitchFamily="34" charset="0"/>
                <a:ea typeface="Calibri" pitchFamily="34" charset="-122"/>
                <a:cs typeface="Calibri" pitchFamily="34" charset="-120"/>
              </a:rPr>
              <a:t>y espectro propio,</a:t>
            </a:r>
            <a:endParaRPr lang="en-US" sz="1050" dirty="0"/>
          </a:p>
          <a:p>
            <a:pPr indent="0" marL="0">
              <a:buNone/>
            </a:pPr>
            <a:r>
              <a:rPr lang="en-US" sz="1050" dirty="0">
                <a:solidFill>
                  <a:srgbClr val="64748B"/>
                </a:solidFill>
                <a:latin typeface="Calibri" pitchFamily="34" charset="0"/>
                <a:ea typeface="Calibri" pitchFamily="34" charset="-122"/>
                <a:cs typeface="Calibri" pitchFamily="34" charset="-120"/>
              </a:rPr>
              <a:t>sin bibliotecas externas</a:t>
            </a:r>
            <a:endParaRPr lang="en-US" sz="1050" dirty="0"/>
          </a:p>
        </p:txBody>
      </p:sp>
      <p:sp>
        <p:nvSpPr>
          <p:cNvPr id="23" name="Shape 21"/>
          <p:cNvSpPr/>
          <p:nvPr/>
        </p:nvSpPr>
        <p:spPr>
          <a:xfrm>
            <a:off x="640080" y="3931920"/>
            <a:ext cx="10881360" cy="2057400"/>
          </a:xfrm>
          <a:prstGeom prst="roundRect">
            <a:avLst>
              <a:gd name="adj" fmla="val 2667"/>
            </a:avLst>
          </a:prstGeom>
          <a:solidFill>
            <a:srgbClr val="21295C"/>
          </a:solidFill>
          <a:ln/>
        </p:spPr>
      </p:sp>
      <p:sp>
        <p:nvSpPr>
          <p:cNvPr id="24" name="Text 22"/>
          <p:cNvSpPr/>
          <p:nvPr/>
        </p:nvSpPr>
        <p:spPr>
          <a:xfrm>
            <a:off x="960120" y="4160520"/>
            <a:ext cx="6035040" cy="365760"/>
          </a:xfrm>
          <a:prstGeom prst="rect">
            <a:avLst/>
          </a:prstGeom>
          <a:noFill/>
          <a:ln/>
        </p:spPr>
        <p:txBody>
          <a:bodyPr wrap="square" lIns="0" tIns="0" rIns="0" bIns="0" rtlCol="0" anchor="ctr"/>
          <a:lstStyle/>
          <a:p>
            <a:pPr indent="0" marL="0">
              <a:buNone/>
            </a:pPr>
            <a:r>
              <a:rPr lang="en-US" sz="1800" b="1" dirty="0">
                <a:solidFill>
                  <a:srgbClr val="02C39A"/>
                </a:solidFill>
                <a:latin typeface="Cambria" pitchFamily="34" charset="0"/>
                <a:ea typeface="Cambria" pitchFamily="34" charset="-122"/>
                <a:cs typeface="Cambria" pitchFamily="34" charset="-120"/>
              </a:rPr>
              <a:t>Por qué no dejamos que el navegador remuestree</a:t>
            </a:r>
            <a:endParaRPr lang="en-US" sz="1800" dirty="0"/>
          </a:p>
        </p:txBody>
      </p:sp>
      <p:sp>
        <p:nvSpPr>
          <p:cNvPr id="25" name="Text 23"/>
          <p:cNvSpPr/>
          <p:nvPr/>
        </p:nvSpPr>
        <p:spPr>
          <a:xfrm>
            <a:off x="960120" y="4572000"/>
            <a:ext cx="6492240" cy="1188720"/>
          </a:xfrm>
          <a:prstGeom prst="rect">
            <a:avLst/>
          </a:prstGeom>
          <a:noFill/>
          <a:ln/>
        </p:spPr>
        <p:txBody>
          <a:bodyPr wrap="square" lIns="0" tIns="0" rIns="0" bIns="0" rtlCol="0" anchor="ctr"/>
          <a:lstStyle/>
          <a:p>
            <a:pPr indent="0" marL="0">
              <a:buNone/>
            </a:pPr>
            <a:r>
              <a:rPr lang="en-US" sz="1250" dirty="0">
                <a:solidFill>
                  <a:srgbClr val="C7D2E8"/>
                </a:solidFill>
                <a:latin typeface="Calibri" pitchFamily="34" charset="0"/>
                <a:ea typeface="Calibri" pitchFamily="34" charset="-122"/>
                <a:cs typeface="Calibri" pitchFamily="34" charset="-120"/>
              </a:rPr>
              <a:t>El navegador acepta que le pidan 16 kHz y convierte por su cuenta, pero no documenta su filtro. Ese filtro es exactamente el contenido del curso que el proyecto debe evidenciar. Además, Safari ignora el parametro históricamente, así que la decimación explícita hace falta igual para que la aplicación sea portable.</a:t>
            </a:r>
            <a:endParaRPr lang="en-US" sz="1250" dirty="0"/>
          </a:p>
        </p:txBody>
      </p:sp>
      <p:sp>
        <p:nvSpPr>
          <p:cNvPr id="26" name="Shape 24"/>
          <p:cNvSpPr/>
          <p:nvPr/>
        </p:nvSpPr>
        <p:spPr>
          <a:xfrm>
            <a:off x="7909560" y="4910328"/>
            <a:ext cx="42358" cy="54864"/>
          </a:xfrm>
          <a:prstGeom prst="roundRect">
            <a:avLst>
              <a:gd name="adj" fmla="val 863497"/>
            </a:avLst>
          </a:prstGeom>
          <a:solidFill>
            <a:srgbClr val="1C7293"/>
          </a:solidFill>
          <a:ln/>
        </p:spPr>
      </p:sp>
      <p:sp>
        <p:nvSpPr>
          <p:cNvPr id="27" name="Shape 25"/>
          <p:cNvSpPr/>
          <p:nvPr/>
        </p:nvSpPr>
        <p:spPr>
          <a:xfrm>
            <a:off x="8003689" y="4881341"/>
            <a:ext cx="42358" cy="112839"/>
          </a:xfrm>
          <a:prstGeom prst="roundRect">
            <a:avLst>
              <a:gd name="adj" fmla="val 863497"/>
            </a:avLst>
          </a:prstGeom>
          <a:solidFill>
            <a:srgbClr val="1C7293"/>
          </a:solidFill>
          <a:ln/>
        </p:spPr>
      </p:sp>
      <p:sp>
        <p:nvSpPr>
          <p:cNvPr id="28" name="Shape 26"/>
          <p:cNvSpPr/>
          <p:nvPr/>
        </p:nvSpPr>
        <p:spPr>
          <a:xfrm>
            <a:off x="8097819" y="4831588"/>
            <a:ext cx="42358" cy="212345"/>
          </a:xfrm>
          <a:prstGeom prst="roundRect">
            <a:avLst>
              <a:gd name="adj" fmla="val 863497"/>
            </a:avLst>
          </a:prstGeom>
          <a:solidFill>
            <a:srgbClr val="1C7293"/>
          </a:solidFill>
          <a:ln/>
        </p:spPr>
      </p:sp>
      <p:sp>
        <p:nvSpPr>
          <p:cNvPr id="29" name="Shape 27"/>
          <p:cNvSpPr/>
          <p:nvPr/>
        </p:nvSpPr>
        <p:spPr>
          <a:xfrm>
            <a:off x="8191948" y="4778227"/>
            <a:ext cx="42358" cy="319066"/>
          </a:xfrm>
          <a:prstGeom prst="roundRect">
            <a:avLst>
              <a:gd name="adj" fmla="val 863497"/>
            </a:avLst>
          </a:prstGeom>
          <a:solidFill>
            <a:srgbClr val="1C7293"/>
          </a:solidFill>
          <a:ln/>
        </p:spPr>
      </p:sp>
      <p:sp>
        <p:nvSpPr>
          <p:cNvPr id="30" name="Shape 28"/>
          <p:cNvSpPr/>
          <p:nvPr/>
        </p:nvSpPr>
        <p:spPr>
          <a:xfrm>
            <a:off x="8286078" y="4723259"/>
            <a:ext cx="42358" cy="429002"/>
          </a:xfrm>
          <a:prstGeom prst="roundRect">
            <a:avLst>
              <a:gd name="adj" fmla="val 863497"/>
            </a:avLst>
          </a:prstGeom>
          <a:solidFill>
            <a:srgbClr val="1C7293"/>
          </a:solidFill>
          <a:ln/>
        </p:spPr>
      </p:sp>
      <p:sp>
        <p:nvSpPr>
          <p:cNvPr id="31" name="Shape 29"/>
          <p:cNvSpPr/>
          <p:nvPr/>
        </p:nvSpPr>
        <p:spPr>
          <a:xfrm>
            <a:off x="8380207" y="4669416"/>
            <a:ext cx="42358" cy="536689"/>
          </a:xfrm>
          <a:prstGeom prst="roundRect">
            <a:avLst>
              <a:gd name="adj" fmla="val 863497"/>
            </a:avLst>
          </a:prstGeom>
          <a:solidFill>
            <a:srgbClr val="1C7293"/>
          </a:solidFill>
          <a:ln/>
        </p:spPr>
      </p:sp>
      <p:sp>
        <p:nvSpPr>
          <p:cNvPr id="32" name="Shape 30"/>
          <p:cNvSpPr/>
          <p:nvPr/>
        </p:nvSpPr>
        <p:spPr>
          <a:xfrm>
            <a:off x="8474336" y="4619549"/>
            <a:ext cx="42358" cy="636423"/>
          </a:xfrm>
          <a:prstGeom prst="roundRect">
            <a:avLst>
              <a:gd name="adj" fmla="val 863497"/>
            </a:avLst>
          </a:prstGeom>
          <a:solidFill>
            <a:srgbClr val="1C7293"/>
          </a:solidFill>
          <a:ln/>
        </p:spPr>
      </p:sp>
      <p:sp>
        <p:nvSpPr>
          <p:cNvPr id="33" name="Shape 31"/>
          <p:cNvSpPr/>
          <p:nvPr/>
        </p:nvSpPr>
        <p:spPr>
          <a:xfrm>
            <a:off x="8568466" y="4576373"/>
            <a:ext cx="42358" cy="722775"/>
          </a:xfrm>
          <a:prstGeom prst="roundRect">
            <a:avLst>
              <a:gd name="adj" fmla="val 863497"/>
            </a:avLst>
          </a:prstGeom>
          <a:solidFill>
            <a:srgbClr val="1C7293"/>
          </a:solidFill>
          <a:ln/>
        </p:spPr>
      </p:sp>
      <p:sp>
        <p:nvSpPr>
          <p:cNvPr id="34" name="Shape 32"/>
          <p:cNvSpPr/>
          <p:nvPr/>
        </p:nvSpPr>
        <p:spPr>
          <a:xfrm>
            <a:off x="8662595" y="4542285"/>
            <a:ext cx="42358" cy="790951"/>
          </a:xfrm>
          <a:prstGeom prst="roundRect">
            <a:avLst>
              <a:gd name="adj" fmla="val 863497"/>
            </a:avLst>
          </a:prstGeom>
          <a:solidFill>
            <a:srgbClr val="1C7293"/>
          </a:solidFill>
          <a:ln/>
        </p:spPr>
      </p:sp>
      <p:sp>
        <p:nvSpPr>
          <p:cNvPr id="35" name="Shape 33"/>
          <p:cNvSpPr/>
          <p:nvPr/>
        </p:nvSpPr>
        <p:spPr>
          <a:xfrm>
            <a:off x="8756725" y="4519219"/>
            <a:ext cx="42358" cy="837081"/>
          </a:xfrm>
          <a:prstGeom prst="roundRect">
            <a:avLst>
              <a:gd name="adj" fmla="val 863497"/>
            </a:avLst>
          </a:prstGeom>
          <a:solidFill>
            <a:srgbClr val="1C7293"/>
          </a:solidFill>
          <a:ln/>
        </p:spPr>
      </p:sp>
      <p:sp>
        <p:nvSpPr>
          <p:cNvPr id="36" name="Shape 34"/>
          <p:cNvSpPr/>
          <p:nvPr/>
        </p:nvSpPr>
        <p:spPr>
          <a:xfrm>
            <a:off x="8850854" y="4508536"/>
            <a:ext cx="42358" cy="858448"/>
          </a:xfrm>
          <a:prstGeom prst="roundRect">
            <a:avLst>
              <a:gd name="adj" fmla="val 863497"/>
            </a:avLst>
          </a:prstGeom>
          <a:solidFill>
            <a:srgbClr val="1C7293"/>
          </a:solidFill>
          <a:ln/>
        </p:spPr>
      </p:sp>
      <p:sp>
        <p:nvSpPr>
          <p:cNvPr id="37" name="Shape 35"/>
          <p:cNvSpPr/>
          <p:nvPr/>
        </p:nvSpPr>
        <p:spPr>
          <a:xfrm>
            <a:off x="8944984" y="4510939"/>
            <a:ext cx="42358" cy="853643"/>
          </a:xfrm>
          <a:prstGeom prst="roundRect">
            <a:avLst>
              <a:gd name="adj" fmla="val 863497"/>
            </a:avLst>
          </a:prstGeom>
          <a:solidFill>
            <a:srgbClr val="1C7293"/>
          </a:solidFill>
          <a:ln/>
        </p:spPr>
      </p:sp>
      <p:sp>
        <p:nvSpPr>
          <p:cNvPr id="38" name="Shape 36"/>
          <p:cNvSpPr/>
          <p:nvPr/>
        </p:nvSpPr>
        <p:spPr>
          <a:xfrm>
            <a:off x="9039113" y="4526439"/>
            <a:ext cx="42358" cy="822642"/>
          </a:xfrm>
          <a:prstGeom prst="roundRect">
            <a:avLst>
              <a:gd name="adj" fmla="val 863497"/>
            </a:avLst>
          </a:prstGeom>
          <a:solidFill>
            <a:srgbClr val="1C7293"/>
          </a:solidFill>
          <a:ln/>
        </p:spPr>
      </p:sp>
      <p:sp>
        <p:nvSpPr>
          <p:cNvPr id="39" name="Shape 37"/>
          <p:cNvSpPr/>
          <p:nvPr/>
        </p:nvSpPr>
        <p:spPr>
          <a:xfrm>
            <a:off x="9133242" y="4554353"/>
            <a:ext cx="42358" cy="766814"/>
          </a:xfrm>
          <a:prstGeom prst="roundRect">
            <a:avLst>
              <a:gd name="adj" fmla="val 863497"/>
            </a:avLst>
          </a:prstGeom>
          <a:solidFill>
            <a:srgbClr val="1C7293"/>
          </a:solidFill>
          <a:ln/>
        </p:spPr>
      </p:sp>
      <p:sp>
        <p:nvSpPr>
          <p:cNvPr id="40" name="Shape 38"/>
          <p:cNvSpPr/>
          <p:nvPr/>
        </p:nvSpPr>
        <p:spPr>
          <a:xfrm>
            <a:off x="9227372" y="4593341"/>
            <a:ext cx="42358" cy="688837"/>
          </a:xfrm>
          <a:prstGeom prst="roundRect">
            <a:avLst>
              <a:gd name="adj" fmla="val 863497"/>
            </a:avLst>
          </a:prstGeom>
          <a:solidFill>
            <a:srgbClr val="1C7293"/>
          </a:solidFill>
          <a:ln/>
        </p:spPr>
      </p:sp>
      <p:sp>
        <p:nvSpPr>
          <p:cNvPr id="41" name="Shape 39"/>
          <p:cNvSpPr/>
          <p:nvPr/>
        </p:nvSpPr>
        <p:spPr>
          <a:xfrm>
            <a:off x="9321501" y="4641486"/>
            <a:ext cx="42358" cy="592549"/>
          </a:xfrm>
          <a:prstGeom prst="roundRect">
            <a:avLst>
              <a:gd name="adj" fmla="val 863497"/>
            </a:avLst>
          </a:prstGeom>
          <a:solidFill>
            <a:srgbClr val="1C7293"/>
          </a:solidFill>
          <a:ln/>
        </p:spPr>
      </p:sp>
      <p:sp>
        <p:nvSpPr>
          <p:cNvPr id="42" name="Shape 40"/>
          <p:cNvSpPr/>
          <p:nvPr/>
        </p:nvSpPr>
        <p:spPr>
          <a:xfrm>
            <a:off x="9415631" y="4696398"/>
            <a:ext cx="42358" cy="482723"/>
          </a:xfrm>
          <a:prstGeom prst="roundRect">
            <a:avLst>
              <a:gd name="adj" fmla="val 863497"/>
            </a:avLst>
          </a:prstGeom>
          <a:solidFill>
            <a:srgbClr val="1C7293"/>
          </a:solidFill>
          <a:ln/>
        </p:spPr>
      </p:sp>
      <p:sp>
        <p:nvSpPr>
          <p:cNvPr id="43" name="Shape 41"/>
          <p:cNvSpPr/>
          <p:nvPr/>
        </p:nvSpPr>
        <p:spPr>
          <a:xfrm>
            <a:off x="9509760" y="4755358"/>
            <a:ext cx="42358" cy="364804"/>
          </a:xfrm>
          <a:prstGeom prst="roundRect">
            <a:avLst>
              <a:gd name="adj" fmla="val 863497"/>
            </a:avLst>
          </a:prstGeom>
          <a:solidFill>
            <a:srgbClr val="1C7293"/>
          </a:solidFill>
          <a:ln/>
        </p:spPr>
      </p:sp>
      <p:sp>
        <p:nvSpPr>
          <p:cNvPr id="44" name="Shape 42"/>
          <p:cNvSpPr/>
          <p:nvPr/>
        </p:nvSpPr>
        <p:spPr>
          <a:xfrm>
            <a:off x="9603889" y="4708911"/>
            <a:ext cx="42358" cy="457697"/>
          </a:xfrm>
          <a:prstGeom prst="roundRect">
            <a:avLst>
              <a:gd name="adj" fmla="val 863497"/>
            </a:avLst>
          </a:prstGeom>
          <a:solidFill>
            <a:srgbClr val="1C7293"/>
          </a:solidFill>
          <a:ln/>
        </p:spPr>
      </p:sp>
      <p:sp>
        <p:nvSpPr>
          <p:cNvPr id="45" name="Shape 43"/>
          <p:cNvSpPr/>
          <p:nvPr/>
        </p:nvSpPr>
        <p:spPr>
          <a:xfrm>
            <a:off x="9698019" y="4653272"/>
            <a:ext cx="42358" cy="568975"/>
          </a:xfrm>
          <a:prstGeom prst="roundRect">
            <a:avLst>
              <a:gd name="adj" fmla="val 863497"/>
            </a:avLst>
          </a:prstGeom>
          <a:solidFill>
            <a:srgbClr val="1C7293"/>
          </a:solidFill>
          <a:ln/>
        </p:spPr>
      </p:sp>
      <p:sp>
        <p:nvSpPr>
          <p:cNvPr id="46" name="Shape 44"/>
          <p:cNvSpPr/>
          <p:nvPr/>
        </p:nvSpPr>
        <p:spPr>
          <a:xfrm>
            <a:off x="9792148" y="4603962"/>
            <a:ext cx="42358" cy="667596"/>
          </a:xfrm>
          <a:prstGeom prst="roundRect">
            <a:avLst>
              <a:gd name="adj" fmla="val 863497"/>
            </a:avLst>
          </a:prstGeom>
          <a:solidFill>
            <a:srgbClr val="1C7293"/>
          </a:solidFill>
          <a:ln/>
        </p:spPr>
      </p:sp>
      <p:sp>
        <p:nvSpPr>
          <p:cNvPr id="47" name="Shape 45"/>
          <p:cNvSpPr/>
          <p:nvPr/>
        </p:nvSpPr>
        <p:spPr>
          <a:xfrm>
            <a:off x="9886278" y="4563433"/>
            <a:ext cx="42358" cy="748654"/>
          </a:xfrm>
          <a:prstGeom prst="roundRect">
            <a:avLst>
              <a:gd name="adj" fmla="val 863497"/>
            </a:avLst>
          </a:prstGeom>
          <a:solidFill>
            <a:srgbClr val="1C7293"/>
          </a:solidFill>
          <a:ln/>
        </p:spPr>
      </p:sp>
      <p:sp>
        <p:nvSpPr>
          <p:cNvPr id="48" name="Shape 46"/>
          <p:cNvSpPr/>
          <p:nvPr/>
        </p:nvSpPr>
        <p:spPr>
          <a:xfrm>
            <a:off x="9980407" y="4533689"/>
            <a:ext cx="42358" cy="808142"/>
          </a:xfrm>
          <a:prstGeom prst="roundRect">
            <a:avLst>
              <a:gd name="adj" fmla="val 863497"/>
            </a:avLst>
          </a:prstGeom>
          <a:solidFill>
            <a:srgbClr val="1C7293"/>
          </a:solidFill>
          <a:ln/>
        </p:spPr>
      </p:sp>
      <p:sp>
        <p:nvSpPr>
          <p:cNvPr id="49" name="Shape 47"/>
          <p:cNvSpPr/>
          <p:nvPr/>
        </p:nvSpPr>
        <p:spPr>
          <a:xfrm>
            <a:off x="10074536" y="4516170"/>
            <a:ext cx="42358" cy="843180"/>
          </a:xfrm>
          <a:prstGeom prst="roundRect">
            <a:avLst>
              <a:gd name="adj" fmla="val 863497"/>
            </a:avLst>
          </a:prstGeom>
          <a:solidFill>
            <a:srgbClr val="1C7293"/>
          </a:solidFill>
          <a:ln/>
        </p:spPr>
      </p:sp>
      <p:sp>
        <p:nvSpPr>
          <p:cNvPr id="50" name="Shape 48"/>
          <p:cNvSpPr/>
          <p:nvPr/>
        </p:nvSpPr>
        <p:spPr>
          <a:xfrm>
            <a:off x="10168666" y="4511672"/>
            <a:ext cx="42358" cy="852177"/>
          </a:xfrm>
          <a:prstGeom prst="roundRect">
            <a:avLst>
              <a:gd name="adj" fmla="val 863497"/>
            </a:avLst>
          </a:prstGeom>
          <a:solidFill>
            <a:srgbClr val="1C7293"/>
          </a:solidFill>
          <a:ln/>
        </p:spPr>
      </p:sp>
      <p:sp>
        <p:nvSpPr>
          <p:cNvPr id="51" name="Shape 49"/>
          <p:cNvSpPr/>
          <p:nvPr/>
        </p:nvSpPr>
        <p:spPr>
          <a:xfrm>
            <a:off x="10262795" y="4520299"/>
            <a:ext cx="42358" cy="834923"/>
          </a:xfrm>
          <a:prstGeom prst="roundRect">
            <a:avLst>
              <a:gd name="adj" fmla="val 863497"/>
            </a:avLst>
          </a:prstGeom>
          <a:solidFill>
            <a:srgbClr val="1C7293"/>
          </a:solidFill>
          <a:ln/>
        </p:spPr>
      </p:sp>
      <p:sp>
        <p:nvSpPr>
          <p:cNvPr id="52" name="Shape 50"/>
          <p:cNvSpPr/>
          <p:nvPr/>
        </p:nvSpPr>
        <p:spPr>
          <a:xfrm>
            <a:off x="10356925" y="4541459"/>
            <a:ext cx="42358" cy="792601"/>
          </a:xfrm>
          <a:prstGeom prst="roundRect">
            <a:avLst>
              <a:gd name="adj" fmla="val 863497"/>
            </a:avLst>
          </a:prstGeom>
          <a:solidFill>
            <a:srgbClr val="1C7293"/>
          </a:solidFill>
          <a:ln/>
        </p:spPr>
      </p:sp>
      <p:sp>
        <p:nvSpPr>
          <p:cNvPr id="53" name="Shape 51"/>
          <p:cNvSpPr/>
          <p:nvPr/>
        </p:nvSpPr>
        <p:spPr>
          <a:xfrm>
            <a:off x="10451054" y="4573900"/>
            <a:ext cx="42358" cy="727720"/>
          </a:xfrm>
          <a:prstGeom prst="roundRect">
            <a:avLst>
              <a:gd name="adj" fmla="val 863497"/>
            </a:avLst>
          </a:prstGeom>
          <a:solidFill>
            <a:srgbClr val="1C7293"/>
          </a:solidFill>
          <a:ln/>
        </p:spPr>
      </p:sp>
      <p:sp>
        <p:nvSpPr>
          <p:cNvPr id="54" name="Shape 52"/>
          <p:cNvSpPr/>
          <p:nvPr/>
        </p:nvSpPr>
        <p:spPr>
          <a:xfrm>
            <a:off x="10545184" y="4615777"/>
            <a:ext cx="42358" cy="643966"/>
          </a:xfrm>
          <a:prstGeom prst="roundRect">
            <a:avLst>
              <a:gd name="adj" fmla="val 863497"/>
            </a:avLst>
          </a:prstGeom>
          <a:solidFill>
            <a:srgbClr val="1C7293"/>
          </a:solidFill>
          <a:ln/>
        </p:spPr>
      </p:sp>
      <p:sp>
        <p:nvSpPr>
          <p:cNvPr id="55" name="Shape 53"/>
          <p:cNvSpPr/>
          <p:nvPr/>
        </p:nvSpPr>
        <p:spPr>
          <a:xfrm>
            <a:off x="10639313" y="4664767"/>
            <a:ext cx="42358" cy="545986"/>
          </a:xfrm>
          <a:prstGeom prst="roundRect">
            <a:avLst>
              <a:gd name="adj" fmla="val 863497"/>
            </a:avLst>
          </a:prstGeom>
          <a:solidFill>
            <a:srgbClr val="1C7293"/>
          </a:solidFill>
          <a:ln/>
        </p:spPr>
      </p:sp>
      <p:sp>
        <p:nvSpPr>
          <p:cNvPr id="56" name="Shape 54"/>
          <p:cNvSpPr/>
          <p:nvPr/>
        </p:nvSpPr>
        <p:spPr>
          <a:xfrm>
            <a:off x="10733442" y="4718210"/>
            <a:ext cx="42358" cy="439100"/>
          </a:xfrm>
          <a:prstGeom prst="roundRect">
            <a:avLst>
              <a:gd name="adj" fmla="val 863497"/>
            </a:avLst>
          </a:prstGeom>
          <a:solidFill>
            <a:srgbClr val="1C7293"/>
          </a:solidFill>
          <a:ln/>
        </p:spPr>
      </p:sp>
      <p:sp>
        <p:nvSpPr>
          <p:cNvPr id="57" name="Shape 55"/>
          <p:cNvSpPr/>
          <p:nvPr/>
        </p:nvSpPr>
        <p:spPr>
          <a:xfrm>
            <a:off x="10827572" y="4773292"/>
            <a:ext cx="42358" cy="328937"/>
          </a:xfrm>
          <a:prstGeom prst="roundRect">
            <a:avLst>
              <a:gd name="adj" fmla="val 863497"/>
            </a:avLst>
          </a:prstGeom>
          <a:solidFill>
            <a:srgbClr val="1C7293"/>
          </a:solidFill>
          <a:ln/>
        </p:spPr>
      </p:sp>
      <p:sp>
        <p:nvSpPr>
          <p:cNvPr id="58" name="Shape 56"/>
          <p:cNvSpPr/>
          <p:nvPr/>
        </p:nvSpPr>
        <p:spPr>
          <a:xfrm>
            <a:off x="10921701" y="4827311"/>
            <a:ext cx="42358" cy="220897"/>
          </a:xfrm>
          <a:prstGeom prst="roundRect">
            <a:avLst>
              <a:gd name="adj" fmla="val 863497"/>
            </a:avLst>
          </a:prstGeom>
          <a:solidFill>
            <a:srgbClr val="1C7293"/>
          </a:solidFill>
          <a:ln/>
        </p:spPr>
      </p:sp>
      <p:sp>
        <p:nvSpPr>
          <p:cNvPr id="59" name="Shape 57"/>
          <p:cNvSpPr/>
          <p:nvPr/>
        </p:nvSpPr>
        <p:spPr>
          <a:xfrm>
            <a:off x="11015831" y="4878349"/>
            <a:ext cx="42358" cy="118821"/>
          </a:xfrm>
          <a:prstGeom prst="roundRect">
            <a:avLst>
              <a:gd name="adj" fmla="val 863497"/>
            </a:avLst>
          </a:prstGeom>
          <a:solidFill>
            <a:srgbClr val="1C7293"/>
          </a:solidFill>
          <a:ln/>
        </p:spPr>
      </p:sp>
      <p:sp>
        <p:nvSpPr>
          <p:cNvPr id="60" name="Text 58"/>
          <p:cNvSpPr/>
          <p:nvPr/>
        </p:nvSpPr>
        <p:spPr>
          <a:xfrm>
            <a:off x="640080" y="6327648"/>
            <a:ext cx="10881360" cy="274320"/>
          </a:xfrm>
          <a:prstGeom prst="rect">
            <a:avLst/>
          </a:prstGeom>
          <a:noFill/>
          <a:ln/>
        </p:spPr>
        <p:txBody>
          <a:bodyPr wrap="square" lIns="0" tIns="0" rIns="0" bIns="0" rtlCol="0" anchor="ctr"/>
          <a:lstStyle/>
          <a:p>
            <a:pPr indent="0" marL="0">
              <a:buNone/>
            </a:pPr>
            <a:r>
              <a:rPr lang="en-US" sz="950" dirty="0">
                <a:solidFill>
                  <a:srgbClr val="A8B0BF"/>
                </a:solidFill>
                <a:latin typeface="Calibri" pitchFamily="34" charset="0"/>
                <a:ea typeface="Calibri" pitchFamily="34" charset="-122"/>
                <a:cs typeface="Calibri" pitchFamily="34" charset="-120"/>
              </a:rPr>
              <a:t>Evidencias: docs/evidencias/s2 y s3  ·  Marco teórico: docs/09-marco-teórico.md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10881360" cy="685800"/>
          </a:xfrm>
          <a:prstGeom prst="rect">
            <a:avLst/>
          </a:prstGeom>
          <a:noFill/>
          <a:ln/>
        </p:spPr>
        <p:txBody>
          <a:bodyPr wrap="square" rtlCol="0" anchor="ctr"/>
          <a:lstStyle/>
          <a:p>
            <a:pPr indent="0" marL="0">
              <a:buNone/>
            </a:pPr>
            <a:r>
              <a:rPr lang="en-US" sz="3400" b="1" dirty="0">
                <a:solidFill>
                  <a:srgbClr val="1E2433"/>
                </a:solidFill>
                <a:latin typeface="Cambria" pitchFamily="34" charset="0"/>
                <a:ea typeface="Cambria" pitchFamily="34" charset="-122"/>
                <a:cs typeface="Cambria" pitchFamily="34" charset="-120"/>
              </a:rPr>
              <a:t>Resultados medidos del módulo de señales</a:t>
            </a:r>
            <a:endParaRPr lang="en-US" sz="3400" dirty="0"/>
          </a:p>
        </p:txBody>
      </p:sp>
      <p:sp>
        <p:nvSpPr>
          <p:cNvPr id="3" name="Text 1"/>
          <p:cNvSpPr/>
          <p:nvPr/>
        </p:nvSpPr>
        <p:spPr>
          <a:xfrm>
            <a:off x="658368" y="1060704"/>
            <a:ext cx="10881360" cy="365760"/>
          </a:xfrm>
          <a:prstGeom prst="rect">
            <a:avLst/>
          </a:prstGeom>
          <a:noFill/>
          <a:ln/>
        </p:spPr>
        <p:txBody>
          <a:bodyPr wrap="square" rtlCol="0" anchor="ctr"/>
          <a:lstStyle/>
          <a:p>
            <a:pPr indent="0" marL="0">
              <a:buNone/>
            </a:pPr>
            <a:r>
              <a:rPr lang="en-US" sz="1400" dirty="0">
                <a:solidFill>
                  <a:srgbClr val="64748B"/>
                </a:solidFill>
                <a:latin typeface="Calibri" pitchFamily="34" charset="0"/>
                <a:ea typeface="Calibri" pitchFamily="34" charset="-122"/>
                <a:cs typeface="Calibri" pitchFamily="34" charset="-120"/>
              </a:rPr>
              <a:t>Cada afirmación del documento tiene una medición detras</a:t>
            </a:r>
            <a:endParaRPr lang="en-US" sz="1400" dirty="0"/>
          </a:p>
        </p:txBody>
      </p:sp>
      <p:sp>
        <p:nvSpPr>
          <p:cNvPr id="4" name="Text 2"/>
          <p:cNvSpPr/>
          <p:nvPr/>
        </p:nvSpPr>
        <p:spPr>
          <a:xfrm>
            <a:off x="640080" y="1691640"/>
            <a:ext cx="2468880" cy="713232"/>
          </a:xfrm>
          <a:prstGeom prst="rect">
            <a:avLst/>
          </a:prstGeom>
          <a:noFill/>
          <a:ln/>
        </p:spPr>
        <p:txBody>
          <a:bodyPr wrap="square" lIns="0" tIns="0" rIns="0" bIns="0" rtlCol="0" anchor="ctr"/>
          <a:lstStyle/>
          <a:p>
            <a:pPr algn="l" indent="0" marL="0">
              <a:buNone/>
            </a:pPr>
            <a:r>
              <a:rPr lang="en-US" sz="4000" b="1" dirty="0">
                <a:solidFill>
                  <a:srgbClr val="065A82"/>
                </a:solidFill>
                <a:latin typeface="Cambria" pitchFamily="34" charset="0"/>
                <a:ea typeface="Cambria" pitchFamily="34" charset="-122"/>
                <a:cs typeface="Cambria" pitchFamily="34" charset="-120"/>
              </a:rPr>
              <a:t>-73.8 dB</a:t>
            </a:r>
            <a:endParaRPr lang="en-US" sz="4000" dirty="0"/>
          </a:p>
        </p:txBody>
      </p:sp>
      <p:sp>
        <p:nvSpPr>
          <p:cNvPr id="5" name="Text 3"/>
          <p:cNvSpPr/>
          <p:nvPr/>
        </p:nvSpPr>
        <p:spPr>
          <a:xfrm>
            <a:off x="640080" y="2386584"/>
            <a:ext cx="2468880" cy="56692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Atenuación del alias con el filtro anti-aliasing, medida sobre tono de prueba</a:t>
            </a:r>
            <a:endParaRPr lang="en-US" sz="1150" dirty="0"/>
          </a:p>
        </p:txBody>
      </p:sp>
      <p:sp>
        <p:nvSpPr>
          <p:cNvPr id="6" name="Text 4"/>
          <p:cNvSpPr/>
          <p:nvPr/>
        </p:nvSpPr>
        <p:spPr>
          <a:xfrm>
            <a:off x="3383280" y="1691640"/>
            <a:ext cx="2468880" cy="713232"/>
          </a:xfrm>
          <a:prstGeom prst="rect">
            <a:avLst/>
          </a:prstGeom>
          <a:noFill/>
          <a:ln/>
        </p:spPr>
        <p:txBody>
          <a:bodyPr wrap="square" lIns="0" tIns="0" rIns="0" bIns="0" rtlCol="0" anchor="ctr"/>
          <a:lstStyle/>
          <a:p>
            <a:pPr algn="l" indent="0" marL="0">
              <a:buNone/>
            </a:pPr>
            <a:r>
              <a:rPr lang="en-US" sz="4000" b="1" dirty="0">
                <a:solidFill>
                  <a:srgbClr val="1C7293"/>
                </a:solidFill>
                <a:latin typeface="Cambria" pitchFamily="34" charset="0"/>
                <a:ea typeface="Cambria" pitchFamily="34" charset="-122"/>
                <a:cs typeface="Cambria" pitchFamily="34" charset="-120"/>
              </a:rPr>
              <a:t>1.45e-13</a:t>
            </a:r>
            <a:endParaRPr lang="en-US" sz="4000" dirty="0"/>
          </a:p>
        </p:txBody>
      </p:sp>
      <p:sp>
        <p:nvSpPr>
          <p:cNvPr id="7" name="Text 5"/>
          <p:cNvSpPr/>
          <p:nvPr/>
        </p:nvSpPr>
        <p:spPr>
          <a:xfrm>
            <a:off x="3383280" y="2386584"/>
            <a:ext cx="2468880" cy="56692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Error relativo de la FFT propia frente a la DFT directa, con N = 512</a:t>
            </a:r>
            <a:endParaRPr lang="en-US" sz="1150" dirty="0"/>
          </a:p>
        </p:txBody>
      </p:sp>
      <p:sp>
        <p:nvSpPr>
          <p:cNvPr id="8" name="Text 6"/>
          <p:cNvSpPr/>
          <p:nvPr/>
        </p:nvSpPr>
        <p:spPr>
          <a:xfrm>
            <a:off x="6126480" y="1691640"/>
            <a:ext cx="2468880" cy="713232"/>
          </a:xfrm>
          <a:prstGeom prst="rect">
            <a:avLst/>
          </a:prstGeom>
          <a:noFill/>
          <a:ln/>
        </p:spPr>
        <p:txBody>
          <a:bodyPr wrap="square" lIns="0" tIns="0" rIns="0" bIns="0" rtlCol="0" anchor="ctr"/>
          <a:lstStyle/>
          <a:p>
            <a:pPr algn="l" indent="0" marL="0">
              <a:buNone/>
            </a:pPr>
            <a:r>
              <a:rPr lang="en-US" sz="4000" b="1" dirty="0">
                <a:solidFill>
                  <a:srgbClr val="0F766E"/>
                </a:solidFill>
                <a:latin typeface="Cambria" pitchFamily="34" charset="0"/>
                <a:ea typeface="Cambria" pitchFamily="34" charset="-122"/>
                <a:cs typeface="Cambria" pitchFamily="34" charset="-120"/>
              </a:rPr>
              <a:t>1 145x</a:t>
            </a:r>
            <a:endParaRPr lang="en-US" sz="4000" dirty="0"/>
          </a:p>
        </p:txBody>
      </p:sp>
      <p:sp>
        <p:nvSpPr>
          <p:cNvPr id="9" name="Text 7"/>
          <p:cNvSpPr/>
          <p:nvPr/>
        </p:nvSpPr>
        <p:spPr>
          <a:xfrm>
            <a:off x="6126480" y="2386584"/>
            <a:ext cx="2468880" cy="56692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Aceleración de la FFT radix-2 sobre la DFT directa a N = 512</a:t>
            </a:r>
            <a:endParaRPr lang="en-US" sz="1150" dirty="0"/>
          </a:p>
        </p:txBody>
      </p:sp>
      <p:sp>
        <p:nvSpPr>
          <p:cNvPr id="10" name="Text 8"/>
          <p:cNvSpPr/>
          <p:nvPr/>
        </p:nvSpPr>
        <p:spPr>
          <a:xfrm>
            <a:off x="8869680" y="1691640"/>
            <a:ext cx="2651760" cy="713232"/>
          </a:xfrm>
          <a:prstGeom prst="rect">
            <a:avLst/>
          </a:prstGeom>
          <a:noFill/>
          <a:ln/>
        </p:spPr>
        <p:txBody>
          <a:bodyPr wrap="square" lIns="0" tIns="0" rIns="0" bIns="0" rtlCol="0" anchor="ctr"/>
          <a:lstStyle/>
          <a:p>
            <a:pPr algn="l" indent="0" marL="0">
              <a:buNone/>
            </a:pPr>
            <a:r>
              <a:rPr lang="en-US" sz="4000" b="1" dirty="0">
                <a:solidFill>
                  <a:srgbClr val="21295C"/>
                </a:solidFill>
                <a:latin typeface="Cambria" pitchFamily="34" charset="0"/>
                <a:ea typeface="Cambria" pitchFamily="34" charset="-122"/>
                <a:cs typeface="Cambria" pitchFamily="34" charset="-120"/>
              </a:rPr>
              <a:t>&lt; 30 ms</a:t>
            </a:r>
            <a:endParaRPr lang="en-US" sz="4000" dirty="0"/>
          </a:p>
        </p:txBody>
      </p:sp>
      <p:sp>
        <p:nvSpPr>
          <p:cNvPr id="11" name="Text 9"/>
          <p:cNvSpPr/>
          <p:nvPr/>
        </p:nvSpPr>
        <p:spPr>
          <a:xfrm>
            <a:off x="8869680" y="2386584"/>
            <a:ext cx="2651760" cy="56692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Error del detector de actividad de voz al marcar inicio y fin del habla</a:t>
            </a:r>
            <a:endParaRPr lang="en-US" sz="1150" dirty="0"/>
          </a:p>
        </p:txBody>
      </p:sp>
      <p:sp>
        <p:nvSpPr>
          <p:cNvPr id="12" name="Shape 10"/>
          <p:cNvSpPr/>
          <p:nvPr/>
        </p:nvSpPr>
        <p:spPr>
          <a:xfrm>
            <a:off x="640080" y="3611880"/>
            <a:ext cx="5349240" cy="2377440"/>
          </a:xfrm>
          <a:prstGeom prst="roundRect">
            <a:avLst>
              <a:gd name="adj" fmla="val 2308"/>
            </a:avLst>
          </a:prstGeom>
          <a:solidFill>
            <a:srgbClr val="F1F5F9"/>
          </a:solidFill>
          <a:ln/>
        </p:spPr>
      </p:sp>
      <p:sp>
        <p:nvSpPr>
          <p:cNvPr id="13" name="Text 11"/>
          <p:cNvSpPr/>
          <p:nvPr/>
        </p:nvSpPr>
        <p:spPr>
          <a:xfrm>
            <a:off x="914400" y="3822192"/>
            <a:ext cx="4754880" cy="347472"/>
          </a:xfrm>
          <a:prstGeom prst="rect">
            <a:avLst/>
          </a:prstGeom>
          <a:noFill/>
          <a:ln/>
        </p:spPr>
        <p:txBody>
          <a:bodyPr wrap="square" lIns="0" tIns="0" rIns="0" bIns="0" rtlCol="0" anchor="ctr"/>
          <a:lstStyle/>
          <a:p>
            <a:pPr indent="0" marL="0">
              <a:buNone/>
            </a:pPr>
            <a:r>
              <a:rPr lang="en-US" sz="1700" b="1" dirty="0">
                <a:solidFill>
                  <a:srgbClr val="1E2433"/>
                </a:solidFill>
                <a:latin typeface="Cambria" pitchFamily="34" charset="0"/>
                <a:ea typeface="Cambria" pitchFamily="34" charset="-122"/>
                <a:cs typeface="Cambria" pitchFamily="34" charset="-120"/>
              </a:rPr>
              <a:t>Validado desde primeros principios</a:t>
            </a:r>
            <a:endParaRPr lang="en-US" sz="1700" dirty="0"/>
          </a:p>
        </p:txBody>
      </p:sp>
      <p:sp>
        <p:nvSpPr>
          <p:cNvPr id="14" name="Text 12"/>
          <p:cNvSpPr/>
          <p:nvPr/>
        </p:nvSpPr>
        <p:spPr>
          <a:xfrm>
            <a:off x="914400" y="4206240"/>
            <a:ext cx="4800600" cy="160020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64748B"/>
                </a:solidFill>
                <a:latin typeface="Calibri" pitchFamily="34" charset="0"/>
                <a:ea typeface="Calibri" pitchFamily="34" charset="-122"/>
                <a:cs typeface="Calibri" pitchFamily="34" charset="-120"/>
              </a:rPr>
              <a:t>Comparación contra la DFT directa, que es la definición literal</a:t>
            </a:r>
            <a:endParaRPr lang="en-US" sz="1200" dirty="0"/>
          </a:p>
          <a:p>
            <a:pPr marL="342900" indent="-342900">
              <a:spcAft>
                <a:spcPts val="700"/>
              </a:spcAft>
              <a:buSzPct val="100000"/>
              <a:buChar char="•"/>
            </a:pPr>
            <a:r>
              <a:rPr lang="en-US" sz="1200" dirty="0">
                <a:solidFill>
                  <a:srgbClr val="64748B"/>
                </a:solidFill>
                <a:latin typeface="Calibri" pitchFamily="34" charset="0"/>
                <a:ea typeface="Calibri" pitchFamily="34" charset="-122"/>
                <a:cs typeface="Calibri" pitchFamily="34" charset="-120"/>
              </a:rPr>
              <a:t>Teorema de Parseval: la energía se conserva entre dominios</a:t>
            </a:r>
            <a:endParaRPr lang="en-US" sz="1200" dirty="0"/>
          </a:p>
          <a:p>
            <a:pPr marL="342900" indent="-342900">
              <a:spcAft>
                <a:spcPts val="700"/>
              </a:spcAft>
              <a:buSzPct val="100000"/>
              <a:buChar char="•"/>
            </a:pPr>
            <a:r>
              <a:rPr lang="en-US" sz="1200" dirty="0">
                <a:solidFill>
                  <a:srgbClr val="64748B"/>
                </a:solidFill>
                <a:latin typeface="Calibri" pitchFamily="34" charset="0"/>
                <a:ea typeface="Calibri" pitchFamily="34" charset="-122"/>
                <a:cs typeface="Calibri" pitchFamily="34" charset="-120"/>
              </a:rPr>
              <a:t>Linealidad, simetría conjugada y teorema del desplazamiento</a:t>
            </a:r>
            <a:endParaRPr lang="en-US" sz="1200" dirty="0"/>
          </a:p>
          <a:p>
            <a:pPr marL="342900" indent="-342900">
              <a:spcAft>
                <a:spcPts val="700"/>
              </a:spcAft>
              <a:buSzPct val="100000"/>
              <a:buChar char="•"/>
            </a:pPr>
            <a:r>
              <a:rPr lang="en-US" sz="1200" dirty="0">
                <a:solidFill>
                  <a:srgbClr val="64748B"/>
                </a:solidFill>
                <a:latin typeface="Calibri" pitchFamily="34" charset="0"/>
                <a:ea typeface="Calibri" pitchFamily="34" charset="-122"/>
                <a:cs typeface="Calibri" pitchFamily="34" charset="-120"/>
              </a:rPr>
              <a:t>Casos analíticos: delta, señal constante y seno centrado en un bin</a:t>
            </a:r>
            <a:endParaRPr lang="en-US" sz="1200" dirty="0"/>
          </a:p>
        </p:txBody>
      </p:sp>
      <p:sp>
        <p:nvSpPr>
          <p:cNvPr id="15" name="Shape 13"/>
          <p:cNvSpPr/>
          <p:nvPr/>
        </p:nvSpPr>
        <p:spPr>
          <a:xfrm>
            <a:off x="6172200" y="3611880"/>
            <a:ext cx="5349240" cy="2377440"/>
          </a:xfrm>
          <a:prstGeom prst="roundRect">
            <a:avLst>
              <a:gd name="adj" fmla="val 2308"/>
            </a:avLst>
          </a:prstGeom>
          <a:solidFill>
            <a:srgbClr val="21295C"/>
          </a:solidFill>
          <a:ln/>
        </p:spPr>
      </p:sp>
      <p:sp>
        <p:nvSpPr>
          <p:cNvPr id="16" name="Text 14"/>
          <p:cNvSpPr/>
          <p:nvPr/>
        </p:nvSpPr>
        <p:spPr>
          <a:xfrm>
            <a:off x="6446520" y="3822192"/>
            <a:ext cx="4754880" cy="347472"/>
          </a:xfrm>
          <a:prstGeom prst="rect">
            <a:avLst/>
          </a:prstGeom>
          <a:noFill/>
          <a:ln/>
        </p:spPr>
        <p:txBody>
          <a:bodyPr wrap="square" lIns="0" tIns="0" rIns="0" bIns="0" rtlCol="0" anchor="ctr"/>
          <a:lstStyle/>
          <a:p>
            <a:pPr indent="0" marL="0">
              <a:buNone/>
            </a:pPr>
            <a:r>
              <a:rPr lang="en-US" sz="1700" b="1" dirty="0">
                <a:solidFill>
                  <a:srgbClr val="02C39A"/>
                </a:solidFill>
                <a:latin typeface="Cambria" pitchFamily="34" charset="0"/>
                <a:ea typeface="Cambria" pitchFamily="34" charset="-122"/>
                <a:cs typeface="Cambria" pitchFamily="34" charset="-120"/>
              </a:rPr>
              <a:t>Por qué no contra una biblioteca</a:t>
            </a:r>
            <a:endParaRPr lang="en-US" sz="1700" dirty="0"/>
          </a:p>
        </p:txBody>
      </p:sp>
      <p:sp>
        <p:nvSpPr>
          <p:cNvPr id="17" name="Text 15"/>
          <p:cNvSpPr/>
          <p:nvPr/>
        </p:nvSpPr>
        <p:spPr>
          <a:xfrm>
            <a:off x="6446520" y="4206240"/>
            <a:ext cx="4800600" cy="1463040"/>
          </a:xfrm>
          <a:prstGeom prst="rect">
            <a:avLst/>
          </a:prstGeom>
          <a:noFill/>
          <a:ln/>
        </p:spPr>
        <p:txBody>
          <a:bodyPr wrap="square" lIns="0" tIns="0" rIns="0" bIns="0" rtlCol="0" anchor="ctr"/>
          <a:lstStyle/>
          <a:p>
            <a:pPr indent="0" marL="0">
              <a:buNone/>
            </a:pPr>
            <a:r>
              <a:rPr lang="en-US" sz="1250" dirty="0">
                <a:solidFill>
                  <a:srgbClr val="C7D2E8"/>
                </a:solidFill>
                <a:latin typeface="Calibri" pitchFamily="34" charset="0"/>
                <a:ea typeface="Calibri" pitchFamily="34" charset="-122"/>
                <a:cs typeface="Calibri" pitchFamily="34" charset="-120"/>
              </a:rPr>
              <a:t>Coincidir con otra implementación solo demuestra que ambas hacen lo mismo. Contra la teoria, la comprobación es cerrada: si la transformada cumple Parseval y reproduce los casos de solución conocida, es correcta y no queda la pregunta de quien valida a la biblioteca.</a:t>
            </a:r>
            <a:endParaRPr lang="en-US" sz="1250" dirty="0"/>
          </a:p>
        </p:txBody>
      </p:sp>
      <p:sp>
        <p:nvSpPr>
          <p:cNvPr id="18" name="Text 16"/>
          <p:cNvSpPr/>
          <p:nvPr/>
        </p:nvSpPr>
        <p:spPr>
          <a:xfrm>
            <a:off x="640080" y="6327648"/>
            <a:ext cx="10881360" cy="274320"/>
          </a:xfrm>
          <a:prstGeom prst="rect">
            <a:avLst/>
          </a:prstGeom>
          <a:noFill/>
          <a:ln/>
        </p:spPr>
        <p:txBody>
          <a:bodyPr wrap="square" lIns="0" tIns="0" rIns="0" bIns="0" rtlCol="0" anchor="ctr"/>
          <a:lstStyle/>
          <a:p>
            <a:pPr indent="0" marL="0">
              <a:buNone/>
            </a:pPr>
            <a:r>
              <a:rPr lang="en-US" sz="950" dirty="0">
                <a:solidFill>
                  <a:srgbClr val="A8B0BF"/>
                </a:solidFill>
                <a:latin typeface="Calibri" pitchFamily="34" charset="0"/>
                <a:ea typeface="Calibri" pitchFamily="34" charset="-122"/>
                <a:cs typeface="Calibri" pitchFamily="34" charset="-120"/>
              </a:rPr>
              <a:t>Evidencia completa: docs/evidencias/s3/s3-t1-fft-stft.md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10881360" cy="685800"/>
          </a:xfrm>
          <a:prstGeom prst="rect">
            <a:avLst/>
          </a:prstGeom>
          <a:noFill/>
          <a:ln/>
        </p:spPr>
        <p:txBody>
          <a:bodyPr wrap="square" rtlCol="0" anchor="ctr"/>
          <a:lstStyle/>
          <a:p>
            <a:pPr indent="0" marL="0">
              <a:buNone/>
            </a:pPr>
            <a:r>
              <a:rPr lang="en-US" sz="3400" b="1" dirty="0">
                <a:solidFill>
                  <a:srgbClr val="1E2433"/>
                </a:solidFill>
                <a:latin typeface="Cambria" pitchFamily="34" charset="0"/>
                <a:ea typeface="Cambria" pitchFamily="34" charset="-122"/>
                <a:cs typeface="Cambria" pitchFamily="34" charset="-120"/>
              </a:rPr>
              <a:t>Modelos de inteligencia artificial en el navegador</a:t>
            </a:r>
            <a:endParaRPr lang="en-US" sz="3400" dirty="0"/>
          </a:p>
        </p:txBody>
      </p:sp>
      <p:sp>
        <p:nvSpPr>
          <p:cNvPr id="3" name="Text 1"/>
          <p:cNvSpPr/>
          <p:nvPr/>
        </p:nvSpPr>
        <p:spPr>
          <a:xfrm>
            <a:off x="658368" y="1060704"/>
            <a:ext cx="10881360" cy="365760"/>
          </a:xfrm>
          <a:prstGeom prst="rect">
            <a:avLst/>
          </a:prstGeom>
          <a:noFill/>
          <a:ln/>
        </p:spPr>
        <p:txBody>
          <a:bodyPr wrap="square" rtlCol="0" anchor="ctr"/>
          <a:lstStyle/>
          <a:p>
            <a:pPr indent="0" marL="0">
              <a:buNone/>
            </a:pPr>
            <a:r>
              <a:rPr lang="en-US" sz="1400" dirty="0">
                <a:solidFill>
                  <a:srgbClr val="64748B"/>
                </a:solidFill>
                <a:latin typeface="Calibri" pitchFamily="34" charset="0"/>
                <a:ea typeface="Calibri" pitchFamily="34" charset="-122"/>
                <a:cs typeface="Calibri" pitchFamily="34" charset="-120"/>
              </a:rPr>
              <a:t>Sin servidores: transformers.js sobre ONNX Runtime compilado a WebAssembly</a:t>
            </a:r>
            <a:endParaRPr lang="en-US" sz="1400" dirty="0"/>
          </a:p>
        </p:txBody>
      </p:sp>
      <p:sp>
        <p:nvSpPr>
          <p:cNvPr id="4" name="Shape 2"/>
          <p:cNvSpPr/>
          <p:nvPr/>
        </p:nvSpPr>
        <p:spPr>
          <a:xfrm>
            <a:off x="640080" y="1691640"/>
            <a:ext cx="5349240" cy="2057400"/>
          </a:xfrm>
          <a:prstGeom prst="roundRect">
            <a:avLst>
              <a:gd name="adj" fmla="val 2667"/>
            </a:avLst>
          </a:prstGeom>
          <a:solidFill>
            <a:srgbClr val="F1F5F9"/>
          </a:solidFill>
          <a:ln/>
        </p:spPr>
      </p:sp>
      <p:sp>
        <p:nvSpPr>
          <p:cNvPr id="5" name="Text 3"/>
          <p:cNvSpPr/>
          <p:nvPr/>
        </p:nvSpPr>
        <p:spPr>
          <a:xfrm>
            <a:off x="914400" y="1901952"/>
            <a:ext cx="4754880" cy="347472"/>
          </a:xfrm>
          <a:prstGeom prst="rect">
            <a:avLst/>
          </a:prstGeom>
          <a:noFill/>
          <a:ln/>
        </p:spPr>
        <p:txBody>
          <a:bodyPr wrap="square" lIns="0" tIns="0" rIns="0" bIns="0" rtlCol="0" anchor="ctr"/>
          <a:lstStyle/>
          <a:p>
            <a:pPr indent="0" marL="0">
              <a:buNone/>
            </a:pPr>
            <a:r>
              <a:rPr lang="en-US" sz="1800" b="1" dirty="0">
                <a:solidFill>
                  <a:srgbClr val="1E2433"/>
                </a:solidFill>
                <a:latin typeface="Cambria" pitchFamily="34" charset="0"/>
                <a:ea typeface="Cambria" pitchFamily="34" charset="-122"/>
                <a:cs typeface="Cambria" pitchFamily="34" charset="-120"/>
              </a:rPr>
              <a:t>Reconocimiento de voz</a:t>
            </a:r>
            <a:endParaRPr lang="en-US" sz="1800" dirty="0"/>
          </a:p>
        </p:txBody>
      </p:sp>
      <p:sp>
        <p:nvSpPr>
          <p:cNvPr id="6"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Whisper-tiny cuantizado</a:t>
            </a:r>
            <a:endParaRPr lang="en-US" sz="1200" dirty="0"/>
          </a:p>
        </p:txBody>
      </p:sp>
      <p:sp>
        <p:nvSpPr>
          <p:cNvPr id="7" name="Text 5"/>
          <p:cNvSpPr/>
          <p:nvPr/>
        </p:nvSpPr>
        <p:spPr>
          <a:xfrm>
            <a:off x="914400" y="2633472"/>
            <a:ext cx="4800600" cy="9601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Devuelve la transcripción con marcas de tiempo por palabra, base del puntaje de pronunciación que llega en el Avance 2</a:t>
            </a:r>
            <a:endParaRPr lang="en-US" sz="1200" dirty="0"/>
          </a:p>
        </p:txBody>
      </p:sp>
      <p:sp>
        <p:nvSpPr>
          <p:cNvPr id="8" name="Shape 6"/>
          <p:cNvSpPr/>
          <p:nvPr/>
        </p:nvSpPr>
        <p:spPr>
          <a:xfrm>
            <a:off x="6172200" y="1691640"/>
            <a:ext cx="5349240" cy="2057400"/>
          </a:xfrm>
          <a:prstGeom prst="roundRect">
            <a:avLst>
              <a:gd name="adj" fmla="val 2667"/>
            </a:avLst>
          </a:prstGeom>
          <a:solidFill>
            <a:srgbClr val="F1F5F9"/>
          </a:solidFill>
          <a:ln/>
        </p:spPr>
      </p:sp>
      <p:sp>
        <p:nvSpPr>
          <p:cNvPr id="9" name="Text 7"/>
          <p:cNvSpPr/>
          <p:nvPr/>
        </p:nvSpPr>
        <p:spPr>
          <a:xfrm>
            <a:off x="6446520" y="1901952"/>
            <a:ext cx="4754880" cy="347472"/>
          </a:xfrm>
          <a:prstGeom prst="rect">
            <a:avLst/>
          </a:prstGeom>
          <a:noFill/>
          <a:ln/>
        </p:spPr>
        <p:txBody>
          <a:bodyPr wrap="square" lIns="0" tIns="0" rIns="0" bIns="0" rtlCol="0" anchor="ctr"/>
          <a:lstStyle/>
          <a:p>
            <a:pPr indent="0" marL="0">
              <a:buNone/>
            </a:pPr>
            <a:r>
              <a:rPr lang="en-US" sz="1800" b="1" dirty="0">
                <a:solidFill>
                  <a:srgbClr val="1E2433"/>
                </a:solidFill>
                <a:latin typeface="Cambria" pitchFamily="34" charset="0"/>
                <a:ea typeface="Cambria" pitchFamily="34" charset="-122"/>
                <a:cs typeface="Cambria" pitchFamily="34" charset="-120"/>
              </a:rPr>
              <a:t>Corrección gramatical</a:t>
            </a:r>
            <a:endParaRPr lang="en-US" sz="1800" dirty="0"/>
          </a:p>
        </p:txBody>
      </p:sp>
      <p:sp>
        <p:nvSpPr>
          <p:cNvPr id="10" name="Text 8"/>
          <p:cNvSpPr/>
          <p:nvPr/>
        </p:nvSpPr>
        <p:spPr>
          <a:xfrm>
            <a:off x="6446520" y="2286000"/>
            <a:ext cx="4754880" cy="27432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T5 cuantizado a 8 bits</a:t>
            </a:r>
            <a:endParaRPr lang="en-US" sz="1200" dirty="0"/>
          </a:p>
        </p:txBody>
      </p:sp>
      <p:sp>
        <p:nvSpPr>
          <p:cNvPr id="11" name="Text 9"/>
          <p:cNvSpPr/>
          <p:nvPr/>
        </p:nvSpPr>
        <p:spPr>
          <a:xfrm>
            <a:off x="6446520" y="2633472"/>
            <a:ext cx="4800600" cy="9601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Un diferenciador por subsecuencia común más larga convierte la frase corregida en marcas palabra por palabra</a:t>
            </a:r>
            <a:endParaRPr lang="en-US" sz="1200" dirty="0"/>
          </a:p>
        </p:txBody>
      </p:sp>
      <p:sp>
        <p:nvSpPr>
          <p:cNvPr id="12" name="Shape 10"/>
          <p:cNvSpPr/>
          <p:nvPr/>
        </p:nvSpPr>
        <p:spPr>
          <a:xfrm>
            <a:off x="640080" y="3931920"/>
            <a:ext cx="10881360" cy="2057400"/>
          </a:xfrm>
          <a:prstGeom prst="roundRect">
            <a:avLst>
              <a:gd name="adj" fmla="val 2667"/>
            </a:avLst>
          </a:prstGeom>
          <a:solidFill>
            <a:srgbClr val="21295C"/>
          </a:solidFill>
          <a:ln/>
        </p:spPr>
      </p:sp>
      <p:sp>
        <p:nvSpPr>
          <p:cNvPr id="13" name="Text 11"/>
          <p:cNvSpPr/>
          <p:nvPr/>
        </p:nvSpPr>
        <p:spPr>
          <a:xfrm>
            <a:off x="960120" y="4133088"/>
            <a:ext cx="5486400" cy="347472"/>
          </a:xfrm>
          <a:prstGeom prst="rect">
            <a:avLst/>
          </a:prstGeom>
          <a:noFill/>
          <a:ln/>
        </p:spPr>
        <p:txBody>
          <a:bodyPr wrap="square" lIns="0" tIns="0" rIns="0" bIns="0" rtlCol="0" anchor="ctr"/>
          <a:lstStyle/>
          <a:p>
            <a:pPr indent="0" marL="0">
              <a:buNone/>
            </a:pPr>
            <a:r>
              <a:rPr lang="en-US" sz="1700" b="1" dirty="0">
                <a:solidFill>
                  <a:srgbClr val="02C39A"/>
                </a:solidFill>
                <a:latin typeface="Cambria" pitchFamily="34" charset="0"/>
                <a:ea typeface="Cambria" pitchFamily="34" charset="-122"/>
                <a:cs typeface="Cambria" pitchFamily="34" charset="-120"/>
              </a:rPr>
              <a:t>Tres decisiones de ingeniería</a:t>
            </a:r>
            <a:endParaRPr lang="en-US" sz="1700" dirty="0"/>
          </a:p>
        </p:txBody>
      </p:sp>
      <p:sp>
        <p:nvSpPr>
          <p:cNvPr id="14" name="Text 12"/>
          <p:cNvSpPr/>
          <p:nvPr/>
        </p:nvSpPr>
        <p:spPr>
          <a:xfrm>
            <a:off x="960120" y="4572000"/>
            <a:ext cx="32004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Un worker por modelo</a:t>
            </a:r>
            <a:endParaRPr lang="en-US" sz="1300" dirty="0"/>
          </a:p>
        </p:txBody>
      </p:sp>
      <p:sp>
        <p:nvSpPr>
          <p:cNvPr id="15" name="Text 13"/>
          <p:cNvSpPr/>
          <p:nvPr/>
        </p:nvSpPr>
        <p:spPr>
          <a:xfrm>
            <a:off x="960120" y="4882896"/>
            <a:ext cx="3200400" cy="914400"/>
          </a:xfrm>
          <a:prstGeom prst="rect">
            <a:avLst/>
          </a:prstGeom>
          <a:noFill/>
          <a:ln/>
        </p:spPr>
        <p:txBody>
          <a:bodyPr wrap="square" lIns="0" tIns="0" rIns="0" bIns="0" rtlCol="0" anchor="ctr"/>
          <a:lstStyle/>
          <a:p>
            <a:pPr indent="0" marL="0">
              <a:buNone/>
            </a:pPr>
            <a:r>
              <a:rPr lang="en-US" sz="1100" dirty="0">
                <a:solidFill>
                  <a:srgbClr val="9FB0D0"/>
                </a:solidFill>
                <a:latin typeface="Calibri" pitchFamily="34" charset="0"/>
                <a:ea typeface="Calibri" pitchFamily="34" charset="-122"/>
                <a:cs typeface="Calibri" pitchFamily="34" charset="-120"/>
              </a:rPr>
              <a:t>La inferencia tarda cerca de un segundo y medio; en el hilo principal congelaría la interfaz entera</a:t>
            </a:r>
            <a:endParaRPr lang="en-US" sz="1100" dirty="0"/>
          </a:p>
        </p:txBody>
      </p:sp>
      <p:sp>
        <p:nvSpPr>
          <p:cNvPr id="16" name="Text 14"/>
          <p:cNvSpPr/>
          <p:nvPr/>
        </p:nvSpPr>
        <p:spPr>
          <a:xfrm>
            <a:off x="4434840" y="4572000"/>
            <a:ext cx="32004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Carga secuencial</a:t>
            </a:r>
            <a:endParaRPr lang="en-US" sz="1300" dirty="0"/>
          </a:p>
        </p:txBody>
      </p:sp>
      <p:sp>
        <p:nvSpPr>
          <p:cNvPr id="17" name="Text 15"/>
          <p:cNvSpPr/>
          <p:nvPr/>
        </p:nvSpPr>
        <p:spPr>
          <a:xfrm>
            <a:off x="4434840" y="4882896"/>
            <a:ext cx="3200400" cy="914400"/>
          </a:xfrm>
          <a:prstGeom prst="rect">
            <a:avLst/>
          </a:prstGeom>
          <a:noFill/>
          <a:ln/>
        </p:spPr>
        <p:txBody>
          <a:bodyPr wrap="square" lIns="0" tIns="0" rIns="0" bIns="0" rtlCol="0" anchor="ctr"/>
          <a:lstStyle/>
          <a:p>
            <a:pPr indent="0" marL="0">
              <a:buNone/>
            </a:pPr>
            <a:r>
              <a:rPr lang="en-US" sz="1100" dirty="0">
                <a:solidFill>
                  <a:srgbClr val="9FB0D0"/>
                </a:solidFill>
                <a:latin typeface="Calibri" pitchFamily="34" charset="0"/>
                <a:ea typeface="Calibri" pitchFamily="34" charset="-122"/>
                <a:cs typeface="Calibri" pitchFamily="34" charset="-120"/>
              </a:rPr>
              <a:t>Los modelos ocupan cientos de megabytes: cargarlos a la vez dispara el pico de memoria</a:t>
            </a:r>
            <a:endParaRPr lang="en-US" sz="1100" dirty="0"/>
          </a:p>
        </p:txBody>
      </p:sp>
      <p:sp>
        <p:nvSpPr>
          <p:cNvPr id="18" name="Text 16"/>
          <p:cNvSpPr/>
          <p:nvPr/>
        </p:nvSpPr>
        <p:spPr>
          <a:xfrm>
            <a:off x="7909560" y="4572000"/>
            <a:ext cx="32004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Versión fijada</a:t>
            </a:r>
            <a:endParaRPr lang="en-US" sz="1300" dirty="0"/>
          </a:p>
        </p:txBody>
      </p:sp>
      <p:sp>
        <p:nvSpPr>
          <p:cNvPr id="19" name="Text 17"/>
          <p:cNvSpPr/>
          <p:nvPr/>
        </p:nvSpPr>
        <p:spPr>
          <a:xfrm>
            <a:off x="7909560" y="4882896"/>
            <a:ext cx="3200400" cy="914400"/>
          </a:xfrm>
          <a:prstGeom prst="rect">
            <a:avLst/>
          </a:prstGeom>
          <a:noFill/>
          <a:ln/>
        </p:spPr>
        <p:txBody>
          <a:bodyPr wrap="square" lIns="0" tIns="0" rIns="0" bIns="0" rtlCol="0" anchor="ctr"/>
          <a:lstStyle/>
          <a:p>
            <a:pPr indent="0" marL="0">
              <a:buNone/>
            </a:pPr>
            <a:r>
              <a:rPr lang="en-US" sz="1100" dirty="0">
                <a:solidFill>
                  <a:srgbClr val="9FB0D0"/>
                </a:solidFill>
                <a:latin typeface="Calibri" pitchFamily="34" charset="0"/>
                <a:ea typeface="Calibri" pitchFamily="34" charset="-122"/>
                <a:cs typeface="Calibri" pitchFamily="34" charset="-120"/>
              </a:rPr>
              <a:t>Se fija la rama del motor validada en las mediciones, para que el código y la evidencia coincidan</a:t>
            </a:r>
            <a:endParaRPr lang="en-US" sz="1100" dirty="0"/>
          </a:p>
        </p:txBody>
      </p:sp>
      <p:sp>
        <p:nvSpPr>
          <p:cNvPr id="20" name="Text 18"/>
          <p:cNvSpPr/>
          <p:nvPr/>
        </p:nvSpPr>
        <p:spPr>
          <a:xfrm>
            <a:off x="640080" y="6327648"/>
            <a:ext cx="10881360" cy="274320"/>
          </a:xfrm>
          <a:prstGeom prst="rect">
            <a:avLst/>
          </a:prstGeom>
          <a:noFill/>
          <a:ln/>
        </p:spPr>
        <p:txBody>
          <a:bodyPr wrap="square" lIns="0" tIns="0" rIns="0" bIns="0" rtlCol="0" anchor="ctr"/>
          <a:lstStyle/>
          <a:p>
            <a:pPr indent="0" marL="0">
              <a:buNone/>
            </a:pPr>
            <a:r>
              <a:rPr lang="en-US" sz="950" dirty="0">
                <a:solidFill>
                  <a:srgbClr val="A8B0BF"/>
                </a:solidFill>
                <a:latin typeface="Calibri" pitchFamily="34" charset="0"/>
                <a:ea typeface="Calibri" pitchFamily="34" charset="-122"/>
                <a:cs typeface="Calibri" pitchFamily="34" charset="-120"/>
              </a:rPr>
              <a:t>Evidencias: docs/evidencias/s2/asr-worker.md y docs/evidencias/s3/grammar-worker.md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10881360" cy="685800"/>
          </a:xfrm>
          <a:prstGeom prst="rect">
            <a:avLst/>
          </a:prstGeom>
          <a:noFill/>
          <a:ln/>
        </p:spPr>
        <p:txBody>
          <a:bodyPr wrap="square" rtlCol="0" anchor="ctr"/>
          <a:lstStyle/>
          <a:p>
            <a:pPr indent="0" marL="0">
              <a:buNone/>
            </a:pPr>
            <a:r>
              <a:rPr lang="en-US" sz="3400" b="1" dirty="0">
                <a:solidFill>
                  <a:srgbClr val="1E2433"/>
                </a:solidFill>
                <a:latin typeface="Cambria" pitchFamily="34" charset="0"/>
                <a:ea typeface="Cambria" pitchFamily="34" charset="-122"/>
                <a:cs typeface="Cambria" pitchFamily="34" charset="-120"/>
              </a:rPr>
              <a:t>Lo que costó y lo que rinde</a:t>
            </a:r>
            <a:endParaRPr lang="en-US" sz="3400" dirty="0"/>
          </a:p>
        </p:txBody>
      </p:sp>
      <p:sp>
        <p:nvSpPr>
          <p:cNvPr id="3" name="Text 1"/>
          <p:cNvSpPr/>
          <p:nvPr/>
        </p:nvSpPr>
        <p:spPr>
          <a:xfrm>
            <a:off x="658368" y="1060704"/>
            <a:ext cx="10881360" cy="365760"/>
          </a:xfrm>
          <a:prstGeom prst="rect">
            <a:avLst/>
          </a:prstGeom>
          <a:noFill/>
          <a:ln/>
        </p:spPr>
        <p:txBody>
          <a:bodyPr wrap="square" rtlCol="0" anchor="ctr"/>
          <a:lstStyle/>
          <a:p>
            <a:pPr indent="0" marL="0">
              <a:buNone/>
            </a:pPr>
            <a:r>
              <a:rPr lang="en-US" sz="1400" dirty="0">
                <a:solidFill>
                  <a:srgbClr val="64748B"/>
                </a:solidFill>
                <a:latin typeface="Calibri" pitchFamily="34" charset="0"/>
                <a:ea typeface="Calibri" pitchFamily="34" charset="-122"/>
                <a:cs typeface="Calibri" pitchFamily="34" charset="-120"/>
              </a:rPr>
              <a:t>Mediciones tomadas en el equipo del proyecto, en Chrome</a:t>
            </a:r>
            <a:endParaRPr lang="en-US" sz="1400" dirty="0"/>
          </a:p>
        </p:txBody>
      </p:sp>
      <p:sp>
        <p:nvSpPr>
          <p:cNvPr id="4" name="Text 2"/>
          <p:cNvSpPr/>
          <p:nvPr/>
        </p:nvSpPr>
        <p:spPr>
          <a:xfrm>
            <a:off x="640080" y="1645920"/>
            <a:ext cx="2468880" cy="713232"/>
          </a:xfrm>
          <a:prstGeom prst="rect">
            <a:avLst/>
          </a:prstGeom>
          <a:noFill/>
          <a:ln/>
        </p:spPr>
        <p:txBody>
          <a:bodyPr wrap="square" lIns="0" tIns="0" rIns="0" bIns="0" rtlCol="0" anchor="ctr"/>
          <a:lstStyle/>
          <a:p>
            <a:pPr algn="l" indent="0" marL="0">
              <a:buNone/>
            </a:pPr>
            <a:r>
              <a:rPr lang="en-US" sz="4000" b="1" dirty="0">
                <a:solidFill>
                  <a:srgbClr val="065A82"/>
                </a:solidFill>
                <a:latin typeface="Cambria" pitchFamily="34" charset="0"/>
                <a:ea typeface="Cambria" pitchFamily="34" charset="-122"/>
                <a:cs typeface="Cambria" pitchFamily="34" charset="-120"/>
              </a:rPr>
              <a:t>0.54 s</a:t>
            </a:r>
            <a:endParaRPr lang="en-US" sz="4000" dirty="0"/>
          </a:p>
        </p:txBody>
      </p:sp>
      <p:sp>
        <p:nvSpPr>
          <p:cNvPr id="5" name="Text 3"/>
          <p:cNvSpPr/>
          <p:nvPr/>
        </p:nvSpPr>
        <p:spPr>
          <a:xfrm>
            <a:off x="640080" y="2340864"/>
            <a:ext cx="2468880" cy="56692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Carga del reconocedor desde caché, frente a 17.7 s la primera vez</a:t>
            </a:r>
            <a:endParaRPr lang="en-US" sz="1150" dirty="0"/>
          </a:p>
        </p:txBody>
      </p:sp>
      <p:sp>
        <p:nvSpPr>
          <p:cNvPr id="6" name="Text 4"/>
          <p:cNvSpPr/>
          <p:nvPr/>
        </p:nvSpPr>
        <p:spPr>
          <a:xfrm>
            <a:off x="3383280" y="1645920"/>
            <a:ext cx="2468880" cy="713232"/>
          </a:xfrm>
          <a:prstGeom prst="rect">
            <a:avLst/>
          </a:prstGeom>
          <a:noFill/>
          <a:ln/>
        </p:spPr>
        <p:txBody>
          <a:bodyPr wrap="square" lIns="0" tIns="0" rIns="0" bIns="0" rtlCol="0" anchor="ctr"/>
          <a:lstStyle/>
          <a:p>
            <a:pPr algn="l" indent="0" marL="0">
              <a:buNone/>
            </a:pPr>
            <a:r>
              <a:rPr lang="en-US" sz="4000" b="1" dirty="0">
                <a:solidFill>
                  <a:srgbClr val="1C7293"/>
                </a:solidFill>
                <a:latin typeface="Cambria" pitchFamily="34" charset="0"/>
                <a:ea typeface="Cambria" pitchFamily="34" charset="-122"/>
                <a:cs typeface="Cambria" pitchFamily="34" charset="-120"/>
              </a:rPr>
              <a:t>0.28x</a:t>
            </a:r>
            <a:endParaRPr lang="en-US" sz="4000" dirty="0"/>
          </a:p>
        </p:txBody>
      </p:sp>
      <p:sp>
        <p:nvSpPr>
          <p:cNvPr id="7" name="Text 5"/>
          <p:cNvSpPr/>
          <p:nvPr/>
        </p:nvSpPr>
        <p:spPr>
          <a:xfrm>
            <a:off x="3383280" y="2340864"/>
            <a:ext cx="2468880" cy="56692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Factor de tiempo real: transcribe casi cuatro veces más rápido que el audio</a:t>
            </a:r>
            <a:endParaRPr lang="en-US" sz="1150" dirty="0"/>
          </a:p>
        </p:txBody>
      </p:sp>
      <p:sp>
        <p:nvSpPr>
          <p:cNvPr id="8" name="Text 6"/>
          <p:cNvSpPr/>
          <p:nvPr/>
        </p:nvSpPr>
        <p:spPr>
          <a:xfrm>
            <a:off x="6126480" y="1645920"/>
            <a:ext cx="2468880" cy="713232"/>
          </a:xfrm>
          <a:prstGeom prst="rect">
            <a:avLst/>
          </a:prstGeom>
          <a:noFill/>
          <a:ln/>
        </p:spPr>
        <p:txBody>
          <a:bodyPr wrap="square" lIns="0" tIns="0" rIns="0" bIns="0" rtlCol="0" anchor="ctr"/>
          <a:lstStyle/>
          <a:p>
            <a:pPr algn="l" indent="0" marL="0">
              <a:buNone/>
            </a:pPr>
            <a:r>
              <a:rPr lang="en-US" sz="4000" b="1" dirty="0">
                <a:solidFill>
                  <a:srgbClr val="0F766E"/>
                </a:solidFill>
                <a:latin typeface="Cambria" pitchFamily="34" charset="0"/>
                <a:ea typeface="Cambria" pitchFamily="34" charset="-122"/>
                <a:cs typeface="Cambria" pitchFamily="34" charset="-120"/>
              </a:rPr>
              <a:t>320 ms</a:t>
            </a:r>
            <a:endParaRPr lang="en-US" sz="4000" dirty="0"/>
          </a:p>
        </p:txBody>
      </p:sp>
      <p:sp>
        <p:nvSpPr>
          <p:cNvPr id="9" name="Text 7"/>
          <p:cNvSpPr/>
          <p:nvPr/>
        </p:nvSpPr>
        <p:spPr>
          <a:xfrm>
            <a:off x="6126480" y="2340864"/>
            <a:ext cx="2468880" cy="56692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Latencia media de la corrección gramatical, con máximo de 456 ms</a:t>
            </a:r>
            <a:endParaRPr lang="en-US" sz="1150" dirty="0"/>
          </a:p>
        </p:txBody>
      </p:sp>
      <p:sp>
        <p:nvSpPr>
          <p:cNvPr id="10" name="Text 8"/>
          <p:cNvSpPr/>
          <p:nvPr/>
        </p:nvSpPr>
        <p:spPr>
          <a:xfrm>
            <a:off x="8869680" y="1645920"/>
            <a:ext cx="2651760" cy="713232"/>
          </a:xfrm>
          <a:prstGeom prst="rect">
            <a:avLst/>
          </a:prstGeom>
          <a:noFill/>
          <a:ln/>
        </p:spPr>
        <p:txBody>
          <a:bodyPr wrap="square" lIns="0" tIns="0" rIns="0" bIns="0" rtlCol="0" anchor="ctr"/>
          <a:lstStyle/>
          <a:p>
            <a:pPr algn="l" indent="0" marL="0">
              <a:buNone/>
            </a:pPr>
            <a:r>
              <a:rPr lang="en-US" sz="4000" b="1" dirty="0">
                <a:solidFill>
                  <a:srgbClr val="21295C"/>
                </a:solidFill>
                <a:latin typeface="Cambria" pitchFamily="34" charset="0"/>
                <a:ea typeface="Cambria" pitchFamily="34" charset="-122"/>
                <a:cs typeface="Cambria" pitchFamily="34" charset="-120"/>
              </a:rPr>
              <a:t>6 de 8</a:t>
            </a:r>
            <a:endParaRPr lang="en-US" sz="4000" dirty="0"/>
          </a:p>
        </p:txBody>
      </p:sp>
      <p:sp>
        <p:nvSpPr>
          <p:cNvPr id="11" name="Text 9"/>
          <p:cNvSpPr/>
          <p:nvPr/>
        </p:nvSpPr>
        <p:spPr>
          <a:xfrm>
            <a:off x="8869680" y="2340864"/>
            <a:ext cx="2651760" cy="56692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Frases con errores típicos de hispanohablantes corregidas correctamente</a:t>
            </a:r>
            <a:endParaRPr lang="en-US" sz="1150" dirty="0"/>
          </a:p>
        </p:txBody>
      </p:sp>
      <p:sp>
        <p:nvSpPr>
          <p:cNvPr id="12" name="Shape 10"/>
          <p:cNvSpPr/>
          <p:nvPr/>
        </p:nvSpPr>
        <p:spPr>
          <a:xfrm>
            <a:off x="640080" y="3566160"/>
            <a:ext cx="5349240" cy="2423160"/>
          </a:xfrm>
          <a:prstGeom prst="roundRect">
            <a:avLst>
              <a:gd name="adj" fmla="val 2264"/>
            </a:avLst>
          </a:prstGeom>
          <a:solidFill>
            <a:srgbClr val="F1F5F9"/>
          </a:solidFill>
          <a:ln/>
        </p:spPr>
      </p:sp>
      <p:sp>
        <p:nvSpPr>
          <p:cNvPr id="13" name="Text 11"/>
          <p:cNvSpPr/>
          <p:nvPr/>
        </p:nvSpPr>
        <p:spPr>
          <a:xfrm>
            <a:off x="914400" y="3767328"/>
            <a:ext cx="4754880" cy="347472"/>
          </a:xfrm>
          <a:prstGeom prst="rect">
            <a:avLst/>
          </a:prstGeom>
          <a:noFill/>
          <a:ln/>
        </p:spPr>
        <p:txBody>
          <a:bodyPr wrap="square" lIns="0" tIns="0" rIns="0" bIns="0" rtlCol="0" anchor="ctr"/>
          <a:lstStyle/>
          <a:p>
            <a:pPr indent="0" marL="0">
              <a:buNone/>
            </a:pPr>
            <a:r>
              <a:rPr lang="en-US" sz="1700" b="1" dirty="0">
                <a:solidFill>
                  <a:srgbClr val="1E2433"/>
                </a:solidFill>
                <a:latin typeface="Cambria" pitchFamily="34" charset="0"/>
                <a:ea typeface="Cambria" pitchFamily="34" charset="-122"/>
                <a:cs typeface="Cambria" pitchFamily="34" charset="-120"/>
              </a:rPr>
              <a:t>El costó real: 279 MB de descarga</a:t>
            </a:r>
            <a:endParaRPr lang="en-US" sz="1700" dirty="0"/>
          </a:p>
        </p:txBody>
      </p:sp>
      <p:sp>
        <p:nvSpPr>
          <p:cNvPr id="14" name="Text 12"/>
          <p:cNvSpPr/>
          <p:nvPr/>
        </p:nvSpPr>
        <p:spPr>
          <a:xfrm>
            <a:off x="914400" y="4160520"/>
            <a:ext cx="4800600" cy="137160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Es una descarga unica. A partir de ahi la aplicación arranca en medio segundo y funciona sin conexión. Queda registrado como riesgo abierto del proyecto, con dos medidas: cargar el corrector solo cuando se necesita y evaluar un modelo más liviano en la fase de optimización.</a:t>
            </a:r>
            <a:endParaRPr lang="en-US" sz="1250" dirty="0"/>
          </a:p>
        </p:txBody>
      </p:sp>
      <p:sp>
        <p:nvSpPr>
          <p:cNvPr id="15" name="Shape 13"/>
          <p:cNvSpPr/>
          <p:nvPr/>
        </p:nvSpPr>
        <p:spPr>
          <a:xfrm>
            <a:off x="6172200" y="3566160"/>
            <a:ext cx="5349240" cy="2423160"/>
          </a:xfrm>
          <a:prstGeom prst="roundRect">
            <a:avLst>
              <a:gd name="adj" fmla="val 2264"/>
            </a:avLst>
          </a:prstGeom>
          <a:solidFill>
            <a:srgbClr val="21295C"/>
          </a:solidFill>
          <a:ln/>
        </p:spPr>
      </p:sp>
      <p:sp>
        <p:nvSpPr>
          <p:cNvPr id="16" name="Text 14"/>
          <p:cNvSpPr/>
          <p:nvPr/>
        </p:nvSpPr>
        <p:spPr>
          <a:xfrm>
            <a:off x="6446520" y="3767328"/>
            <a:ext cx="4754880" cy="347472"/>
          </a:xfrm>
          <a:prstGeom prst="rect">
            <a:avLst/>
          </a:prstGeom>
          <a:noFill/>
          <a:ln/>
        </p:spPr>
        <p:txBody>
          <a:bodyPr wrap="square" lIns="0" tIns="0" rIns="0" bIns="0" rtlCol="0" anchor="ctr"/>
          <a:lstStyle/>
          <a:p>
            <a:pPr indent="0" marL="0">
              <a:buNone/>
            </a:pPr>
            <a:r>
              <a:rPr lang="en-US" sz="1700" b="1" dirty="0">
                <a:solidFill>
                  <a:srgbClr val="02C39A"/>
                </a:solidFill>
                <a:latin typeface="Cambria" pitchFamily="34" charset="0"/>
                <a:ea typeface="Cambria" pitchFamily="34" charset="-122"/>
                <a:cs typeface="Cambria" pitchFamily="34" charset="-120"/>
              </a:rPr>
              <a:t>Un hallazgo contraintuitivo</a:t>
            </a:r>
            <a:endParaRPr lang="en-US" sz="1700" dirty="0"/>
          </a:p>
        </p:txBody>
      </p:sp>
      <p:sp>
        <p:nvSpPr>
          <p:cNvPr id="17" name="Text 15"/>
          <p:cNvSpPr/>
          <p:nvPr/>
        </p:nvSpPr>
        <p:spPr>
          <a:xfrm>
            <a:off x="6446520" y="4160520"/>
            <a:ext cx="4800600" cy="1600200"/>
          </a:xfrm>
          <a:prstGeom prst="rect">
            <a:avLst/>
          </a:prstGeom>
          <a:noFill/>
          <a:ln/>
        </p:spPr>
        <p:txBody>
          <a:bodyPr wrap="square" lIns="0" tIns="0" rIns="0" bIns="0" rtlCol="0" anchor="ctr"/>
          <a:lstStyle/>
          <a:p>
            <a:pPr indent="0" marL="0">
              <a:buNone/>
            </a:pPr>
            <a:r>
              <a:rPr lang="en-US" sz="1200" dirty="0">
                <a:solidFill>
                  <a:srgbClr val="C7D2E8"/>
                </a:solidFill>
                <a:latin typeface="Calibri" pitchFamily="34" charset="0"/>
                <a:ea typeface="Calibri" pitchFamily="34" charset="-122"/>
                <a:cs typeface="Calibri" pitchFamily="34" charset="-120"/>
              </a:rPr>
              <a:t>Se probó bajar la cuantización a 4 bits para reducir el peso. Resultó 3.8 veces más lento y ocupando más espacio, sin ganar calidad: ONNX sobre WebAssembly no tiene núcleos de 4 bits para procesador y descuantiza en cada inferencia. La lección para el proyecto: si el peso molesta, la variable a cambiar es el modelo, no el tipo de dato.</a:t>
            </a:r>
            <a:endParaRPr lang="en-US" sz="1200" dirty="0"/>
          </a:p>
        </p:txBody>
      </p:sp>
      <p:sp>
        <p:nvSpPr>
          <p:cNvPr id="18" name="Text 16"/>
          <p:cNvSpPr/>
          <p:nvPr/>
        </p:nvSpPr>
        <p:spPr>
          <a:xfrm>
            <a:off x="640080" y="6327648"/>
            <a:ext cx="10881360" cy="274320"/>
          </a:xfrm>
          <a:prstGeom prst="rect">
            <a:avLst/>
          </a:prstGeom>
          <a:noFill/>
          <a:ln/>
        </p:spPr>
        <p:txBody>
          <a:bodyPr wrap="square" lIns="0" tIns="0" rIns="0" bIns="0" rtlCol="0" anchor="ctr"/>
          <a:lstStyle/>
          <a:p>
            <a:pPr indent="0" marL="0">
              <a:buNone/>
            </a:pPr>
            <a:r>
              <a:rPr lang="en-US" sz="950" dirty="0">
                <a:solidFill>
                  <a:srgbClr val="A8B0BF"/>
                </a:solidFill>
                <a:latin typeface="Calibri" pitchFamily="34" charset="0"/>
                <a:ea typeface="Calibri" pitchFamily="34" charset="-122"/>
                <a:cs typeface="Calibri" pitchFamily="34" charset="-120"/>
              </a:rPr>
              <a:t>Comparativa completa en el documento técnico, sección 5.3</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84048"/>
            <a:ext cx="10881360" cy="685800"/>
          </a:xfrm>
          <a:prstGeom prst="rect">
            <a:avLst/>
          </a:prstGeom>
          <a:noFill/>
          <a:ln/>
        </p:spPr>
        <p:txBody>
          <a:bodyPr wrap="square" rtlCol="0" anchor="ctr"/>
          <a:lstStyle/>
          <a:p>
            <a:pPr indent="0" marL="0">
              <a:buNone/>
            </a:pPr>
            <a:r>
              <a:rPr lang="en-US" sz="3400" b="1" dirty="0">
                <a:solidFill>
                  <a:srgbClr val="1E2433"/>
                </a:solidFill>
                <a:latin typeface="Cambria" pitchFamily="34" charset="0"/>
                <a:ea typeface="Cambria" pitchFamily="34" charset="-122"/>
                <a:cs typeface="Cambria" pitchFamily="34" charset="-120"/>
              </a:rPr>
              <a:t>Cuantización de 8 bits frente a 4 bits</a:t>
            </a:r>
            <a:endParaRPr lang="en-US" sz="3400" dirty="0"/>
          </a:p>
        </p:txBody>
      </p:sp>
      <p:sp>
        <p:nvSpPr>
          <p:cNvPr id="3" name="Text 1"/>
          <p:cNvSpPr/>
          <p:nvPr/>
        </p:nvSpPr>
        <p:spPr>
          <a:xfrm>
            <a:off x="658368" y="1060704"/>
            <a:ext cx="10881360" cy="365760"/>
          </a:xfrm>
          <a:prstGeom prst="rect">
            <a:avLst/>
          </a:prstGeom>
          <a:noFill/>
          <a:ln/>
        </p:spPr>
        <p:txBody>
          <a:bodyPr wrap="square" rtlCol="0" anchor="ctr"/>
          <a:lstStyle/>
          <a:p>
            <a:pPr indent="0" marL="0">
              <a:buNone/>
            </a:pPr>
            <a:r>
              <a:rPr lang="en-US" sz="1400" dirty="0">
                <a:solidFill>
                  <a:srgbClr val="64748B"/>
                </a:solidFill>
                <a:latin typeface="Calibri" pitchFamily="34" charset="0"/>
                <a:ea typeface="Calibri" pitchFamily="34" charset="-122"/>
                <a:cs typeface="Calibri" pitchFamily="34" charset="-120"/>
              </a:rPr>
              <a:t>Menos bits no significó ni menos peso ni más velocidad</a:t>
            </a:r>
            <a:endParaRPr lang="en-US" sz="1400" dirty="0"/>
          </a:p>
        </p:txBody>
      </p:sp>
      <p:graphicFrame>
        <p:nvGraphicFramePr>
          <p:cNvPr id="4" name="Chart 0" descr=""/>
          <p:cNvGraphicFramePr/>
          <p:nvPr/>
        </p:nvGraphicFramePr>
        <p:xfrm>
          <a:off x="640080" y="1691640"/>
          <a:ext cx="6675120" cy="41148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35240" y="1691640"/>
            <a:ext cx="3886200" cy="1920240"/>
          </a:xfrm>
          <a:prstGeom prst="roundRect">
            <a:avLst>
              <a:gd name="adj" fmla="val 2857"/>
            </a:avLst>
          </a:prstGeom>
          <a:solidFill>
            <a:srgbClr val="F1F5F9"/>
          </a:solidFill>
          <a:ln/>
        </p:spPr>
      </p:sp>
      <p:sp>
        <p:nvSpPr>
          <p:cNvPr id="6" name="Text 3"/>
          <p:cNvSpPr/>
          <p:nvPr/>
        </p:nvSpPr>
        <p:spPr>
          <a:xfrm>
            <a:off x="7863840" y="1874520"/>
            <a:ext cx="3474720" cy="320040"/>
          </a:xfrm>
          <a:prstGeom prst="rect">
            <a:avLst/>
          </a:prstGeom>
          <a:noFill/>
          <a:ln/>
        </p:spPr>
        <p:txBody>
          <a:bodyPr wrap="square" lIns="0" tIns="0" rIns="0" bIns="0" rtlCol="0" anchor="ctr"/>
          <a:lstStyle/>
          <a:p>
            <a:pPr indent="0" marL="0">
              <a:buNone/>
            </a:pPr>
            <a:r>
              <a:rPr lang="en-US" sz="1250" b="1" dirty="0">
                <a:solidFill>
                  <a:srgbClr val="64748B"/>
                </a:solidFill>
                <a:latin typeface="Calibri" pitchFamily="34" charset="0"/>
                <a:ea typeface="Calibri" pitchFamily="34" charset="-122"/>
                <a:cs typeface="Calibri" pitchFamily="34" charset="-120"/>
              </a:rPr>
              <a:t>Calidad de corrección</a:t>
            </a:r>
            <a:endParaRPr lang="en-US" sz="1250" dirty="0"/>
          </a:p>
        </p:txBody>
      </p:sp>
      <p:sp>
        <p:nvSpPr>
          <p:cNvPr id="7" name="Text 4"/>
          <p:cNvSpPr/>
          <p:nvPr/>
        </p:nvSpPr>
        <p:spPr>
          <a:xfrm>
            <a:off x="7863840" y="2240280"/>
            <a:ext cx="3474720" cy="548640"/>
          </a:xfrm>
          <a:prstGeom prst="rect">
            <a:avLst/>
          </a:prstGeom>
          <a:noFill/>
          <a:ln/>
        </p:spPr>
        <p:txBody>
          <a:bodyPr wrap="square" lIns="0" tIns="0" rIns="0" bIns="0" rtlCol="0" anchor="ctr"/>
          <a:lstStyle/>
          <a:p>
            <a:pPr indent="0" marL="0">
              <a:buNone/>
            </a:pPr>
            <a:r>
              <a:rPr lang="en-US" sz="2600" b="1" dirty="0">
                <a:solidFill>
                  <a:srgbClr val="1E2433"/>
                </a:solidFill>
                <a:latin typeface="Cambria" pitchFamily="34" charset="0"/>
                <a:ea typeface="Cambria" pitchFamily="34" charset="-122"/>
                <a:cs typeface="Cambria" pitchFamily="34" charset="-120"/>
              </a:rPr>
              <a:t>6 de 8 en ambas</a:t>
            </a:r>
            <a:endParaRPr lang="en-US" sz="2600" dirty="0"/>
          </a:p>
        </p:txBody>
      </p:sp>
      <p:sp>
        <p:nvSpPr>
          <p:cNvPr id="8" name="Text 5"/>
          <p:cNvSpPr/>
          <p:nvPr/>
        </p:nvSpPr>
        <p:spPr>
          <a:xfrm>
            <a:off x="7863840" y="2788920"/>
            <a:ext cx="3474720" cy="6858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Idéntica en ambas variantes: no hubo compensación alguna por el peor rendimiento.</a:t>
            </a:r>
            <a:endParaRPr lang="en-US" sz="1150" dirty="0"/>
          </a:p>
        </p:txBody>
      </p:sp>
      <p:sp>
        <p:nvSpPr>
          <p:cNvPr id="9" name="Shape 6"/>
          <p:cNvSpPr/>
          <p:nvPr/>
        </p:nvSpPr>
        <p:spPr>
          <a:xfrm>
            <a:off x="7635240" y="3749040"/>
            <a:ext cx="3886200" cy="2057400"/>
          </a:xfrm>
          <a:prstGeom prst="roundRect">
            <a:avLst>
              <a:gd name="adj" fmla="val 2667"/>
            </a:avLst>
          </a:prstGeom>
          <a:solidFill>
            <a:srgbClr val="21295C"/>
          </a:solidFill>
          <a:ln/>
        </p:spPr>
      </p:sp>
      <p:sp>
        <p:nvSpPr>
          <p:cNvPr id="10" name="Text 7"/>
          <p:cNvSpPr/>
          <p:nvPr/>
        </p:nvSpPr>
        <p:spPr>
          <a:xfrm>
            <a:off x="7863840" y="3931920"/>
            <a:ext cx="3474720" cy="320040"/>
          </a:xfrm>
          <a:prstGeom prst="rect">
            <a:avLst/>
          </a:prstGeom>
          <a:noFill/>
          <a:ln/>
        </p:spPr>
        <p:txBody>
          <a:bodyPr wrap="square" lIns="0" tIns="0" rIns="0" bIns="0" rtlCol="0" anchor="ctr"/>
          <a:lstStyle/>
          <a:p>
            <a:pPr indent="0" marL="0">
              <a:buNone/>
            </a:pPr>
            <a:r>
              <a:rPr lang="en-US" sz="1600" b="1" dirty="0">
                <a:solidFill>
                  <a:srgbClr val="02C39A"/>
                </a:solidFill>
                <a:latin typeface="Cambria" pitchFamily="34" charset="0"/>
                <a:ea typeface="Cambria" pitchFamily="34" charset="-122"/>
                <a:cs typeface="Cambria" pitchFamily="34" charset="-120"/>
              </a:rPr>
              <a:t>La causa</a:t>
            </a:r>
            <a:endParaRPr lang="en-US" sz="1600" dirty="0"/>
          </a:p>
        </p:txBody>
      </p:sp>
      <p:sp>
        <p:nvSpPr>
          <p:cNvPr id="11" name="Text 8"/>
          <p:cNvSpPr/>
          <p:nvPr/>
        </p:nvSpPr>
        <p:spPr>
          <a:xfrm>
            <a:off x="7863840" y="4297680"/>
            <a:ext cx="3474720" cy="1371600"/>
          </a:xfrm>
          <a:prstGeom prst="rect">
            <a:avLst/>
          </a:prstGeom>
          <a:noFill/>
          <a:ln/>
        </p:spPr>
        <p:txBody>
          <a:bodyPr wrap="square" lIns="0" tIns="0" rIns="0" bIns="0" rtlCol="0" anchor="ctr"/>
          <a:lstStyle/>
          <a:p>
            <a:pPr indent="0" marL="0">
              <a:buNone/>
            </a:pPr>
            <a:r>
              <a:rPr lang="en-US" sz="1100" dirty="0">
                <a:solidFill>
                  <a:srgbClr val="C7D2E8"/>
                </a:solidFill>
                <a:latin typeface="Calibri" pitchFamily="34" charset="0"/>
                <a:ea typeface="Calibri" pitchFamily="34" charset="-122"/>
                <a:cs typeface="Calibri" pitchFamily="34" charset="-120"/>
              </a:rPr>
              <a:t>ONNX Runtime sobre WebAssembly no dispone de núcleos de cómputo para enteros de 4 bits en procesador, así que descuantiza el modelo en tiempo de ejecución en cada inferencia. El ahorro teórico de memoria se paga como trabajo extra en cada frase.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84048"/>
            <a:ext cx="10881360" cy="685800"/>
          </a:xfrm>
          <a:prstGeom prst="rect">
            <a:avLst/>
          </a:prstGeom>
          <a:noFill/>
          <a:ln/>
        </p:spPr>
        <p:txBody>
          <a:bodyPr wrap="square" rtlCol="0" anchor="ctr"/>
          <a:lstStyle/>
          <a:p>
            <a:pPr indent="0" marL="0">
              <a:buNone/>
            </a:pPr>
            <a:r>
              <a:rPr lang="en-US" sz="3400" b="1" dirty="0">
                <a:solidFill>
                  <a:srgbClr val="1E2433"/>
                </a:solidFill>
                <a:latin typeface="Cambria" pitchFamily="34" charset="0"/>
                <a:ea typeface="Cambria" pitchFamily="34" charset="-122"/>
                <a:cs typeface="Cambria" pitchFamily="34" charset="-120"/>
              </a:rPr>
              <a:t>Interfaz y experiencia de uso</a:t>
            </a:r>
            <a:endParaRPr lang="en-US" sz="3400" dirty="0"/>
          </a:p>
        </p:txBody>
      </p:sp>
      <p:sp>
        <p:nvSpPr>
          <p:cNvPr id="3" name="Text 1"/>
          <p:cNvSpPr/>
          <p:nvPr/>
        </p:nvSpPr>
        <p:spPr>
          <a:xfrm>
            <a:off x="658368" y="1060704"/>
            <a:ext cx="10881360" cy="365760"/>
          </a:xfrm>
          <a:prstGeom prst="rect">
            <a:avLst/>
          </a:prstGeom>
          <a:noFill/>
          <a:ln/>
        </p:spPr>
        <p:txBody>
          <a:bodyPr wrap="square" rtlCol="0" anchor="ctr"/>
          <a:lstStyle/>
          <a:p>
            <a:pPr indent="0" marL="0">
              <a:buNone/>
            </a:pPr>
            <a:r>
              <a:rPr lang="en-US" sz="1400" dirty="0">
                <a:solidFill>
                  <a:srgbClr val="64748B"/>
                </a:solidFill>
                <a:latin typeface="Calibri" pitchFamily="34" charset="0"/>
                <a:ea typeface="Calibri" pitchFamily="34" charset="-122"/>
                <a:cs typeface="Calibri" pitchFamily="34" charset="-120"/>
              </a:rPr>
              <a:t>El diseño nació en Figma y se implementó sobre los contratos reales del proyecto</a:t>
            </a:r>
            <a:endParaRPr lang="en-US" sz="1400" dirty="0"/>
          </a:p>
        </p:txBody>
      </p:sp>
      <p:sp>
        <p:nvSpPr>
          <p:cNvPr id="4" name="Shape 2"/>
          <p:cNvSpPr/>
          <p:nvPr/>
        </p:nvSpPr>
        <p:spPr>
          <a:xfrm>
            <a:off x="640080" y="1691640"/>
            <a:ext cx="5349240" cy="1280160"/>
          </a:xfrm>
          <a:prstGeom prst="roundRect">
            <a:avLst>
              <a:gd name="adj" fmla="val 4286"/>
            </a:avLst>
          </a:prstGeom>
          <a:solidFill>
            <a:srgbClr val="F1F5F9"/>
          </a:solidFill>
          <a:ln/>
        </p:spPr>
      </p:sp>
      <p:sp>
        <p:nvSpPr>
          <p:cNvPr id="5" name="Shape 3"/>
          <p:cNvSpPr/>
          <p:nvPr/>
        </p:nvSpPr>
        <p:spPr>
          <a:xfrm>
            <a:off x="914400" y="1947672"/>
            <a:ext cx="384048" cy="384048"/>
          </a:xfrm>
          <a:prstGeom prst="ellipse">
            <a:avLst/>
          </a:prstGeom>
          <a:solidFill>
            <a:srgbClr val="065A82"/>
          </a:solidFill>
          <a:ln/>
        </p:spPr>
      </p:sp>
      <p:sp>
        <p:nvSpPr>
          <p:cNvPr id="6" name="Text 4"/>
          <p:cNvSpPr/>
          <p:nvPr/>
        </p:nvSpPr>
        <p:spPr>
          <a:xfrm>
            <a:off x="914400" y="19476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508760" y="1892808"/>
            <a:ext cx="4206240" cy="292608"/>
          </a:xfrm>
          <a:prstGeom prst="rect">
            <a:avLst/>
          </a:prstGeom>
          <a:noFill/>
          <a:ln/>
        </p:spPr>
        <p:txBody>
          <a:bodyPr wrap="square" lIns="0" tIns="0" rIns="0" bIns="0" rtlCol="0" anchor="ctr"/>
          <a:lstStyle/>
          <a:p>
            <a:pPr indent="0" marL="0">
              <a:buNone/>
            </a:pPr>
            <a:r>
              <a:rPr lang="en-US" sz="1550" b="1" dirty="0">
                <a:solidFill>
                  <a:srgbClr val="1E2433"/>
                </a:solidFill>
                <a:latin typeface="Cambria" pitchFamily="34" charset="0"/>
                <a:ea typeface="Cambria" pitchFamily="34" charset="-122"/>
                <a:cs typeface="Cambria" pitchFamily="34" charset="-120"/>
              </a:rPr>
              <a:t>Sistema de diseño</a:t>
            </a:r>
            <a:endParaRPr lang="en-US" sz="1550" dirty="0"/>
          </a:p>
        </p:txBody>
      </p:sp>
      <p:sp>
        <p:nvSpPr>
          <p:cNvPr id="8" name="Text 6"/>
          <p:cNvSpPr/>
          <p:nvPr/>
        </p:nvSpPr>
        <p:spPr>
          <a:xfrm>
            <a:off x="1508760" y="2203704"/>
            <a:ext cx="4297680" cy="6858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Paleta, tipografías, espaciados y variables de tema, con soporte de distintas resoluciones</a:t>
            </a:r>
            <a:endParaRPr lang="en-US" sz="1150" dirty="0"/>
          </a:p>
        </p:txBody>
      </p:sp>
      <p:sp>
        <p:nvSpPr>
          <p:cNvPr id="9" name="Shape 7"/>
          <p:cNvSpPr/>
          <p:nvPr/>
        </p:nvSpPr>
        <p:spPr>
          <a:xfrm>
            <a:off x="6172200" y="1691640"/>
            <a:ext cx="5349240" cy="1280160"/>
          </a:xfrm>
          <a:prstGeom prst="roundRect">
            <a:avLst>
              <a:gd name="adj" fmla="val 4286"/>
            </a:avLst>
          </a:prstGeom>
          <a:solidFill>
            <a:srgbClr val="F1F5F9"/>
          </a:solidFill>
          <a:ln/>
        </p:spPr>
      </p:sp>
      <p:sp>
        <p:nvSpPr>
          <p:cNvPr id="10" name="Shape 8"/>
          <p:cNvSpPr/>
          <p:nvPr/>
        </p:nvSpPr>
        <p:spPr>
          <a:xfrm>
            <a:off x="6446520" y="1947672"/>
            <a:ext cx="384048" cy="384048"/>
          </a:xfrm>
          <a:prstGeom prst="ellipse">
            <a:avLst/>
          </a:prstGeom>
          <a:solidFill>
            <a:srgbClr val="1C7293"/>
          </a:solidFill>
          <a:ln/>
        </p:spPr>
      </p:sp>
      <p:sp>
        <p:nvSpPr>
          <p:cNvPr id="11" name="Text 9"/>
          <p:cNvSpPr/>
          <p:nvPr/>
        </p:nvSpPr>
        <p:spPr>
          <a:xfrm>
            <a:off x="6446520" y="19476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7040880" y="1892808"/>
            <a:ext cx="4206240" cy="292608"/>
          </a:xfrm>
          <a:prstGeom prst="rect">
            <a:avLst/>
          </a:prstGeom>
          <a:noFill/>
          <a:ln/>
        </p:spPr>
        <p:txBody>
          <a:bodyPr wrap="square" lIns="0" tIns="0" rIns="0" bIns="0" rtlCol="0" anchor="ctr"/>
          <a:lstStyle/>
          <a:p>
            <a:pPr indent="0" marL="0">
              <a:buNone/>
            </a:pPr>
            <a:r>
              <a:rPr lang="en-US" sz="1550" b="1" dirty="0">
                <a:solidFill>
                  <a:srgbClr val="1E2433"/>
                </a:solidFill>
                <a:latin typeface="Cambria" pitchFamily="34" charset="0"/>
                <a:ea typeface="Cambria" pitchFamily="34" charset="-122"/>
                <a:cs typeface="Cambria" pitchFamily="34" charset="-120"/>
              </a:rPr>
              <a:t>Pantalla de carga</a:t>
            </a:r>
            <a:endParaRPr lang="en-US" sz="1550" dirty="0"/>
          </a:p>
        </p:txBody>
      </p:sp>
      <p:sp>
        <p:nvSpPr>
          <p:cNvPr id="13" name="Text 11"/>
          <p:cNvSpPr/>
          <p:nvPr/>
        </p:nvSpPr>
        <p:spPr>
          <a:xfrm>
            <a:off x="7040880" y="2203704"/>
            <a:ext cx="4297680" cy="6858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La primera descarga tarda: la aplicación muestra el avance por modelo en lugar de parecer congelada</a:t>
            </a:r>
            <a:endParaRPr lang="en-US" sz="1150" dirty="0"/>
          </a:p>
        </p:txBody>
      </p:sp>
      <p:sp>
        <p:nvSpPr>
          <p:cNvPr id="14" name="Shape 12"/>
          <p:cNvSpPr/>
          <p:nvPr/>
        </p:nvSpPr>
        <p:spPr>
          <a:xfrm>
            <a:off x="640080" y="3154680"/>
            <a:ext cx="5349240" cy="1280160"/>
          </a:xfrm>
          <a:prstGeom prst="roundRect">
            <a:avLst>
              <a:gd name="adj" fmla="val 4286"/>
            </a:avLst>
          </a:prstGeom>
          <a:solidFill>
            <a:srgbClr val="F1F5F9"/>
          </a:solidFill>
          <a:ln/>
        </p:spPr>
      </p:sp>
      <p:sp>
        <p:nvSpPr>
          <p:cNvPr id="15" name="Shape 13"/>
          <p:cNvSpPr/>
          <p:nvPr/>
        </p:nvSpPr>
        <p:spPr>
          <a:xfrm>
            <a:off x="914400" y="3410712"/>
            <a:ext cx="384048" cy="384048"/>
          </a:xfrm>
          <a:prstGeom prst="ellipse">
            <a:avLst/>
          </a:prstGeom>
          <a:solidFill>
            <a:srgbClr val="0F766E"/>
          </a:solidFill>
          <a:ln/>
        </p:spPr>
      </p:sp>
      <p:sp>
        <p:nvSpPr>
          <p:cNvPr id="16" name="Text 14"/>
          <p:cNvSpPr/>
          <p:nvPr/>
        </p:nvSpPr>
        <p:spPr>
          <a:xfrm>
            <a:off x="914400" y="341071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508760" y="3355848"/>
            <a:ext cx="4206240" cy="292608"/>
          </a:xfrm>
          <a:prstGeom prst="rect">
            <a:avLst/>
          </a:prstGeom>
          <a:noFill/>
          <a:ln/>
        </p:spPr>
        <p:txBody>
          <a:bodyPr wrap="square" lIns="0" tIns="0" rIns="0" bIns="0" rtlCol="0" anchor="ctr"/>
          <a:lstStyle/>
          <a:p>
            <a:pPr indent="0" marL="0">
              <a:buNone/>
            </a:pPr>
            <a:r>
              <a:rPr lang="en-US" sz="1550" b="1" dirty="0">
                <a:solidFill>
                  <a:srgbClr val="1E2433"/>
                </a:solidFill>
                <a:latin typeface="Cambria" pitchFamily="34" charset="0"/>
                <a:ea typeface="Cambria" pitchFamily="34" charset="-122"/>
                <a:cs typeface="Cambria" pitchFamily="34" charset="-120"/>
              </a:rPr>
              <a:t>Conversación</a:t>
            </a:r>
            <a:endParaRPr lang="en-US" sz="1550" dirty="0"/>
          </a:p>
        </p:txBody>
      </p:sp>
      <p:sp>
        <p:nvSpPr>
          <p:cNvPr id="18" name="Text 16"/>
          <p:cNvSpPr/>
          <p:nvPr/>
        </p:nvSpPr>
        <p:spPr>
          <a:xfrm>
            <a:off x="1508760" y="3666744"/>
            <a:ext cx="4297680" cy="6858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Burbujas diferenciadas, botón de micrófono que pulsa al grabar e indicador de procesamiento</a:t>
            </a:r>
            <a:endParaRPr lang="en-US" sz="1150" dirty="0"/>
          </a:p>
        </p:txBody>
      </p:sp>
      <p:sp>
        <p:nvSpPr>
          <p:cNvPr id="19" name="Shape 17"/>
          <p:cNvSpPr/>
          <p:nvPr/>
        </p:nvSpPr>
        <p:spPr>
          <a:xfrm>
            <a:off x="6172200" y="3154680"/>
            <a:ext cx="5349240" cy="1280160"/>
          </a:xfrm>
          <a:prstGeom prst="roundRect">
            <a:avLst>
              <a:gd name="adj" fmla="val 4286"/>
            </a:avLst>
          </a:prstGeom>
          <a:solidFill>
            <a:srgbClr val="F1F5F9"/>
          </a:solidFill>
          <a:ln/>
        </p:spPr>
      </p:sp>
      <p:sp>
        <p:nvSpPr>
          <p:cNvPr id="20" name="Shape 18"/>
          <p:cNvSpPr/>
          <p:nvPr/>
        </p:nvSpPr>
        <p:spPr>
          <a:xfrm>
            <a:off x="6446520" y="3410712"/>
            <a:ext cx="384048" cy="384048"/>
          </a:xfrm>
          <a:prstGeom prst="ellipse">
            <a:avLst/>
          </a:prstGeom>
          <a:solidFill>
            <a:srgbClr val="21295C"/>
          </a:solidFill>
          <a:ln/>
        </p:spPr>
      </p:sp>
      <p:sp>
        <p:nvSpPr>
          <p:cNvPr id="21" name="Text 19"/>
          <p:cNvSpPr/>
          <p:nvPr/>
        </p:nvSpPr>
        <p:spPr>
          <a:xfrm>
            <a:off x="6446520" y="341071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7040880" y="3355848"/>
            <a:ext cx="4206240" cy="292608"/>
          </a:xfrm>
          <a:prstGeom prst="rect">
            <a:avLst/>
          </a:prstGeom>
          <a:noFill/>
          <a:ln/>
        </p:spPr>
        <p:txBody>
          <a:bodyPr wrap="square" lIns="0" tIns="0" rIns="0" bIns="0" rtlCol="0" anchor="ctr"/>
          <a:lstStyle/>
          <a:p>
            <a:pPr indent="0" marL="0">
              <a:buNone/>
            </a:pPr>
            <a:r>
              <a:rPr lang="en-US" sz="1550" b="1" dirty="0">
                <a:solidFill>
                  <a:srgbClr val="1E2433"/>
                </a:solidFill>
                <a:latin typeface="Cambria" pitchFamily="34" charset="0"/>
                <a:ea typeface="Cambria" pitchFamily="34" charset="-122"/>
                <a:cs typeface="Cambria" pitchFamily="34" charset="-120"/>
              </a:rPr>
              <a:t>Correcciones visibles</a:t>
            </a:r>
            <a:endParaRPr lang="en-US" sz="1550" dirty="0"/>
          </a:p>
        </p:txBody>
      </p:sp>
      <p:sp>
        <p:nvSpPr>
          <p:cNvPr id="23" name="Text 21"/>
          <p:cNvSpPr/>
          <p:nvPr/>
        </p:nvSpPr>
        <p:spPr>
          <a:xfrm>
            <a:off x="7040880" y="3666744"/>
            <a:ext cx="4297680" cy="6858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La palabra con error aparece tachada y la corrección resaltada, sobre las ediciones que devuelve el modelo</a:t>
            </a:r>
            <a:endParaRPr lang="en-US" sz="1150" dirty="0"/>
          </a:p>
        </p:txBody>
      </p:sp>
      <p:sp>
        <p:nvSpPr>
          <p:cNvPr id="24" name="Shape 22"/>
          <p:cNvSpPr/>
          <p:nvPr/>
        </p:nvSpPr>
        <p:spPr>
          <a:xfrm>
            <a:off x="640080" y="4709160"/>
            <a:ext cx="10881360" cy="1280160"/>
          </a:xfrm>
          <a:prstGeom prst="roundRect">
            <a:avLst>
              <a:gd name="adj" fmla="val 4286"/>
            </a:avLst>
          </a:prstGeom>
          <a:solidFill>
            <a:srgbClr val="21295C"/>
          </a:solidFill>
          <a:ln/>
        </p:spPr>
      </p:sp>
      <p:sp>
        <p:nvSpPr>
          <p:cNvPr id="25" name="Text 23"/>
          <p:cNvSpPr/>
          <p:nvPr/>
        </p:nvSpPr>
        <p:spPr>
          <a:xfrm>
            <a:off x="960120" y="4956048"/>
            <a:ext cx="10241280" cy="822960"/>
          </a:xfrm>
          <a:prstGeom prst="rect">
            <a:avLst/>
          </a:prstGeom>
          <a:noFill/>
          <a:ln/>
        </p:spPr>
        <p:txBody>
          <a:bodyPr wrap="square" lIns="0" tIns="0" rIns="0" bIns="0" rtlCol="0" anchor="ctr"/>
          <a:lstStyle/>
          <a:p>
            <a:pPr indent="0" marL="0">
              <a:buNone/>
            </a:pPr>
            <a:r>
              <a:rPr lang="en-US" sz="1350" dirty="0">
                <a:solidFill>
                  <a:srgbClr val="C7D2E8"/>
                </a:solidFill>
                <a:latin typeface="Calibri" pitchFamily="34" charset="0"/>
                <a:ea typeface="Calibri" pitchFamily="34" charset="-122"/>
                <a:cs typeface="Calibri" pitchFamily="34" charset="-120"/>
              </a:rPr>
              <a:t>Las pantallas de pronunciación, sugerencias y progreso ya están diseñadas, pero el módulo que las alimenta llega en el Avance 2. Se presentan como diseño, no como función terminada.</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097280" y="1938528"/>
            <a:ext cx="131916" cy="54864"/>
          </a:xfrm>
          <a:prstGeom prst="roundRect">
            <a:avLst>
              <a:gd name="adj" fmla="val 666667"/>
            </a:avLst>
          </a:prstGeom>
          <a:solidFill>
            <a:srgbClr val="2E3A73"/>
          </a:solidFill>
          <a:ln/>
        </p:spPr>
      </p:sp>
      <p:sp>
        <p:nvSpPr>
          <p:cNvPr id="3" name="Shape 1"/>
          <p:cNvSpPr/>
          <p:nvPr/>
        </p:nvSpPr>
        <p:spPr>
          <a:xfrm>
            <a:off x="1390426" y="1911564"/>
            <a:ext cx="131916" cy="108793"/>
          </a:xfrm>
          <a:prstGeom prst="roundRect">
            <a:avLst>
              <a:gd name="adj" fmla="val 336198"/>
            </a:avLst>
          </a:prstGeom>
          <a:solidFill>
            <a:srgbClr val="2E3A73"/>
          </a:solidFill>
          <a:ln/>
        </p:spPr>
      </p:sp>
      <p:sp>
        <p:nvSpPr>
          <p:cNvPr id="4" name="Shape 2"/>
          <p:cNvSpPr/>
          <p:nvPr/>
        </p:nvSpPr>
        <p:spPr>
          <a:xfrm>
            <a:off x="1683572" y="1876776"/>
            <a:ext cx="131916" cy="178368"/>
          </a:xfrm>
          <a:prstGeom prst="roundRect">
            <a:avLst>
              <a:gd name="adj" fmla="val 277267"/>
            </a:avLst>
          </a:prstGeom>
          <a:solidFill>
            <a:srgbClr val="2E3A73"/>
          </a:solidFill>
          <a:ln/>
        </p:spPr>
      </p:sp>
      <p:sp>
        <p:nvSpPr>
          <p:cNvPr id="5" name="Shape 3"/>
          <p:cNvSpPr/>
          <p:nvPr/>
        </p:nvSpPr>
        <p:spPr>
          <a:xfrm>
            <a:off x="1976718" y="1843922"/>
            <a:ext cx="131916" cy="244076"/>
          </a:xfrm>
          <a:prstGeom prst="roundRect">
            <a:avLst>
              <a:gd name="adj" fmla="val 277267"/>
            </a:avLst>
          </a:prstGeom>
          <a:solidFill>
            <a:srgbClr val="2E3A73"/>
          </a:solidFill>
          <a:ln/>
        </p:spPr>
      </p:sp>
      <p:sp>
        <p:nvSpPr>
          <p:cNvPr id="6" name="Shape 4"/>
          <p:cNvSpPr/>
          <p:nvPr/>
        </p:nvSpPr>
        <p:spPr>
          <a:xfrm>
            <a:off x="2269864" y="1811510"/>
            <a:ext cx="131916" cy="308901"/>
          </a:xfrm>
          <a:prstGeom prst="roundRect">
            <a:avLst>
              <a:gd name="adj" fmla="val 277267"/>
            </a:avLst>
          </a:prstGeom>
          <a:solidFill>
            <a:srgbClr val="2E3A73"/>
          </a:solidFill>
          <a:ln/>
        </p:spPr>
      </p:sp>
      <p:sp>
        <p:nvSpPr>
          <p:cNvPr id="7" name="Shape 5"/>
          <p:cNvSpPr/>
          <p:nvPr/>
        </p:nvSpPr>
        <p:spPr>
          <a:xfrm>
            <a:off x="2563009" y="1779194"/>
            <a:ext cx="131916" cy="373532"/>
          </a:xfrm>
          <a:prstGeom prst="roundRect">
            <a:avLst>
              <a:gd name="adj" fmla="val 277267"/>
            </a:avLst>
          </a:prstGeom>
          <a:solidFill>
            <a:srgbClr val="2E3A73"/>
          </a:solidFill>
          <a:ln/>
        </p:spPr>
      </p:sp>
      <p:sp>
        <p:nvSpPr>
          <p:cNvPr id="8" name="Shape 6"/>
          <p:cNvSpPr/>
          <p:nvPr/>
        </p:nvSpPr>
        <p:spPr>
          <a:xfrm>
            <a:off x="2856155" y="1746977"/>
            <a:ext cx="131916" cy="437967"/>
          </a:xfrm>
          <a:prstGeom prst="roundRect">
            <a:avLst>
              <a:gd name="adj" fmla="val 277267"/>
            </a:avLst>
          </a:prstGeom>
          <a:solidFill>
            <a:srgbClr val="2E3A73"/>
          </a:solidFill>
          <a:ln/>
        </p:spPr>
      </p:sp>
      <p:sp>
        <p:nvSpPr>
          <p:cNvPr id="9" name="Shape 7"/>
          <p:cNvSpPr/>
          <p:nvPr/>
        </p:nvSpPr>
        <p:spPr>
          <a:xfrm>
            <a:off x="3149301" y="1715008"/>
            <a:ext cx="131916" cy="501904"/>
          </a:xfrm>
          <a:prstGeom prst="roundRect">
            <a:avLst>
              <a:gd name="adj" fmla="val 277267"/>
            </a:avLst>
          </a:prstGeom>
          <a:solidFill>
            <a:srgbClr val="2E3A73"/>
          </a:solidFill>
          <a:ln/>
        </p:spPr>
      </p:sp>
      <p:sp>
        <p:nvSpPr>
          <p:cNvPr id="10" name="Shape 8"/>
          <p:cNvSpPr/>
          <p:nvPr/>
        </p:nvSpPr>
        <p:spPr>
          <a:xfrm>
            <a:off x="3442447" y="1683512"/>
            <a:ext cx="131916" cy="564897"/>
          </a:xfrm>
          <a:prstGeom prst="roundRect">
            <a:avLst>
              <a:gd name="adj" fmla="val 277267"/>
            </a:avLst>
          </a:prstGeom>
          <a:solidFill>
            <a:srgbClr val="2E3A73"/>
          </a:solidFill>
          <a:ln/>
        </p:spPr>
      </p:sp>
      <p:sp>
        <p:nvSpPr>
          <p:cNvPr id="11" name="Shape 9"/>
          <p:cNvSpPr/>
          <p:nvPr/>
        </p:nvSpPr>
        <p:spPr>
          <a:xfrm>
            <a:off x="3735593" y="1652752"/>
            <a:ext cx="131916" cy="626417"/>
          </a:xfrm>
          <a:prstGeom prst="roundRect">
            <a:avLst>
              <a:gd name="adj" fmla="val 277267"/>
            </a:avLst>
          </a:prstGeom>
          <a:solidFill>
            <a:srgbClr val="2E3A73"/>
          </a:solidFill>
          <a:ln/>
        </p:spPr>
      </p:sp>
      <p:sp>
        <p:nvSpPr>
          <p:cNvPr id="12" name="Shape 10"/>
          <p:cNvSpPr/>
          <p:nvPr/>
        </p:nvSpPr>
        <p:spPr>
          <a:xfrm>
            <a:off x="4028739" y="1623015"/>
            <a:ext cx="131916" cy="685891"/>
          </a:xfrm>
          <a:prstGeom prst="roundRect">
            <a:avLst>
              <a:gd name="adj" fmla="val 277267"/>
            </a:avLst>
          </a:prstGeom>
          <a:solidFill>
            <a:srgbClr val="2E3A73"/>
          </a:solidFill>
          <a:ln/>
        </p:spPr>
      </p:sp>
      <p:sp>
        <p:nvSpPr>
          <p:cNvPr id="13" name="Shape 11"/>
          <p:cNvSpPr/>
          <p:nvPr/>
        </p:nvSpPr>
        <p:spPr>
          <a:xfrm>
            <a:off x="4321885" y="1594599"/>
            <a:ext cx="131916" cy="742721"/>
          </a:xfrm>
          <a:prstGeom prst="roundRect">
            <a:avLst>
              <a:gd name="adj" fmla="val 277267"/>
            </a:avLst>
          </a:prstGeom>
          <a:solidFill>
            <a:srgbClr val="2E3A73"/>
          </a:solidFill>
          <a:ln/>
        </p:spPr>
      </p:sp>
      <p:sp>
        <p:nvSpPr>
          <p:cNvPr id="14" name="Shape 12"/>
          <p:cNvSpPr/>
          <p:nvPr/>
        </p:nvSpPr>
        <p:spPr>
          <a:xfrm>
            <a:off x="4615031" y="1567808"/>
            <a:ext cx="131916" cy="796304"/>
          </a:xfrm>
          <a:prstGeom prst="roundRect">
            <a:avLst>
              <a:gd name="adj" fmla="val 277267"/>
            </a:avLst>
          </a:prstGeom>
          <a:solidFill>
            <a:srgbClr val="2E3A73"/>
          </a:solidFill>
          <a:ln/>
        </p:spPr>
      </p:sp>
      <p:sp>
        <p:nvSpPr>
          <p:cNvPr id="15" name="Shape 13"/>
          <p:cNvSpPr/>
          <p:nvPr/>
        </p:nvSpPr>
        <p:spPr>
          <a:xfrm>
            <a:off x="4908176" y="1542941"/>
            <a:ext cx="131916" cy="846037"/>
          </a:xfrm>
          <a:prstGeom prst="roundRect">
            <a:avLst>
              <a:gd name="adj" fmla="val 277267"/>
            </a:avLst>
          </a:prstGeom>
          <a:solidFill>
            <a:srgbClr val="2E3A73"/>
          </a:solidFill>
          <a:ln/>
        </p:spPr>
      </p:sp>
      <p:sp>
        <p:nvSpPr>
          <p:cNvPr id="16" name="Shape 14"/>
          <p:cNvSpPr/>
          <p:nvPr/>
        </p:nvSpPr>
        <p:spPr>
          <a:xfrm>
            <a:off x="5201322" y="1520294"/>
            <a:ext cx="131916" cy="891333"/>
          </a:xfrm>
          <a:prstGeom prst="roundRect">
            <a:avLst>
              <a:gd name="adj" fmla="val 277267"/>
            </a:avLst>
          </a:prstGeom>
          <a:solidFill>
            <a:srgbClr val="2E3A73"/>
          </a:solidFill>
          <a:ln/>
        </p:spPr>
      </p:sp>
      <p:sp>
        <p:nvSpPr>
          <p:cNvPr id="17" name="Shape 15"/>
          <p:cNvSpPr/>
          <p:nvPr/>
        </p:nvSpPr>
        <p:spPr>
          <a:xfrm>
            <a:off x="5494468" y="1500149"/>
            <a:ext cx="131916" cy="931622"/>
          </a:xfrm>
          <a:prstGeom prst="roundRect">
            <a:avLst>
              <a:gd name="adj" fmla="val 277267"/>
            </a:avLst>
          </a:prstGeom>
          <a:solidFill>
            <a:srgbClr val="2E3A73"/>
          </a:solidFill>
          <a:ln/>
        </p:spPr>
      </p:sp>
      <p:sp>
        <p:nvSpPr>
          <p:cNvPr id="18" name="Shape 16"/>
          <p:cNvSpPr/>
          <p:nvPr/>
        </p:nvSpPr>
        <p:spPr>
          <a:xfrm>
            <a:off x="5787614" y="1482778"/>
            <a:ext cx="131916" cy="966364"/>
          </a:xfrm>
          <a:prstGeom prst="roundRect">
            <a:avLst>
              <a:gd name="adj" fmla="val 277267"/>
            </a:avLst>
          </a:prstGeom>
          <a:solidFill>
            <a:srgbClr val="2E3A73"/>
          </a:solidFill>
          <a:ln/>
        </p:spPr>
      </p:sp>
      <p:sp>
        <p:nvSpPr>
          <p:cNvPr id="19" name="Shape 17"/>
          <p:cNvSpPr/>
          <p:nvPr/>
        </p:nvSpPr>
        <p:spPr>
          <a:xfrm>
            <a:off x="6080760" y="1468436"/>
            <a:ext cx="131916" cy="995048"/>
          </a:xfrm>
          <a:prstGeom prst="roundRect">
            <a:avLst>
              <a:gd name="adj" fmla="val 277267"/>
            </a:avLst>
          </a:prstGeom>
          <a:solidFill>
            <a:srgbClr val="2E3A73"/>
          </a:solidFill>
          <a:ln/>
        </p:spPr>
      </p:sp>
      <p:sp>
        <p:nvSpPr>
          <p:cNvPr id="20" name="Shape 18"/>
          <p:cNvSpPr/>
          <p:nvPr/>
        </p:nvSpPr>
        <p:spPr>
          <a:xfrm>
            <a:off x="6373906" y="1457360"/>
            <a:ext cx="131916" cy="1017201"/>
          </a:xfrm>
          <a:prstGeom prst="roundRect">
            <a:avLst>
              <a:gd name="adj" fmla="val 277267"/>
            </a:avLst>
          </a:prstGeom>
          <a:solidFill>
            <a:srgbClr val="2E3A73"/>
          </a:solidFill>
          <a:ln/>
        </p:spPr>
      </p:sp>
      <p:sp>
        <p:nvSpPr>
          <p:cNvPr id="21" name="Shape 19"/>
          <p:cNvSpPr/>
          <p:nvPr/>
        </p:nvSpPr>
        <p:spPr>
          <a:xfrm>
            <a:off x="6667052" y="1449767"/>
            <a:ext cx="131916" cy="1032387"/>
          </a:xfrm>
          <a:prstGeom prst="roundRect">
            <a:avLst>
              <a:gd name="adj" fmla="val 277267"/>
            </a:avLst>
          </a:prstGeom>
          <a:solidFill>
            <a:srgbClr val="2E3A73"/>
          </a:solidFill>
          <a:ln/>
        </p:spPr>
      </p:sp>
      <p:sp>
        <p:nvSpPr>
          <p:cNvPr id="22" name="Shape 20"/>
          <p:cNvSpPr/>
          <p:nvPr/>
        </p:nvSpPr>
        <p:spPr>
          <a:xfrm>
            <a:off x="6960198" y="1445854"/>
            <a:ext cx="131916" cy="1040211"/>
          </a:xfrm>
          <a:prstGeom prst="roundRect">
            <a:avLst>
              <a:gd name="adj" fmla="val 277267"/>
            </a:avLst>
          </a:prstGeom>
          <a:solidFill>
            <a:srgbClr val="2E3A73"/>
          </a:solidFill>
          <a:ln/>
        </p:spPr>
      </p:sp>
      <p:sp>
        <p:nvSpPr>
          <p:cNvPr id="23" name="Shape 21"/>
          <p:cNvSpPr/>
          <p:nvPr/>
        </p:nvSpPr>
        <p:spPr>
          <a:xfrm>
            <a:off x="7253344" y="1445800"/>
            <a:ext cx="131916" cy="1040319"/>
          </a:xfrm>
          <a:prstGeom prst="roundRect">
            <a:avLst>
              <a:gd name="adj" fmla="val 277267"/>
            </a:avLst>
          </a:prstGeom>
          <a:solidFill>
            <a:srgbClr val="2E3A73"/>
          </a:solidFill>
          <a:ln/>
        </p:spPr>
      </p:sp>
      <p:sp>
        <p:nvSpPr>
          <p:cNvPr id="24" name="Shape 22"/>
          <p:cNvSpPr/>
          <p:nvPr/>
        </p:nvSpPr>
        <p:spPr>
          <a:xfrm>
            <a:off x="7546489" y="1449762"/>
            <a:ext cx="131916" cy="1032395"/>
          </a:xfrm>
          <a:prstGeom prst="roundRect">
            <a:avLst>
              <a:gd name="adj" fmla="val 277267"/>
            </a:avLst>
          </a:prstGeom>
          <a:solidFill>
            <a:srgbClr val="2E3A73"/>
          </a:solidFill>
          <a:ln/>
        </p:spPr>
      </p:sp>
      <p:sp>
        <p:nvSpPr>
          <p:cNvPr id="25" name="Shape 23"/>
          <p:cNvSpPr/>
          <p:nvPr/>
        </p:nvSpPr>
        <p:spPr>
          <a:xfrm>
            <a:off x="7839635" y="1457883"/>
            <a:ext cx="131916" cy="1016154"/>
          </a:xfrm>
          <a:prstGeom prst="roundRect">
            <a:avLst>
              <a:gd name="adj" fmla="val 277267"/>
            </a:avLst>
          </a:prstGeom>
          <a:solidFill>
            <a:srgbClr val="2E3A73"/>
          </a:solidFill>
          <a:ln/>
        </p:spPr>
      </p:sp>
      <p:sp>
        <p:nvSpPr>
          <p:cNvPr id="26" name="Shape 24"/>
          <p:cNvSpPr/>
          <p:nvPr/>
        </p:nvSpPr>
        <p:spPr>
          <a:xfrm>
            <a:off x="8132781" y="1470292"/>
            <a:ext cx="131916" cy="991336"/>
          </a:xfrm>
          <a:prstGeom prst="roundRect">
            <a:avLst>
              <a:gd name="adj" fmla="val 277267"/>
            </a:avLst>
          </a:prstGeom>
          <a:solidFill>
            <a:srgbClr val="2E3A73"/>
          </a:solidFill>
          <a:ln/>
        </p:spPr>
      </p:sp>
      <p:sp>
        <p:nvSpPr>
          <p:cNvPr id="27" name="Shape 25"/>
          <p:cNvSpPr/>
          <p:nvPr/>
        </p:nvSpPr>
        <p:spPr>
          <a:xfrm>
            <a:off x="8425927" y="1487115"/>
            <a:ext cx="131916" cy="957691"/>
          </a:xfrm>
          <a:prstGeom prst="roundRect">
            <a:avLst>
              <a:gd name="adj" fmla="val 277267"/>
            </a:avLst>
          </a:prstGeom>
          <a:solidFill>
            <a:srgbClr val="2E3A73"/>
          </a:solidFill>
          <a:ln/>
        </p:spPr>
      </p:sp>
      <p:sp>
        <p:nvSpPr>
          <p:cNvPr id="28" name="Shape 26"/>
          <p:cNvSpPr/>
          <p:nvPr/>
        </p:nvSpPr>
        <p:spPr>
          <a:xfrm>
            <a:off x="8719073" y="1508484"/>
            <a:ext cx="131916" cy="914951"/>
          </a:xfrm>
          <a:prstGeom prst="roundRect">
            <a:avLst>
              <a:gd name="adj" fmla="val 277267"/>
            </a:avLst>
          </a:prstGeom>
          <a:solidFill>
            <a:srgbClr val="2E3A73"/>
          </a:solidFill>
          <a:ln/>
        </p:spPr>
      </p:sp>
      <p:sp>
        <p:nvSpPr>
          <p:cNvPr id="29" name="Shape 27"/>
          <p:cNvSpPr/>
          <p:nvPr/>
        </p:nvSpPr>
        <p:spPr>
          <a:xfrm>
            <a:off x="9012219" y="1534561"/>
            <a:ext cx="131916" cy="862798"/>
          </a:xfrm>
          <a:prstGeom prst="roundRect">
            <a:avLst>
              <a:gd name="adj" fmla="val 277267"/>
            </a:avLst>
          </a:prstGeom>
          <a:solidFill>
            <a:srgbClr val="2E3A73"/>
          </a:solidFill>
          <a:ln/>
        </p:spPr>
      </p:sp>
      <p:sp>
        <p:nvSpPr>
          <p:cNvPr id="30" name="Shape 28"/>
          <p:cNvSpPr/>
          <p:nvPr/>
        </p:nvSpPr>
        <p:spPr>
          <a:xfrm>
            <a:off x="9305365" y="1565562"/>
            <a:ext cx="131916" cy="800795"/>
          </a:xfrm>
          <a:prstGeom prst="roundRect">
            <a:avLst>
              <a:gd name="adj" fmla="val 277267"/>
            </a:avLst>
          </a:prstGeom>
          <a:solidFill>
            <a:srgbClr val="2E3A73"/>
          </a:solidFill>
          <a:ln/>
        </p:spPr>
      </p:sp>
      <p:sp>
        <p:nvSpPr>
          <p:cNvPr id="31" name="Shape 29"/>
          <p:cNvSpPr/>
          <p:nvPr/>
        </p:nvSpPr>
        <p:spPr>
          <a:xfrm>
            <a:off x="9598511" y="1601826"/>
            <a:ext cx="131916" cy="728269"/>
          </a:xfrm>
          <a:prstGeom prst="roundRect">
            <a:avLst>
              <a:gd name="adj" fmla="val 277267"/>
            </a:avLst>
          </a:prstGeom>
          <a:solidFill>
            <a:srgbClr val="2E3A73"/>
          </a:solidFill>
          <a:ln/>
        </p:spPr>
      </p:sp>
      <p:sp>
        <p:nvSpPr>
          <p:cNvPr id="32" name="Shape 30"/>
          <p:cNvSpPr/>
          <p:nvPr/>
        </p:nvSpPr>
        <p:spPr>
          <a:xfrm>
            <a:off x="9891656" y="1643917"/>
            <a:ext cx="131916" cy="644086"/>
          </a:xfrm>
          <a:prstGeom prst="roundRect">
            <a:avLst>
              <a:gd name="adj" fmla="val 277267"/>
            </a:avLst>
          </a:prstGeom>
          <a:solidFill>
            <a:srgbClr val="2E3A73"/>
          </a:solidFill>
          <a:ln/>
        </p:spPr>
      </p:sp>
      <p:sp>
        <p:nvSpPr>
          <p:cNvPr id="33" name="Shape 31"/>
          <p:cNvSpPr/>
          <p:nvPr/>
        </p:nvSpPr>
        <p:spPr>
          <a:xfrm>
            <a:off x="10184802" y="1692884"/>
            <a:ext cx="131916" cy="546151"/>
          </a:xfrm>
          <a:prstGeom prst="roundRect">
            <a:avLst>
              <a:gd name="adj" fmla="val 277267"/>
            </a:avLst>
          </a:prstGeom>
          <a:solidFill>
            <a:srgbClr val="2E3A73"/>
          </a:solidFill>
          <a:ln/>
        </p:spPr>
      </p:sp>
      <p:sp>
        <p:nvSpPr>
          <p:cNvPr id="34" name="Shape 32"/>
          <p:cNvSpPr/>
          <p:nvPr/>
        </p:nvSpPr>
        <p:spPr>
          <a:xfrm>
            <a:off x="10477948" y="1750927"/>
            <a:ext cx="131916" cy="430067"/>
          </a:xfrm>
          <a:prstGeom prst="roundRect">
            <a:avLst>
              <a:gd name="adj" fmla="val 277267"/>
            </a:avLst>
          </a:prstGeom>
          <a:solidFill>
            <a:srgbClr val="2E3A73"/>
          </a:solidFill>
          <a:ln/>
        </p:spPr>
      </p:sp>
      <p:sp>
        <p:nvSpPr>
          <p:cNvPr id="35" name="Shape 33"/>
          <p:cNvSpPr/>
          <p:nvPr/>
        </p:nvSpPr>
        <p:spPr>
          <a:xfrm>
            <a:off x="10771094" y="1823950"/>
            <a:ext cx="131916" cy="284019"/>
          </a:xfrm>
          <a:prstGeom prst="roundRect">
            <a:avLst>
              <a:gd name="adj" fmla="val 277267"/>
            </a:avLst>
          </a:prstGeom>
          <a:solidFill>
            <a:srgbClr val="2E3A73"/>
          </a:solidFill>
          <a:ln/>
        </p:spPr>
      </p:sp>
      <p:sp>
        <p:nvSpPr>
          <p:cNvPr id="36" name="Text 34"/>
          <p:cNvSpPr/>
          <p:nvPr/>
        </p:nvSpPr>
        <p:spPr>
          <a:xfrm>
            <a:off x="1097280" y="2834640"/>
            <a:ext cx="9966960" cy="86868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Demostración</a:t>
            </a:r>
            <a:endParaRPr lang="en-US" sz="4600" dirty="0"/>
          </a:p>
        </p:txBody>
      </p:sp>
      <p:sp>
        <p:nvSpPr>
          <p:cNvPr id="37" name="Text 35"/>
          <p:cNvSpPr/>
          <p:nvPr/>
        </p:nvSpPr>
        <p:spPr>
          <a:xfrm>
            <a:off x="1115568" y="3749040"/>
            <a:ext cx="9326880" cy="457200"/>
          </a:xfrm>
          <a:prstGeom prst="rect">
            <a:avLst/>
          </a:prstGeom>
          <a:noFill/>
          <a:ln/>
        </p:spPr>
        <p:txBody>
          <a:bodyPr wrap="square" rtlCol="0" anchor="ctr"/>
          <a:lstStyle/>
          <a:p>
            <a:pPr indent="0" marL="0">
              <a:buNone/>
            </a:pPr>
            <a:r>
              <a:rPr lang="en-US" sz="1600" dirty="0">
                <a:solidFill>
                  <a:srgbClr val="9FB0D0"/>
                </a:solidFill>
                <a:latin typeface="Calibri" pitchFamily="34" charset="0"/>
                <a:ea typeface="Calibri" pitchFamily="34" charset="-122"/>
                <a:cs typeface="Calibri" pitchFamily="34" charset="-120"/>
              </a:rPr>
              <a:t>Hablar en inglés y ver la señal, la transcripción y la corrección, con la red desconectada</a:t>
            </a:r>
            <a:endParaRPr lang="en-US" sz="1600" dirty="0"/>
          </a:p>
        </p:txBody>
      </p:sp>
      <p:sp>
        <p:nvSpPr>
          <p:cNvPr id="38" name="Text 36"/>
          <p:cNvSpPr/>
          <p:nvPr/>
        </p:nvSpPr>
        <p:spPr>
          <a:xfrm>
            <a:off x="1097280" y="4572000"/>
            <a:ext cx="2286000" cy="365760"/>
          </a:xfrm>
          <a:prstGeom prst="rect">
            <a:avLst/>
          </a:prstGeom>
          <a:noFill/>
          <a:ln/>
        </p:spPr>
        <p:txBody>
          <a:bodyPr wrap="square" lIns="0" tIns="0" rIns="0" bIns="0" rtlCol="0" anchor="ctr"/>
          <a:lstStyle/>
          <a:p>
            <a:pPr indent="0" marL="0">
              <a:buNone/>
            </a:pPr>
            <a:r>
              <a:rPr lang="en-US" sz="2000" b="1" dirty="0">
                <a:solidFill>
                  <a:srgbClr val="02C39A"/>
                </a:solidFill>
                <a:latin typeface="Cambria" pitchFamily="34" charset="0"/>
                <a:ea typeface="Cambria" pitchFamily="34" charset="-122"/>
                <a:cs typeface="Cambria" pitchFamily="34" charset="-120"/>
              </a:rPr>
              <a:t>01</a:t>
            </a:r>
            <a:endParaRPr lang="en-US" sz="2000" dirty="0"/>
          </a:p>
        </p:txBody>
      </p:sp>
      <p:sp>
        <p:nvSpPr>
          <p:cNvPr id="39" name="Text 37"/>
          <p:cNvSpPr/>
          <p:nvPr/>
        </p:nvSpPr>
        <p:spPr>
          <a:xfrm>
            <a:off x="1097280" y="4956048"/>
            <a:ext cx="2286000" cy="731520"/>
          </a:xfrm>
          <a:prstGeom prst="rect">
            <a:avLst/>
          </a:prstGeom>
          <a:noFill/>
          <a:ln/>
        </p:spPr>
        <p:txBody>
          <a:bodyPr wrap="square" lIns="0" tIns="0" rIns="0" bIns="0" rtlCol="0" anchor="ctr"/>
          <a:lstStyle/>
          <a:p>
            <a:pPr indent="0" marL="0">
              <a:buNone/>
            </a:pPr>
            <a:r>
              <a:rPr lang="en-US" sz="1200" dirty="0">
                <a:solidFill>
                  <a:srgbClr val="C7D2E8"/>
                </a:solidFill>
                <a:latin typeface="Calibri" pitchFamily="34" charset="0"/>
                <a:ea typeface="Calibri" pitchFamily="34" charset="-122"/>
                <a:cs typeface="Calibri" pitchFamily="34" charset="-120"/>
              </a:rPr>
              <a:t>Señal en vivo mientras se habla</a:t>
            </a:r>
            <a:endParaRPr lang="en-US" sz="1200" dirty="0"/>
          </a:p>
        </p:txBody>
      </p:sp>
      <p:sp>
        <p:nvSpPr>
          <p:cNvPr id="40" name="Text 38"/>
          <p:cNvSpPr/>
          <p:nvPr/>
        </p:nvSpPr>
        <p:spPr>
          <a:xfrm>
            <a:off x="3639312" y="4572000"/>
            <a:ext cx="2286000" cy="365760"/>
          </a:xfrm>
          <a:prstGeom prst="rect">
            <a:avLst/>
          </a:prstGeom>
          <a:noFill/>
          <a:ln/>
        </p:spPr>
        <p:txBody>
          <a:bodyPr wrap="square" lIns="0" tIns="0" rIns="0" bIns="0" rtlCol="0" anchor="ctr"/>
          <a:lstStyle/>
          <a:p>
            <a:pPr indent="0" marL="0">
              <a:buNone/>
            </a:pPr>
            <a:r>
              <a:rPr lang="en-US" sz="2000" b="1" dirty="0">
                <a:solidFill>
                  <a:srgbClr val="02C39A"/>
                </a:solidFill>
                <a:latin typeface="Cambria" pitchFamily="34" charset="0"/>
                <a:ea typeface="Cambria" pitchFamily="34" charset="-122"/>
                <a:cs typeface="Cambria" pitchFamily="34" charset="-120"/>
              </a:rPr>
              <a:t>02</a:t>
            </a:r>
            <a:endParaRPr lang="en-US" sz="2000" dirty="0"/>
          </a:p>
        </p:txBody>
      </p:sp>
      <p:sp>
        <p:nvSpPr>
          <p:cNvPr id="41" name="Text 39"/>
          <p:cNvSpPr/>
          <p:nvPr/>
        </p:nvSpPr>
        <p:spPr>
          <a:xfrm>
            <a:off x="3639312" y="4956048"/>
            <a:ext cx="2286000" cy="731520"/>
          </a:xfrm>
          <a:prstGeom prst="rect">
            <a:avLst/>
          </a:prstGeom>
          <a:noFill/>
          <a:ln/>
        </p:spPr>
        <p:txBody>
          <a:bodyPr wrap="square" lIns="0" tIns="0" rIns="0" bIns="0" rtlCol="0" anchor="ctr"/>
          <a:lstStyle/>
          <a:p>
            <a:pPr indent="0" marL="0">
              <a:buNone/>
            </a:pPr>
            <a:r>
              <a:rPr lang="en-US" sz="1200" dirty="0">
                <a:solidFill>
                  <a:srgbClr val="C7D2E8"/>
                </a:solidFill>
                <a:latin typeface="Calibri" pitchFamily="34" charset="0"/>
                <a:ea typeface="Calibri" pitchFamily="34" charset="-122"/>
                <a:cs typeface="Calibri" pitchFamily="34" charset="-120"/>
              </a:rPr>
              <a:t>Transcripción generada en el dispositivo</a:t>
            </a:r>
            <a:endParaRPr lang="en-US" sz="1200" dirty="0"/>
          </a:p>
        </p:txBody>
      </p:sp>
      <p:sp>
        <p:nvSpPr>
          <p:cNvPr id="42" name="Text 40"/>
          <p:cNvSpPr/>
          <p:nvPr/>
        </p:nvSpPr>
        <p:spPr>
          <a:xfrm>
            <a:off x="6181344" y="4572000"/>
            <a:ext cx="2286000" cy="365760"/>
          </a:xfrm>
          <a:prstGeom prst="rect">
            <a:avLst/>
          </a:prstGeom>
          <a:noFill/>
          <a:ln/>
        </p:spPr>
        <p:txBody>
          <a:bodyPr wrap="square" lIns="0" tIns="0" rIns="0" bIns="0" rtlCol="0" anchor="ctr"/>
          <a:lstStyle/>
          <a:p>
            <a:pPr indent="0" marL="0">
              <a:buNone/>
            </a:pPr>
            <a:r>
              <a:rPr lang="en-US" sz="2000" b="1" dirty="0">
                <a:solidFill>
                  <a:srgbClr val="02C39A"/>
                </a:solidFill>
                <a:latin typeface="Cambria" pitchFamily="34" charset="0"/>
                <a:ea typeface="Cambria" pitchFamily="34" charset="-122"/>
                <a:cs typeface="Cambria" pitchFamily="34" charset="-120"/>
              </a:rPr>
              <a:t>03</a:t>
            </a:r>
            <a:endParaRPr lang="en-US" sz="2000" dirty="0"/>
          </a:p>
        </p:txBody>
      </p:sp>
      <p:sp>
        <p:nvSpPr>
          <p:cNvPr id="43" name="Text 41"/>
          <p:cNvSpPr/>
          <p:nvPr/>
        </p:nvSpPr>
        <p:spPr>
          <a:xfrm>
            <a:off x="6181344" y="4956048"/>
            <a:ext cx="2286000" cy="731520"/>
          </a:xfrm>
          <a:prstGeom prst="rect">
            <a:avLst/>
          </a:prstGeom>
          <a:noFill/>
          <a:ln/>
        </p:spPr>
        <p:txBody>
          <a:bodyPr wrap="square" lIns="0" tIns="0" rIns="0" bIns="0" rtlCol="0" anchor="ctr"/>
          <a:lstStyle/>
          <a:p>
            <a:pPr indent="0" marL="0">
              <a:buNone/>
            </a:pPr>
            <a:r>
              <a:rPr lang="en-US" sz="1200" dirty="0">
                <a:solidFill>
                  <a:srgbClr val="C7D2E8"/>
                </a:solidFill>
                <a:latin typeface="Calibri" pitchFamily="34" charset="0"/>
                <a:ea typeface="Calibri" pitchFamily="34" charset="-122"/>
                <a:cs typeface="Calibri" pitchFamily="34" charset="-120"/>
              </a:rPr>
              <a:t>Corrección resaltada palabra por palabra</a:t>
            </a:r>
            <a:endParaRPr lang="en-US" sz="1200" dirty="0"/>
          </a:p>
        </p:txBody>
      </p:sp>
      <p:sp>
        <p:nvSpPr>
          <p:cNvPr id="44" name="Text 42"/>
          <p:cNvSpPr/>
          <p:nvPr/>
        </p:nvSpPr>
        <p:spPr>
          <a:xfrm>
            <a:off x="8723376" y="4572000"/>
            <a:ext cx="2286000" cy="365760"/>
          </a:xfrm>
          <a:prstGeom prst="rect">
            <a:avLst/>
          </a:prstGeom>
          <a:noFill/>
          <a:ln/>
        </p:spPr>
        <p:txBody>
          <a:bodyPr wrap="square" lIns="0" tIns="0" rIns="0" bIns="0" rtlCol="0" anchor="ctr"/>
          <a:lstStyle/>
          <a:p>
            <a:pPr indent="0" marL="0">
              <a:buNone/>
            </a:pPr>
            <a:r>
              <a:rPr lang="en-US" sz="2000" b="1" dirty="0">
                <a:solidFill>
                  <a:srgbClr val="02C39A"/>
                </a:solidFill>
                <a:latin typeface="Cambria" pitchFamily="34" charset="0"/>
                <a:ea typeface="Cambria" pitchFamily="34" charset="-122"/>
                <a:cs typeface="Cambria" pitchFamily="34" charset="-120"/>
              </a:rPr>
              <a:t>04</a:t>
            </a:r>
            <a:endParaRPr lang="en-US" sz="2000" dirty="0"/>
          </a:p>
        </p:txBody>
      </p:sp>
      <p:sp>
        <p:nvSpPr>
          <p:cNvPr id="45" name="Text 43"/>
          <p:cNvSpPr/>
          <p:nvPr/>
        </p:nvSpPr>
        <p:spPr>
          <a:xfrm>
            <a:off x="8723376" y="4956048"/>
            <a:ext cx="2286000" cy="731520"/>
          </a:xfrm>
          <a:prstGeom prst="rect">
            <a:avLst/>
          </a:prstGeom>
          <a:noFill/>
          <a:ln/>
        </p:spPr>
        <p:txBody>
          <a:bodyPr wrap="square" lIns="0" tIns="0" rIns="0" bIns="0" rtlCol="0" anchor="ctr"/>
          <a:lstStyle/>
          <a:p>
            <a:pPr indent="0" marL="0">
              <a:buNone/>
            </a:pPr>
            <a:r>
              <a:rPr lang="en-US" sz="1200" dirty="0">
                <a:solidFill>
                  <a:srgbClr val="C7D2E8"/>
                </a:solidFill>
                <a:latin typeface="Calibri" pitchFamily="34" charset="0"/>
                <a:ea typeface="Calibri" pitchFamily="34" charset="-122"/>
                <a:cs typeface="Calibri" pitchFamily="34" charset="-120"/>
              </a:rPr>
              <a:t>Todo con el equipo sin conexión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384048"/>
            <a:ext cx="10881360" cy="685800"/>
          </a:xfrm>
          <a:prstGeom prst="rect">
            <a:avLst/>
          </a:prstGeom>
          <a:noFill/>
          <a:ln/>
        </p:spPr>
        <p:txBody>
          <a:bodyPr wrap="square" rtlCol="0" anchor="ctr"/>
          <a:lstStyle/>
          <a:p>
            <a:pPr indent="0" marL="0">
              <a:buNone/>
            </a:pPr>
            <a:r>
              <a:rPr lang="en-US" sz="3400" b="1" dirty="0">
                <a:solidFill>
                  <a:srgbClr val="1E2433"/>
                </a:solidFill>
                <a:latin typeface="Cambria" pitchFamily="34" charset="0"/>
                <a:ea typeface="Cambria" pitchFamily="34" charset="-122"/>
                <a:cs typeface="Cambria" pitchFamily="34" charset="-120"/>
              </a:rPr>
              <a:t>Cómo trabajamos</a:t>
            </a:r>
            <a:endParaRPr lang="en-US" sz="3400" dirty="0"/>
          </a:p>
        </p:txBody>
      </p:sp>
      <p:sp>
        <p:nvSpPr>
          <p:cNvPr id="3" name="Text 1"/>
          <p:cNvSpPr/>
          <p:nvPr/>
        </p:nvSpPr>
        <p:spPr>
          <a:xfrm>
            <a:off x="658368" y="1060704"/>
            <a:ext cx="10881360" cy="365760"/>
          </a:xfrm>
          <a:prstGeom prst="rect">
            <a:avLst/>
          </a:prstGeom>
          <a:noFill/>
          <a:ln/>
        </p:spPr>
        <p:txBody>
          <a:bodyPr wrap="square" rtlCol="0" anchor="ctr"/>
          <a:lstStyle/>
          <a:p>
            <a:pPr indent="0" marL="0">
              <a:buNone/>
            </a:pPr>
            <a:r>
              <a:rPr lang="en-US" sz="1400" dirty="0">
                <a:solidFill>
                  <a:srgbClr val="64748B"/>
                </a:solidFill>
                <a:latin typeface="Calibri" pitchFamily="34" charset="0"/>
                <a:ea typeface="Calibri" pitchFamily="34" charset="-122"/>
                <a:cs typeface="Calibri" pitchFamily="34" charset="-120"/>
              </a:rPr>
              <a:t>Metodología iterativa con evidencia de cada decisión</a:t>
            </a:r>
            <a:endParaRPr lang="en-US" sz="1400" dirty="0"/>
          </a:p>
        </p:txBody>
      </p:sp>
      <p:sp>
        <p:nvSpPr>
          <p:cNvPr id="4" name="Text 2"/>
          <p:cNvSpPr/>
          <p:nvPr/>
        </p:nvSpPr>
        <p:spPr>
          <a:xfrm>
            <a:off x="640080" y="1691640"/>
            <a:ext cx="2468880" cy="713232"/>
          </a:xfrm>
          <a:prstGeom prst="rect">
            <a:avLst/>
          </a:prstGeom>
          <a:noFill/>
          <a:ln/>
        </p:spPr>
        <p:txBody>
          <a:bodyPr wrap="square" lIns="0" tIns="0" rIns="0" bIns="0" rtlCol="0" anchor="ctr"/>
          <a:lstStyle/>
          <a:p>
            <a:pPr algn="l" indent="0" marL="0">
              <a:buNone/>
            </a:pPr>
            <a:r>
              <a:rPr lang="en-US" sz="4000" b="1" dirty="0">
                <a:solidFill>
                  <a:srgbClr val="065A82"/>
                </a:solidFill>
                <a:latin typeface="Cambria" pitchFamily="34" charset="0"/>
                <a:ea typeface="Cambria" pitchFamily="34" charset="-122"/>
                <a:cs typeface="Cambria" pitchFamily="34" charset="-120"/>
              </a:rPr>
              <a:t>155</a:t>
            </a:r>
            <a:endParaRPr lang="en-US" sz="4000" dirty="0"/>
          </a:p>
        </p:txBody>
      </p:sp>
      <p:sp>
        <p:nvSpPr>
          <p:cNvPr id="5" name="Text 3"/>
          <p:cNvSpPr/>
          <p:nvPr/>
        </p:nvSpPr>
        <p:spPr>
          <a:xfrm>
            <a:off x="640080" y="2386584"/>
            <a:ext cx="2468880" cy="56692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Pruebas automatizadas ejecutándose en cada cambio del repositorio</a:t>
            </a:r>
            <a:endParaRPr lang="en-US" sz="1150" dirty="0"/>
          </a:p>
        </p:txBody>
      </p:sp>
      <p:sp>
        <p:nvSpPr>
          <p:cNvPr id="6" name="Text 4"/>
          <p:cNvSpPr/>
          <p:nvPr/>
        </p:nvSpPr>
        <p:spPr>
          <a:xfrm>
            <a:off x="3383280" y="1691640"/>
            <a:ext cx="2468880" cy="713232"/>
          </a:xfrm>
          <a:prstGeom prst="rect">
            <a:avLst/>
          </a:prstGeom>
          <a:noFill/>
          <a:ln/>
        </p:spPr>
        <p:txBody>
          <a:bodyPr wrap="square" lIns="0" tIns="0" rIns="0" bIns="0" rtlCol="0" anchor="ctr"/>
          <a:lstStyle/>
          <a:p>
            <a:pPr algn="l" indent="0" marL="0">
              <a:buNone/>
            </a:pPr>
            <a:r>
              <a:rPr lang="en-US" sz="4000" b="1" dirty="0">
                <a:solidFill>
                  <a:srgbClr val="1C7293"/>
                </a:solidFill>
                <a:latin typeface="Cambria" pitchFamily="34" charset="0"/>
                <a:ea typeface="Cambria" pitchFamily="34" charset="-122"/>
                <a:cs typeface="Cambria" pitchFamily="34" charset="-120"/>
              </a:rPr>
              <a:t>50</a:t>
            </a:r>
            <a:endParaRPr lang="en-US" sz="4000" dirty="0"/>
          </a:p>
        </p:txBody>
      </p:sp>
      <p:sp>
        <p:nvSpPr>
          <p:cNvPr id="7" name="Text 5"/>
          <p:cNvSpPr/>
          <p:nvPr/>
        </p:nvSpPr>
        <p:spPr>
          <a:xfrm>
            <a:off x="3383280" y="2386584"/>
            <a:ext cx="2468880" cy="56692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Solicitudes de integración revisadas, ninguna fusionada sin verificación</a:t>
            </a:r>
            <a:endParaRPr lang="en-US" sz="1150" dirty="0"/>
          </a:p>
        </p:txBody>
      </p:sp>
      <p:sp>
        <p:nvSpPr>
          <p:cNvPr id="8" name="Text 6"/>
          <p:cNvSpPr/>
          <p:nvPr/>
        </p:nvSpPr>
        <p:spPr>
          <a:xfrm>
            <a:off x="6126480" y="1691640"/>
            <a:ext cx="2468880" cy="713232"/>
          </a:xfrm>
          <a:prstGeom prst="rect">
            <a:avLst/>
          </a:prstGeom>
          <a:noFill/>
          <a:ln/>
        </p:spPr>
        <p:txBody>
          <a:bodyPr wrap="square" lIns="0" tIns="0" rIns="0" bIns="0" rtlCol="0" anchor="ctr"/>
          <a:lstStyle/>
          <a:p>
            <a:pPr algn="l" indent="0" marL="0">
              <a:buNone/>
            </a:pPr>
            <a:r>
              <a:rPr lang="en-US" sz="4000" b="1" dirty="0">
                <a:solidFill>
                  <a:srgbClr val="0F766E"/>
                </a:solidFill>
                <a:latin typeface="Cambria" pitchFamily="34" charset="0"/>
                <a:ea typeface="Cambria" pitchFamily="34" charset="-122"/>
                <a:cs typeface="Cambria" pitchFamily="34" charset="-120"/>
              </a:rPr>
              <a:t>10</a:t>
            </a:r>
            <a:endParaRPr lang="en-US" sz="4000" dirty="0"/>
          </a:p>
        </p:txBody>
      </p:sp>
      <p:sp>
        <p:nvSpPr>
          <p:cNvPr id="9" name="Text 7"/>
          <p:cNvSpPr/>
          <p:nvPr/>
        </p:nvSpPr>
        <p:spPr>
          <a:xfrm>
            <a:off x="6126480" y="2386584"/>
            <a:ext cx="2468880" cy="56692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Documentos de planificación, evidencia y decisiones tecnicas</a:t>
            </a:r>
            <a:endParaRPr lang="en-US" sz="1150" dirty="0"/>
          </a:p>
        </p:txBody>
      </p:sp>
      <p:sp>
        <p:nvSpPr>
          <p:cNvPr id="10" name="Text 8"/>
          <p:cNvSpPr/>
          <p:nvPr/>
        </p:nvSpPr>
        <p:spPr>
          <a:xfrm>
            <a:off x="8869680" y="1691640"/>
            <a:ext cx="2651760" cy="713232"/>
          </a:xfrm>
          <a:prstGeom prst="rect">
            <a:avLst/>
          </a:prstGeom>
          <a:noFill/>
          <a:ln/>
        </p:spPr>
        <p:txBody>
          <a:bodyPr wrap="square" lIns="0" tIns="0" rIns="0" bIns="0" rtlCol="0" anchor="ctr"/>
          <a:lstStyle/>
          <a:p>
            <a:pPr algn="l" indent="0" marL="0">
              <a:buNone/>
            </a:pPr>
            <a:r>
              <a:rPr lang="en-US" sz="4000" b="1" dirty="0">
                <a:solidFill>
                  <a:srgbClr val="21295C"/>
                </a:solidFill>
                <a:latin typeface="Cambria" pitchFamily="34" charset="0"/>
                <a:ea typeface="Cambria" pitchFamily="34" charset="-122"/>
                <a:cs typeface="Cambria" pitchFamily="34" charset="-120"/>
              </a:rPr>
              <a:t>4</a:t>
            </a:r>
            <a:endParaRPr lang="en-US" sz="4000" dirty="0"/>
          </a:p>
        </p:txBody>
      </p:sp>
      <p:sp>
        <p:nvSpPr>
          <p:cNvPr id="11" name="Text 9"/>
          <p:cNvSpPr/>
          <p:nvPr/>
        </p:nvSpPr>
        <p:spPr>
          <a:xfrm>
            <a:off x="8869680" y="2386584"/>
            <a:ext cx="2651760" cy="56692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Módulos independientes con propietario y contrato definido</a:t>
            </a:r>
            <a:endParaRPr lang="en-US" sz="1150" dirty="0"/>
          </a:p>
        </p:txBody>
      </p:sp>
      <p:sp>
        <p:nvSpPr>
          <p:cNvPr id="12" name="Shape 10"/>
          <p:cNvSpPr/>
          <p:nvPr/>
        </p:nvSpPr>
        <p:spPr>
          <a:xfrm>
            <a:off x="640080" y="3611880"/>
            <a:ext cx="3429000" cy="2377440"/>
          </a:xfrm>
          <a:prstGeom prst="roundRect">
            <a:avLst>
              <a:gd name="adj" fmla="val 2308"/>
            </a:avLst>
          </a:prstGeom>
          <a:solidFill>
            <a:srgbClr val="F1F5F9"/>
          </a:solidFill>
          <a:ln/>
        </p:spPr>
      </p:sp>
      <p:sp>
        <p:nvSpPr>
          <p:cNvPr id="13" name="Text 11"/>
          <p:cNvSpPr/>
          <p:nvPr/>
        </p:nvSpPr>
        <p:spPr>
          <a:xfrm>
            <a:off x="914400" y="3822192"/>
            <a:ext cx="2880360" cy="640080"/>
          </a:xfrm>
          <a:prstGeom prst="rect">
            <a:avLst/>
          </a:prstGeom>
          <a:noFill/>
          <a:ln/>
        </p:spPr>
        <p:txBody>
          <a:bodyPr wrap="square" lIns="0" tIns="0" rIns="0" bIns="0" rtlCol="0" anchor="ctr"/>
          <a:lstStyle/>
          <a:p>
            <a:pPr indent="0" marL="0">
              <a:buNone/>
            </a:pPr>
            <a:r>
              <a:rPr lang="en-US" sz="1550" b="1" dirty="0">
                <a:solidFill>
                  <a:srgbClr val="1E2433"/>
                </a:solidFill>
                <a:latin typeface="Cambria" pitchFamily="34" charset="0"/>
                <a:ea typeface="Cambria" pitchFamily="34" charset="-122"/>
                <a:cs typeface="Cambria" pitchFamily="34" charset="-120"/>
              </a:rPr>
              <a:t>Planificación a diez semanas</a:t>
            </a:r>
            <a:endParaRPr lang="en-US" sz="1550" dirty="0"/>
          </a:p>
        </p:txBody>
      </p:sp>
      <p:sp>
        <p:nvSpPr>
          <p:cNvPr id="14" name="Text 12"/>
          <p:cNvSpPr/>
          <p:nvPr/>
        </p:nvSpPr>
        <p:spPr>
          <a:xfrm>
            <a:off x="914400" y="4498848"/>
            <a:ext cx="2926080" cy="132588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Backlog, tareas por sprint con estimación, matriz de riesgos y matriz de trazabilidad contra los requisitos del curso</a:t>
            </a:r>
            <a:endParaRPr lang="en-US" sz="1150" dirty="0"/>
          </a:p>
        </p:txBody>
      </p:sp>
      <p:sp>
        <p:nvSpPr>
          <p:cNvPr id="15" name="Shape 13"/>
          <p:cNvSpPr/>
          <p:nvPr/>
        </p:nvSpPr>
        <p:spPr>
          <a:xfrm>
            <a:off x="4361688" y="3611880"/>
            <a:ext cx="3429000" cy="2377440"/>
          </a:xfrm>
          <a:prstGeom prst="roundRect">
            <a:avLst>
              <a:gd name="adj" fmla="val 2308"/>
            </a:avLst>
          </a:prstGeom>
          <a:solidFill>
            <a:srgbClr val="F1F5F9"/>
          </a:solidFill>
          <a:ln/>
        </p:spPr>
      </p:sp>
      <p:sp>
        <p:nvSpPr>
          <p:cNvPr id="16" name="Text 14"/>
          <p:cNvSpPr/>
          <p:nvPr/>
        </p:nvSpPr>
        <p:spPr>
          <a:xfrm>
            <a:off x="4636008" y="3822192"/>
            <a:ext cx="2880360" cy="640080"/>
          </a:xfrm>
          <a:prstGeom prst="rect">
            <a:avLst/>
          </a:prstGeom>
          <a:noFill/>
          <a:ln/>
        </p:spPr>
        <p:txBody>
          <a:bodyPr wrap="square" lIns="0" tIns="0" rIns="0" bIns="0" rtlCol="0" anchor="ctr"/>
          <a:lstStyle/>
          <a:p>
            <a:pPr indent="0" marL="0">
              <a:buNone/>
            </a:pPr>
            <a:r>
              <a:rPr lang="en-US" sz="1550" b="1" dirty="0">
                <a:solidFill>
                  <a:srgbClr val="1E2433"/>
                </a:solidFill>
                <a:latin typeface="Cambria" pitchFamily="34" charset="0"/>
                <a:ea typeface="Cambria" pitchFamily="34" charset="-122"/>
                <a:cs typeface="Cambria" pitchFamily="34" charset="-120"/>
              </a:rPr>
              <a:t>Integración continua</a:t>
            </a:r>
            <a:endParaRPr lang="en-US" sz="1550" dirty="0"/>
          </a:p>
        </p:txBody>
      </p:sp>
      <p:sp>
        <p:nvSpPr>
          <p:cNvPr id="17" name="Text 15"/>
          <p:cNvSpPr/>
          <p:nvPr/>
        </p:nvSpPr>
        <p:spPr>
          <a:xfrm>
            <a:off x="4636008" y="4498848"/>
            <a:ext cx="2926080" cy="132588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Cada cambio pasa por verificación de tipos, pruebas y compilación antes de poder integrarse</a:t>
            </a:r>
            <a:endParaRPr lang="en-US" sz="1150" dirty="0"/>
          </a:p>
        </p:txBody>
      </p:sp>
      <p:sp>
        <p:nvSpPr>
          <p:cNvPr id="18" name="Shape 16"/>
          <p:cNvSpPr/>
          <p:nvPr/>
        </p:nvSpPr>
        <p:spPr>
          <a:xfrm>
            <a:off x="8083296" y="3611880"/>
            <a:ext cx="3429000" cy="2377440"/>
          </a:xfrm>
          <a:prstGeom prst="roundRect">
            <a:avLst>
              <a:gd name="adj" fmla="val 2308"/>
            </a:avLst>
          </a:prstGeom>
          <a:solidFill>
            <a:srgbClr val="F1F5F9"/>
          </a:solidFill>
          <a:ln/>
        </p:spPr>
      </p:sp>
      <p:sp>
        <p:nvSpPr>
          <p:cNvPr id="19" name="Text 17"/>
          <p:cNvSpPr/>
          <p:nvPr/>
        </p:nvSpPr>
        <p:spPr>
          <a:xfrm>
            <a:off x="8357616" y="3822192"/>
            <a:ext cx="2880360" cy="640080"/>
          </a:xfrm>
          <a:prstGeom prst="rect">
            <a:avLst/>
          </a:prstGeom>
          <a:noFill/>
          <a:ln/>
        </p:spPr>
        <p:txBody>
          <a:bodyPr wrap="square" lIns="0" tIns="0" rIns="0" bIns="0" rtlCol="0" anchor="ctr"/>
          <a:lstStyle/>
          <a:p>
            <a:pPr indent="0" marL="0">
              <a:buNone/>
            </a:pPr>
            <a:r>
              <a:rPr lang="en-US" sz="1550" b="1" dirty="0">
                <a:solidFill>
                  <a:srgbClr val="1E2433"/>
                </a:solidFill>
                <a:latin typeface="Cambria" pitchFamily="34" charset="0"/>
                <a:ea typeface="Cambria" pitchFamily="34" charset="-122"/>
                <a:cs typeface="Cambria" pitchFamily="34" charset="-120"/>
              </a:rPr>
              <a:t>Bitácora de decisiones</a:t>
            </a:r>
            <a:endParaRPr lang="en-US" sz="1550" dirty="0"/>
          </a:p>
        </p:txBody>
      </p:sp>
      <p:sp>
        <p:nvSpPr>
          <p:cNvPr id="20" name="Text 18"/>
          <p:cNvSpPr/>
          <p:nvPr/>
        </p:nvSpPr>
        <p:spPr>
          <a:xfrm>
            <a:off x="8357616" y="4498848"/>
            <a:ext cx="2926080" cy="132588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Cada elección técnica queda registrada con su justificación y su medición: por que este modelo, por que esta version, por que este filtro</a:t>
            </a:r>
            <a:endParaRPr lang="en-US" sz="1150" dirty="0"/>
          </a:p>
        </p:txBody>
      </p:sp>
      <p:sp>
        <p:nvSpPr>
          <p:cNvPr id="21" name="Text 19"/>
          <p:cNvSpPr/>
          <p:nvPr/>
        </p:nvSpPr>
        <p:spPr>
          <a:xfrm>
            <a:off x="640080" y="6327648"/>
            <a:ext cx="10881360" cy="274320"/>
          </a:xfrm>
          <a:prstGeom prst="rect">
            <a:avLst/>
          </a:prstGeom>
          <a:noFill/>
          <a:ln/>
        </p:spPr>
        <p:txBody>
          <a:bodyPr wrap="square" lIns="0" tIns="0" rIns="0" bIns="0" rtlCol="0" anchor="ctr"/>
          <a:lstStyle/>
          <a:p>
            <a:pPr indent="0" marL="0">
              <a:buNone/>
            </a:pPr>
            <a:r>
              <a:rPr lang="en-US" sz="950" dirty="0">
                <a:solidFill>
                  <a:srgbClr val="A8B0BF"/>
                </a:solidFill>
                <a:latin typeface="Calibri" pitchFamily="34" charset="0"/>
                <a:ea typeface="Calibri" pitchFamily="34" charset="-122"/>
                <a:cs typeface="Calibri" pitchFamily="34" charset="-120"/>
              </a:rPr>
              <a:t>Repositorio publico: github.com/HumanoidCat/mpet</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384048"/>
            <a:ext cx="10881360" cy="685800"/>
          </a:xfrm>
          <a:prstGeom prst="rect">
            <a:avLst/>
          </a:prstGeom>
          <a:noFill/>
          <a:ln/>
        </p:spPr>
        <p:txBody>
          <a:bodyPr wrap="square" rtlCol="0" anchor="ctr"/>
          <a:lstStyle/>
          <a:p>
            <a:pPr indent="0" marL="0">
              <a:buNone/>
            </a:pPr>
            <a:r>
              <a:rPr lang="en-US" sz="3400" b="1" dirty="0">
                <a:solidFill>
                  <a:srgbClr val="1E2433"/>
                </a:solidFill>
                <a:latin typeface="Cambria" pitchFamily="34" charset="0"/>
                <a:ea typeface="Cambria" pitchFamily="34" charset="-122"/>
                <a:cs typeface="Cambria" pitchFamily="34" charset="-120"/>
              </a:rPr>
              <a:t>Estado frente al plan</a:t>
            </a:r>
            <a:endParaRPr lang="en-US" sz="3400" dirty="0"/>
          </a:p>
        </p:txBody>
      </p:sp>
      <p:sp>
        <p:nvSpPr>
          <p:cNvPr id="3" name="Text 1"/>
          <p:cNvSpPr/>
          <p:nvPr/>
        </p:nvSpPr>
        <p:spPr>
          <a:xfrm>
            <a:off x="658368" y="1060704"/>
            <a:ext cx="10881360" cy="365760"/>
          </a:xfrm>
          <a:prstGeom prst="rect">
            <a:avLst/>
          </a:prstGeom>
          <a:noFill/>
          <a:ln/>
        </p:spPr>
        <p:txBody>
          <a:bodyPr wrap="square" rtlCol="0" anchor="ctr"/>
          <a:lstStyle/>
          <a:p>
            <a:pPr indent="0" marL="0">
              <a:buNone/>
            </a:pPr>
            <a:r>
              <a:rPr lang="en-US" sz="1400" dirty="0">
                <a:solidFill>
                  <a:srgbClr val="64748B"/>
                </a:solidFill>
                <a:latin typeface="Calibri" pitchFamily="34" charset="0"/>
                <a:ea typeface="Calibri" pitchFamily="34" charset="-122"/>
                <a:cs typeface="Calibri" pitchFamily="34" charset="-120"/>
              </a:rPr>
              <a:t>Lo que el Avance 1 pedía y donde estamos</a:t>
            </a:r>
            <a:endParaRPr lang="en-US" sz="1400" dirty="0"/>
          </a:p>
        </p:txBody>
      </p:sp>
      <p:sp>
        <p:nvSpPr>
          <p:cNvPr id="4" name="Shape 2"/>
          <p:cNvSpPr/>
          <p:nvPr/>
        </p:nvSpPr>
        <p:spPr>
          <a:xfrm>
            <a:off x="640080" y="1645920"/>
            <a:ext cx="10881360" cy="777240"/>
          </a:xfrm>
          <a:prstGeom prst="roundRect">
            <a:avLst>
              <a:gd name="adj" fmla="val 7059"/>
            </a:avLst>
          </a:prstGeom>
          <a:solidFill>
            <a:srgbClr val="F1F5F9"/>
          </a:solidFill>
          <a:ln/>
        </p:spPr>
      </p:sp>
      <p:sp>
        <p:nvSpPr>
          <p:cNvPr id="5" name="Text 3"/>
          <p:cNvSpPr/>
          <p:nvPr/>
        </p:nvSpPr>
        <p:spPr>
          <a:xfrm>
            <a:off x="914400" y="1773936"/>
            <a:ext cx="3291840" cy="292608"/>
          </a:xfrm>
          <a:prstGeom prst="rect">
            <a:avLst/>
          </a:prstGeom>
          <a:noFill/>
          <a:ln/>
        </p:spPr>
        <p:txBody>
          <a:bodyPr wrap="square" lIns="0" tIns="0" rIns="0" bIns="0" rtlCol="0" anchor="ctr"/>
          <a:lstStyle/>
          <a:p>
            <a:pPr indent="0" marL="0">
              <a:buNone/>
            </a:pPr>
            <a:r>
              <a:rPr lang="en-US" sz="1350" b="1" dirty="0">
                <a:solidFill>
                  <a:srgbClr val="1E2433"/>
                </a:solidFill>
                <a:latin typeface="Calibri" pitchFamily="34" charset="0"/>
                <a:ea typeface="Calibri" pitchFamily="34" charset="-122"/>
                <a:cs typeface="Calibri" pitchFamily="34" charset="-120"/>
              </a:rPr>
              <a:t>Arquitectura y requerimientos</a:t>
            </a:r>
            <a:endParaRPr lang="en-US" sz="1350" dirty="0"/>
          </a:p>
        </p:txBody>
      </p:sp>
      <p:sp>
        <p:nvSpPr>
          <p:cNvPr id="6" name="Shape 4"/>
          <p:cNvSpPr/>
          <p:nvPr/>
        </p:nvSpPr>
        <p:spPr>
          <a:xfrm>
            <a:off x="4343400" y="1847088"/>
            <a:ext cx="1965960" cy="365760"/>
          </a:xfrm>
          <a:prstGeom prst="roundRect">
            <a:avLst>
              <a:gd name="adj" fmla="val 125000"/>
            </a:avLst>
          </a:prstGeom>
          <a:solidFill>
            <a:srgbClr val="02C39A"/>
          </a:solidFill>
          <a:ln/>
        </p:spPr>
      </p:sp>
      <p:sp>
        <p:nvSpPr>
          <p:cNvPr id="7" name="Text 5"/>
          <p:cNvSpPr/>
          <p:nvPr/>
        </p:nvSpPr>
        <p:spPr>
          <a:xfrm>
            <a:off x="4343400" y="1847088"/>
            <a:ext cx="1965960" cy="365760"/>
          </a:xfrm>
          <a:prstGeom prst="rect">
            <a:avLst/>
          </a:prstGeom>
          <a:noFill/>
          <a:ln/>
        </p:spPr>
        <p:txBody>
          <a:bodyPr wrap="square" lIns="0" tIns="0" rIns="0" bIns="0" rtlCol="0" anchor="ctr"/>
          <a:lstStyle/>
          <a:p>
            <a:pPr algn="ctr" indent="0" marL="0">
              <a:buNone/>
            </a:pPr>
            <a:r>
              <a:rPr lang="en-US" sz="1050" b="1" dirty="0">
                <a:solidFill>
                  <a:srgbClr val="0B3B34"/>
                </a:solidFill>
                <a:latin typeface="Calibri" pitchFamily="34" charset="0"/>
                <a:ea typeface="Calibri" pitchFamily="34" charset="-122"/>
                <a:cs typeface="Calibri" pitchFamily="34" charset="-120"/>
              </a:rPr>
              <a:t>Completo</a:t>
            </a:r>
            <a:endParaRPr lang="en-US" sz="1050" dirty="0"/>
          </a:p>
        </p:txBody>
      </p:sp>
      <p:sp>
        <p:nvSpPr>
          <p:cNvPr id="8" name="Text 6"/>
          <p:cNvSpPr/>
          <p:nvPr/>
        </p:nvSpPr>
        <p:spPr>
          <a:xfrm>
            <a:off x="6537960" y="1819656"/>
            <a:ext cx="4754880"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Diagrama de bloques, contratos congelados y matriz de 23 requerimientos</a:t>
            </a:r>
            <a:endParaRPr lang="en-US" sz="1150" dirty="0"/>
          </a:p>
        </p:txBody>
      </p:sp>
      <p:sp>
        <p:nvSpPr>
          <p:cNvPr id="9" name="Shape 7"/>
          <p:cNvSpPr/>
          <p:nvPr/>
        </p:nvSpPr>
        <p:spPr>
          <a:xfrm>
            <a:off x="640080" y="2542032"/>
            <a:ext cx="10881360" cy="777240"/>
          </a:xfrm>
          <a:prstGeom prst="roundRect">
            <a:avLst>
              <a:gd name="adj" fmla="val 7059"/>
            </a:avLst>
          </a:prstGeom>
          <a:solidFill>
            <a:srgbClr val="F1F5F9"/>
          </a:solidFill>
          <a:ln/>
        </p:spPr>
      </p:sp>
      <p:sp>
        <p:nvSpPr>
          <p:cNvPr id="10" name="Text 8"/>
          <p:cNvSpPr/>
          <p:nvPr/>
        </p:nvSpPr>
        <p:spPr>
          <a:xfrm>
            <a:off x="914400" y="2670048"/>
            <a:ext cx="3291840" cy="292608"/>
          </a:xfrm>
          <a:prstGeom prst="rect">
            <a:avLst/>
          </a:prstGeom>
          <a:noFill/>
          <a:ln/>
        </p:spPr>
        <p:txBody>
          <a:bodyPr wrap="square" lIns="0" tIns="0" rIns="0" bIns="0" rtlCol="0" anchor="ctr"/>
          <a:lstStyle/>
          <a:p>
            <a:pPr indent="0" marL="0">
              <a:buNone/>
            </a:pPr>
            <a:r>
              <a:rPr lang="en-US" sz="1350" b="1" dirty="0">
                <a:solidFill>
                  <a:srgbClr val="1E2433"/>
                </a:solidFill>
                <a:latin typeface="Calibri" pitchFamily="34" charset="0"/>
                <a:ea typeface="Calibri" pitchFamily="34" charset="-122"/>
                <a:cs typeface="Calibri" pitchFamily="34" charset="-120"/>
              </a:rPr>
              <a:t>Procesamiento básico de audio</a:t>
            </a:r>
            <a:endParaRPr lang="en-US" sz="1350" dirty="0"/>
          </a:p>
        </p:txBody>
      </p:sp>
      <p:sp>
        <p:nvSpPr>
          <p:cNvPr id="11" name="Shape 9"/>
          <p:cNvSpPr/>
          <p:nvPr/>
        </p:nvSpPr>
        <p:spPr>
          <a:xfrm>
            <a:off x="4343400" y="2743200"/>
            <a:ext cx="1965960" cy="365760"/>
          </a:xfrm>
          <a:prstGeom prst="roundRect">
            <a:avLst>
              <a:gd name="adj" fmla="val 125000"/>
            </a:avLst>
          </a:prstGeom>
          <a:solidFill>
            <a:srgbClr val="02C39A"/>
          </a:solidFill>
          <a:ln/>
        </p:spPr>
      </p:sp>
      <p:sp>
        <p:nvSpPr>
          <p:cNvPr id="12" name="Text 10"/>
          <p:cNvSpPr/>
          <p:nvPr/>
        </p:nvSpPr>
        <p:spPr>
          <a:xfrm>
            <a:off x="4343400" y="2743200"/>
            <a:ext cx="1965960" cy="365760"/>
          </a:xfrm>
          <a:prstGeom prst="rect">
            <a:avLst/>
          </a:prstGeom>
          <a:noFill/>
          <a:ln/>
        </p:spPr>
        <p:txBody>
          <a:bodyPr wrap="square" lIns="0" tIns="0" rIns="0" bIns="0" rtlCol="0" anchor="ctr"/>
          <a:lstStyle/>
          <a:p>
            <a:pPr algn="ctr" indent="0" marL="0">
              <a:buNone/>
            </a:pPr>
            <a:r>
              <a:rPr lang="en-US" sz="1050" b="1" dirty="0">
                <a:solidFill>
                  <a:srgbClr val="0B3B34"/>
                </a:solidFill>
                <a:latin typeface="Calibri" pitchFamily="34" charset="0"/>
                <a:ea typeface="Calibri" pitchFamily="34" charset="-122"/>
                <a:cs typeface="Calibri" pitchFamily="34" charset="-120"/>
              </a:rPr>
              <a:t>Completo</a:t>
            </a:r>
            <a:endParaRPr lang="en-US" sz="1050" dirty="0"/>
          </a:p>
        </p:txBody>
      </p:sp>
      <p:sp>
        <p:nvSpPr>
          <p:cNvPr id="13" name="Text 11"/>
          <p:cNvSpPr/>
          <p:nvPr/>
        </p:nvSpPr>
        <p:spPr>
          <a:xfrm>
            <a:off x="6537960" y="2715768"/>
            <a:ext cx="4754880"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Captura, remuestreo con anti-aliasing, filtrado, detección de voz y FFT propia</a:t>
            </a:r>
            <a:endParaRPr lang="en-US" sz="1150" dirty="0"/>
          </a:p>
        </p:txBody>
      </p:sp>
      <p:sp>
        <p:nvSpPr>
          <p:cNvPr id="14" name="Shape 12"/>
          <p:cNvSpPr/>
          <p:nvPr/>
        </p:nvSpPr>
        <p:spPr>
          <a:xfrm>
            <a:off x="640080" y="3438144"/>
            <a:ext cx="10881360" cy="777240"/>
          </a:xfrm>
          <a:prstGeom prst="roundRect">
            <a:avLst>
              <a:gd name="adj" fmla="val 7059"/>
            </a:avLst>
          </a:prstGeom>
          <a:solidFill>
            <a:srgbClr val="F1F5F9"/>
          </a:solidFill>
          <a:ln/>
        </p:spPr>
      </p:sp>
      <p:sp>
        <p:nvSpPr>
          <p:cNvPr id="15" name="Text 13"/>
          <p:cNvSpPr/>
          <p:nvPr/>
        </p:nvSpPr>
        <p:spPr>
          <a:xfrm>
            <a:off x="914400" y="3566160"/>
            <a:ext cx="3291840" cy="292608"/>
          </a:xfrm>
          <a:prstGeom prst="rect">
            <a:avLst/>
          </a:prstGeom>
          <a:noFill/>
          <a:ln/>
        </p:spPr>
        <p:txBody>
          <a:bodyPr wrap="square" lIns="0" tIns="0" rIns="0" bIns="0" rtlCol="0" anchor="ctr"/>
          <a:lstStyle/>
          <a:p>
            <a:pPr indent="0" marL="0">
              <a:buNone/>
            </a:pPr>
            <a:r>
              <a:rPr lang="en-US" sz="1350" b="1" dirty="0">
                <a:solidFill>
                  <a:srgbClr val="1E2433"/>
                </a:solidFill>
                <a:latin typeface="Calibri" pitchFamily="34" charset="0"/>
                <a:ea typeface="Calibri" pitchFamily="34" charset="-122"/>
                <a:cs typeface="Calibri" pitchFamily="34" charset="-120"/>
              </a:rPr>
              <a:t>Prototipo de reconocimiento</a:t>
            </a:r>
            <a:endParaRPr lang="en-US" sz="1350" dirty="0"/>
          </a:p>
        </p:txBody>
      </p:sp>
      <p:sp>
        <p:nvSpPr>
          <p:cNvPr id="16" name="Shape 14"/>
          <p:cNvSpPr/>
          <p:nvPr/>
        </p:nvSpPr>
        <p:spPr>
          <a:xfrm>
            <a:off x="4343400" y="3639312"/>
            <a:ext cx="1965960" cy="365760"/>
          </a:xfrm>
          <a:prstGeom prst="roundRect">
            <a:avLst>
              <a:gd name="adj" fmla="val 125000"/>
            </a:avLst>
          </a:prstGeom>
          <a:solidFill>
            <a:srgbClr val="02C39A"/>
          </a:solidFill>
          <a:ln/>
        </p:spPr>
      </p:sp>
      <p:sp>
        <p:nvSpPr>
          <p:cNvPr id="17" name="Text 15"/>
          <p:cNvSpPr/>
          <p:nvPr/>
        </p:nvSpPr>
        <p:spPr>
          <a:xfrm>
            <a:off x="4343400" y="3639312"/>
            <a:ext cx="1965960" cy="365760"/>
          </a:xfrm>
          <a:prstGeom prst="rect">
            <a:avLst/>
          </a:prstGeom>
          <a:noFill/>
          <a:ln/>
        </p:spPr>
        <p:txBody>
          <a:bodyPr wrap="square" lIns="0" tIns="0" rIns="0" bIns="0" rtlCol="0" anchor="ctr"/>
          <a:lstStyle/>
          <a:p>
            <a:pPr algn="ctr" indent="0" marL="0">
              <a:buNone/>
            </a:pPr>
            <a:r>
              <a:rPr lang="en-US" sz="1050" b="1" dirty="0">
                <a:solidFill>
                  <a:srgbClr val="0B3B34"/>
                </a:solidFill>
                <a:latin typeface="Calibri" pitchFamily="34" charset="0"/>
                <a:ea typeface="Calibri" pitchFamily="34" charset="-122"/>
                <a:cs typeface="Calibri" pitchFamily="34" charset="-120"/>
              </a:rPr>
              <a:t>Completo</a:t>
            </a:r>
            <a:endParaRPr lang="en-US" sz="1050" dirty="0"/>
          </a:p>
        </p:txBody>
      </p:sp>
      <p:sp>
        <p:nvSpPr>
          <p:cNvPr id="18" name="Text 16"/>
          <p:cNvSpPr/>
          <p:nvPr/>
        </p:nvSpPr>
        <p:spPr>
          <a:xfrm>
            <a:off x="6537960" y="3611880"/>
            <a:ext cx="4754880"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Whisper ejecutándose en el navegador con marcas de tiempo por palabra</a:t>
            </a:r>
            <a:endParaRPr lang="en-US" sz="1150" dirty="0"/>
          </a:p>
        </p:txBody>
      </p:sp>
      <p:sp>
        <p:nvSpPr>
          <p:cNvPr id="19" name="Shape 17"/>
          <p:cNvSpPr/>
          <p:nvPr/>
        </p:nvSpPr>
        <p:spPr>
          <a:xfrm>
            <a:off x="640080" y="4334256"/>
            <a:ext cx="10881360" cy="777240"/>
          </a:xfrm>
          <a:prstGeom prst="roundRect">
            <a:avLst>
              <a:gd name="adj" fmla="val 7059"/>
            </a:avLst>
          </a:prstGeom>
          <a:solidFill>
            <a:srgbClr val="F1F5F9"/>
          </a:solidFill>
          <a:ln/>
        </p:spPr>
      </p:sp>
      <p:sp>
        <p:nvSpPr>
          <p:cNvPr id="20" name="Text 18"/>
          <p:cNvSpPr/>
          <p:nvPr/>
        </p:nvSpPr>
        <p:spPr>
          <a:xfrm>
            <a:off x="914400" y="4462272"/>
            <a:ext cx="3291840" cy="292608"/>
          </a:xfrm>
          <a:prstGeom prst="rect">
            <a:avLst/>
          </a:prstGeom>
          <a:noFill/>
          <a:ln/>
        </p:spPr>
        <p:txBody>
          <a:bodyPr wrap="square" lIns="0" tIns="0" rIns="0" bIns="0" rtlCol="0" anchor="ctr"/>
          <a:lstStyle/>
          <a:p>
            <a:pPr indent="0" marL="0">
              <a:buNone/>
            </a:pPr>
            <a:r>
              <a:rPr lang="en-US" sz="1350" b="1" dirty="0">
                <a:solidFill>
                  <a:srgbClr val="1E2433"/>
                </a:solidFill>
                <a:latin typeface="Calibri" pitchFamily="34" charset="0"/>
                <a:ea typeface="Calibri" pitchFamily="34" charset="-122"/>
                <a:cs typeface="Calibri" pitchFamily="34" charset="-120"/>
              </a:rPr>
              <a:t>Corrección gramatical simple</a:t>
            </a:r>
            <a:endParaRPr lang="en-US" sz="1350" dirty="0"/>
          </a:p>
        </p:txBody>
      </p:sp>
      <p:sp>
        <p:nvSpPr>
          <p:cNvPr id="21" name="Shape 19"/>
          <p:cNvSpPr/>
          <p:nvPr/>
        </p:nvSpPr>
        <p:spPr>
          <a:xfrm>
            <a:off x="4343400" y="4535424"/>
            <a:ext cx="1965960" cy="365760"/>
          </a:xfrm>
          <a:prstGeom prst="roundRect">
            <a:avLst>
              <a:gd name="adj" fmla="val 125000"/>
            </a:avLst>
          </a:prstGeom>
          <a:solidFill>
            <a:srgbClr val="0F766E"/>
          </a:solidFill>
          <a:ln/>
        </p:spPr>
      </p:sp>
      <p:sp>
        <p:nvSpPr>
          <p:cNvPr id="22" name="Text 20"/>
          <p:cNvSpPr/>
          <p:nvPr/>
        </p:nvSpPr>
        <p:spPr>
          <a:xfrm>
            <a:off x="4343400" y="4535424"/>
            <a:ext cx="196596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Por encima de lo pedido</a:t>
            </a:r>
            <a:endParaRPr lang="en-US" sz="1050" dirty="0"/>
          </a:p>
        </p:txBody>
      </p:sp>
      <p:sp>
        <p:nvSpPr>
          <p:cNvPr id="23" name="Text 21"/>
          <p:cNvSpPr/>
          <p:nvPr/>
        </p:nvSpPr>
        <p:spPr>
          <a:xfrm>
            <a:off x="6537960" y="4507992"/>
            <a:ext cx="4754880"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Modelo real medido en ejecución, no un prototipo</a:t>
            </a:r>
            <a:endParaRPr lang="en-US" sz="1150" dirty="0"/>
          </a:p>
        </p:txBody>
      </p:sp>
      <p:sp>
        <p:nvSpPr>
          <p:cNvPr id="24" name="Shape 22"/>
          <p:cNvSpPr/>
          <p:nvPr/>
        </p:nvSpPr>
        <p:spPr>
          <a:xfrm>
            <a:off x="640080" y="5230368"/>
            <a:ext cx="10881360" cy="777240"/>
          </a:xfrm>
          <a:prstGeom prst="roundRect">
            <a:avLst>
              <a:gd name="adj" fmla="val 7059"/>
            </a:avLst>
          </a:prstGeom>
          <a:solidFill>
            <a:srgbClr val="F8FAFC"/>
          </a:solidFill>
          <a:ln/>
        </p:spPr>
      </p:sp>
      <p:sp>
        <p:nvSpPr>
          <p:cNvPr id="25" name="Text 23"/>
          <p:cNvSpPr/>
          <p:nvPr/>
        </p:nvSpPr>
        <p:spPr>
          <a:xfrm>
            <a:off x="914400" y="5358384"/>
            <a:ext cx="3291840" cy="292608"/>
          </a:xfrm>
          <a:prstGeom prst="rect">
            <a:avLst/>
          </a:prstGeom>
          <a:noFill/>
          <a:ln/>
        </p:spPr>
        <p:txBody>
          <a:bodyPr wrap="square" lIns="0" tIns="0" rIns="0" bIns="0" rtlCol="0" anchor="ctr"/>
          <a:lstStyle/>
          <a:p>
            <a:pPr indent="0" marL="0">
              <a:buNone/>
            </a:pPr>
            <a:r>
              <a:rPr lang="en-US" sz="1350" b="1" dirty="0">
                <a:solidFill>
                  <a:srgbClr val="1E2433"/>
                </a:solidFill>
                <a:latin typeface="Calibri" pitchFamily="34" charset="0"/>
                <a:ea typeface="Calibri" pitchFamily="34" charset="-122"/>
                <a:cs typeface="Calibri" pitchFamily="34" charset="-120"/>
              </a:rPr>
              <a:t>Pronunciación, voz y sugerencias</a:t>
            </a:r>
            <a:endParaRPr lang="en-US" sz="1350" dirty="0"/>
          </a:p>
        </p:txBody>
      </p:sp>
      <p:sp>
        <p:nvSpPr>
          <p:cNvPr id="26" name="Shape 24"/>
          <p:cNvSpPr/>
          <p:nvPr/>
        </p:nvSpPr>
        <p:spPr>
          <a:xfrm>
            <a:off x="4343400" y="5431536"/>
            <a:ext cx="1965960" cy="365760"/>
          </a:xfrm>
          <a:prstGeom prst="roundRect">
            <a:avLst>
              <a:gd name="adj" fmla="val 125000"/>
            </a:avLst>
          </a:prstGeom>
          <a:solidFill>
            <a:srgbClr val="94A3B8"/>
          </a:solidFill>
          <a:ln/>
        </p:spPr>
      </p:sp>
      <p:sp>
        <p:nvSpPr>
          <p:cNvPr id="27" name="Text 25"/>
          <p:cNvSpPr/>
          <p:nvPr/>
        </p:nvSpPr>
        <p:spPr>
          <a:xfrm>
            <a:off x="4343400" y="5431536"/>
            <a:ext cx="1965960" cy="365760"/>
          </a:xfrm>
          <a:prstGeom prst="rect">
            <a:avLst/>
          </a:prstGeom>
          <a:noFill/>
          <a:ln/>
        </p:spPr>
        <p:txBody>
          <a:bodyPr wrap="square" lIns="0" tIns="0" rIns="0" bIns="0" rtlCol="0" anchor="ctr"/>
          <a:lstStyle/>
          <a:p>
            <a:pPr algn="ctr" indent="0" marL="0">
              <a:buNone/>
            </a:pPr>
            <a:r>
              <a:rPr lang="en-US" sz="1050" b="1" dirty="0">
                <a:solidFill>
                  <a:srgbClr val="334155"/>
                </a:solidFill>
                <a:latin typeface="Calibri" pitchFamily="34" charset="0"/>
                <a:ea typeface="Calibri" pitchFamily="34" charset="-122"/>
                <a:cs typeface="Calibri" pitchFamily="34" charset="-120"/>
              </a:rPr>
              <a:t>Planificado</a:t>
            </a:r>
            <a:endParaRPr lang="en-US" sz="1050" dirty="0"/>
          </a:p>
        </p:txBody>
      </p:sp>
      <p:sp>
        <p:nvSpPr>
          <p:cNvPr id="28" name="Text 26"/>
          <p:cNvSpPr/>
          <p:nvPr/>
        </p:nvSpPr>
        <p:spPr>
          <a:xfrm>
            <a:off x="6537960" y="5404104"/>
            <a:ext cx="4754880"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Pitch, MFCC y comparación por alineamiento temporal: semanas 5 y 6</a:t>
            </a:r>
            <a:endParaRPr lang="en-US" sz="1150" dirty="0"/>
          </a:p>
        </p:txBody>
      </p:sp>
      <p:sp>
        <p:nvSpPr>
          <p:cNvPr id="29" name="Text 27"/>
          <p:cNvSpPr/>
          <p:nvPr/>
        </p:nvSpPr>
        <p:spPr>
          <a:xfrm>
            <a:off x="640080" y="6327648"/>
            <a:ext cx="10881360" cy="274320"/>
          </a:xfrm>
          <a:prstGeom prst="rect">
            <a:avLst/>
          </a:prstGeom>
          <a:noFill/>
          <a:ln/>
        </p:spPr>
        <p:txBody>
          <a:bodyPr wrap="square" lIns="0" tIns="0" rIns="0" bIns="0" rtlCol="0" anchor="ctr"/>
          <a:lstStyle/>
          <a:p>
            <a:pPr indent="0" marL="0">
              <a:buNone/>
            </a:pPr>
            <a:r>
              <a:rPr lang="en-US" sz="950" dirty="0">
                <a:solidFill>
                  <a:srgbClr val="A8B0BF"/>
                </a:solidFill>
                <a:latin typeface="Calibri" pitchFamily="34" charset="0"/>
                <a:ea typeface="Calibri" pitchFamily="34" charset="-122"/>
                <a:cs typeface="Calibri" pitchFamily="34" charset="-120"/>
              </a:rPr>
              <a:t>Matriz de trazabilidad completa: documento técnico, sección 6</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384048"/>
            <a:ext cx="10881360" cy="685800"/>
          </a:xfrm>
          <a:prstGeom prst="rect">
            <a:avLst/>
          </a:prstGeom>
          <a:noFill/>
          <a:ln/>
        </p:spPr>
        <p:txBody>
          <a:bodyPr wrap="square" rtlCol="0" anchor="ctr"/>
          <a:lstStyle/>
          <a:p>
            <a:pPr indent="0" marL="0">
              <a:buNone/>
            </a:pPr>
            <a:r>
              <a:rPr lang="en-US" sz="3400" b="1" dirty="0">
                <a:solidFill>
                  <a:srgbClr val="1E2433"/>
                </a:solidFill>
                <a:latin typeface="Cambria" pitchFamily="34" charset="0"/>
                <a:ea typeface="Cambria" pitchFamily="34" charset="-122"/>
                <a:cs typeface="Cambria" pitchFamily="34" charset="-120"/>
              </a:rPr>
              <a:t>Camino al Avance 2</a:t>
            </a:r>
            <a:endParaRPr lang="en-US" sz="3400" dirty="0"/>
          </a:p>
        </p:txBody>
      </p:sp>
      <p:sp>
        <p:nvSpPr>
          <p:cNvPr id="3" name="Text 1"/>
          <p:cNvSpPr/>
          <p:nvPr/>
        </p:nvSpPr>
        <p:spPr>
          <a:xfrm>
            <a:off x="658368" y="1060704"/>
            <a:ext cx="10881360" cy="365760"/>
          </a:xfrm>
          <a:prstGeom prst="rect">
            <a:avLst/>
          </a:prstGeom>
          <a:noFill/>
          <a:ln/>
        </p:spPr>
        <p:txBody>
          <a:bodyPr wrap="square" rtlCol="0" anchor="ctr"/>
          <a:lstStyle/>
          <a:p>
            <a:pPr indent="0" marL="0">
              <a:buNone/>
            </a:pPr>
            <a:r>
              <a:rPr lang="en-US" sz="1400" dirty="0">
                <a:solidFill>
                  <a:srgbClr val="64748B"/>
                </a:solidFill>
                <a:latin typeface="Calibri" pitchFamily="34" charset="0"/>
                <a:ea typeface="Calibri" pitchFamily="34" charset="-122"/>
                <a:cs typeface="Calibri" pitchFamily="34" charset="-120"/>
              </a:rPr>
              <a:t>Las semanas donde el proyecto cierra el ciclo de pronunciación</a:t>
            </a:r>
            <a:endParaRPr lang="en-US" sz="1400" dirty="0"/>
          </a:p>
        </p:txBody>
      </p:sp>
      <p:sp>
        <p:nvSpPr>
          <p:cNvPr id="4" name="Shape 2"/>
          <p:cNvSpPr/>
          <p:nvPr/>
        </p:nvSpPr>
        <p:spPr>
          <a:xfrm>
            <a:off x="640080" y="1737360"/>
            <a:ext cx="3429000" cy="2286000"/>
          </a:xfrm>
          <a:prstGeom prst="roundRect">
            <a:avLst>
              <a:gd name="adj" fmla="val 2400"/>
            </a:avLst>
          </a:prstGeom>
          <a:solidFill>
            <a:srgbClr val="F1F5F9"/>
          </a:solidFill>
          <a:ln/>
        </p:spPr>
      </p:sp>
      <p:sp>
        <p:nvSpPr>
          <p:cNvPr id="5" name="Text 3"/>
          <p:cNvSpPr/>
          <p:nvPr/>
        </p:nvSpPr>
        <p:spPr>
          <a:xfrm>
            <a:off x="914400" y="1965960"/>
            <a:ext cx="2880360" cy="365760"/>
          </a:xfrm>
          <a:prstGeom prst="rect">
            <a:avLst/>
          </a:prstGeom>
          <a:noFill/>
          <a:ln/>
        </p:spPr>
        <p:txBody>
          <a:bodyPr wrap="square" lIns="0" tIns="0" rIns="0" bIns="0" rtlCol="0" anchor="ctr"/>
          <a:lstStyle/>
          <a:p>
            <a:pPr indent="0" marL="0">
              <a:buNone/>
            </a:pPr>
            <a:r>
              <a:rPr lang="en-US" sz="2000" b="1" dirty="0">
                <a:solidFill>
                  <a:srgbClr val="065A82"/>
                </a:solidFill>
                <a:latin typeface="Cambria" pitchFamily="34" charset="0"/>
                <a:ea typeface="Cambria" pitchFamily="34" charset="-122"/>
                <a:cs typeface="Cambria" pitchFamily="34" charset="-120"/>
              </a:rPr>
              <a:t>Semana 5</a:t>
            </a:r>
            <a:endParaRPr lang="en-US" sz="2000" dirty="0"/>
          </a:p>
        </p:txBody>
      </p:sp>
      <p:sp>
        <p:nvSpPr>
          <p:cNvPr id="6" name="Text 4"/>
          <p:cNvSpPr/>
          <p:nvPr/>
        </p:nvSpPr>
        <p:spPr>
          <a:xfrm>
            <a:off x="914400" y="2423160"/>
            <a:ext cx="2926080" cy="1417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Detección de frecuencia fundamental con el algoritmo YIN y extracción de coeficientes cepstrales en escala mel, validados contra referencia</a:t>
            </a:r>
            <a:endParaRPr lang="en-US" sz="1200" dirty="0"/>
          </a:p>
        </p:txBody>
      </p:sp>
      <p:sp>
        <p:nvSpPr>
          <p:cNvPr id="7" name="Shape 5"/>
          <p:cNvSpPr/>
          <p:nvPr/>
        </p:nvSpPr>
        <p:spPr>
          <a:xfrm>
            <a:off x="4361688" y="1737360"/>
            <a:ext cx="3429000" cy="2286000"/>
          </a:xfrm>
          <a:prstGeom prst="roundRect">
            <a:avLst>
              <a:gd name="adj" fmla="val 2400"/>
            </a:avLst>
          </a:prstGeom>
          <a:solidFill>
            <a:srgbClr val="F1F5F9"/>
          </a:solidFill>
          <a:ln/>
        </p:spPr>
      </p:sp>
      <p:sp>
        <p:nvSpPr>
          <p:cNvPr id="8" name="Text 6"/>
          <p:cNvSpPr/>
          <p:nvPr/>
        </p:nvSpPr>
        <p:spPr>
          <a:xfrm>
            <a:off x="4636008" y="1965960"/>
            <a:ext cx="2880360" cy="365760"/>
          </a:xfrm>
          <a:prstGeom prst="rect">
            <a:avLst/>
          </a:prstGeom>
          <a:noFill/>
          <a:ln/>
        </p:spPr>
        <p:txBody>
          <a:bodyPr wrap="square" lIns="0" tIns="0" rIns="0" bIns="0" rtlCol="0" anchor="ctr"/>
          <a:lstStyle/>
          <a:p>
            <a:pPr indent="0" marL="0">
              <a:buNone/>
            </a:pPr>
            <a:r>
              <a:rPr lang="en-US" sz="2000" b="1" dirty="0">
                <a:solidFill>
                  <a:srgbClr val="1C7293"/>
                </a:solidFill>
                <a:latin typeface="Cambria" pitchFamily="34" charset="0"/>
                <a:ea typeface="Cambria" pitchFamily="34" charset="-122"/>
                <a:cs typeface="Cambria" pitchFamily="34" charset="-120"/>
              </a:rPr>
              <a:t>Semana 6</a:t>
            </a:r>
            <a:endParaRPr lang="en-US" sz="2000" dirty="0"/>
          </a:p>
        </p:txBody>
      </p:sp>
      <p:sp>
        <p:nvSpPr>
          <p:cNvPr id="9" name="Text 7"/>
          <p:cNvSpPr/>
          <p:nvPr/>
        </p:nvSpPr>
        <p:spPr>
          <a:xfrm>
            <a:off x="4636008" y="2423160"/>
            <a:ext cx="2926080" cy="1417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Comparador acústico con alineamiento temporal dinámico: puntaje de pronunciación global y por palabra frente a una referencia sintetizada</a:t>
            </a:r>
            <a:endParaRPr lang="en-US" sz="1200" dirty="0"/>
          </a:p>
        </p:txBody>
      </p:sp>
      <p:sp>
        <p:nvSpPr>
          <p:cNvPr id="10" name="Shape 8"/>
          <p:cNvSpPr/>
          <p:nvPr/>
        </p:nvSpPr>
        <p:spPr>
          <a:xfrm>
            <a:off x="8083296" y="1737360"/>
            <a:ext cx="3429000" cy="2286000"/>
          </a:xfrm>
          <a:prstGeom prst="roundRect">
            <a:avLst>
              <a:gd name="adj" fmla="val 2400"/>
            </a:avLst>
          </a:prstGeom>
          <a:solidFill>
            <a:srgbClr val="F1F5F9"/>
          </a:solidFill>
          <a:ln/>
        </p:spPr>
      </p:sp>
      <p:sp>
        <p:nvSpPr>
          <p:cNvPr id="11" name="Text 9"/>
          <p:cNvSpPr/>
          <p:nvPr/>
        </p:nvSpPr>
        <p:spPr>
          <a:xfrm>
            <a:off x="8357616" y="1965960"/>
            <a:ext cx="2880360" cy="365760"/>
          </a:xfrm>
          <a:prstGeom prst="rect">
            <a:avLst/>
          </a:prstGeom>
          <a:noFill/>
          <a:ln/>
        </p:spPr>
        <p:txBody>
          <a:bodyPr wrap="square" lIns="0" tIns="0" rIns="0" bIns="0" rtlCol="0" anchor="ctr"/>
          <a:lstStyle/>
          <a:p>
            <a:pPr indent="0" marL="0">
              <a:buNone/>
            </a:pPr>
            <a:r>
              <a:rPr lang="en-US" sz="2000" b="1" dirty="0">
                <a:solidFill>
                  <a:srgbClr val="0F766E"/>
                </a:solidFill>
                <a:latin typeface="Cambria" pitchFamily="34" charset="0"/>
                <a:ea typeface="Cambria" pitchFamily="34" charset="-122"/>
                <a:cs typeface="Cambria" pitchFamily="34" charset="-120"/>
              </a:rPr>
              <a:t>Semana 7</a:t>
            </a:r>
            <a:endParaRPr lang="en-US" sz="2000" dirty="0"/>
          </a:p>
        </p:txBody>
      </p:sp>
      <p:sp>
        <p:nvSpPr>
          <p:cNvPr id="12" name="Text 10"/>
          <p:cNvSpPr/>
          <p:nvPr/>
        </p:nvSpPr>
        <p:spPr>
          <a:xfrm>
            <a:off x="8357616" y="2423160"/>
            <a:ext cx="2926080" cy="1417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Conversación completa con respuesta hablada y sugerencias, más la verificación formal del funcionamiento sin conexión</a:t>
            </a:r>
            <a:endParaRPr lang="en-US" sz="1200" dirty="0"/>
          </a:p>
        </p:txBody>
      </p:sp>
      <p:sp>
        <p:nvSpPr>
          <p:cNvPr id="13" name="Shape 11"/>
          <p:cNvSpPr/>
          <p:nvPr/>
        </p:nvSpPr>
        <p:spPr>
          <a:xfrm>
            <a:off x="640080" y="4297680"/>
            <a:ext cx="10881360" cy="1691640"/>
          </a:xfrm>
          <a:prstGeom prst="roundRect">
            <a:avLst>
              <a:gd name="adj" fmla="val 3243"/>
            </a:avLst>
          </a:prstGeom>
          <a:solidFill>
            <a:srgbClr val="21295C"/>
          </a:solidFill>
          <a:ln/>
        </p:spPr>
      </p:sp>
      <p:sp>
        <p:nvSpPr>
          <p:cNvPr id="14" name="Text 12"/>
          <p:cNvSpPr/>
          <p:nvPr/>
        </p:nvSpPr>
        <p:spPr>
          <a:xfrm>
            <a:off x="960120" y="4526280"/>
            <a:ext cx="5486400" cy="347472"/>
          </a:xfrm>
          <a:prstGeom prst="rect">
            <a:avLst/>
          </a:prstGeom>
          <a:noFill/>
          <a:ln/>
        </p:spPr>
        <p:txBody>
          <a:bodyPr wrap="square" lIns="0" tIns="0" rIns="0" bIns="0" rtlCol="0" anchor="ctr"/>
          <a:lstStyle/>
          <a:p>
            <a:pPr indent="0" marL="0">
              <a:buNone/>
            </a:pPr>
            <a:r>
              <a:rPr lang="en-US" sz="1700" b="1" dirty="0">
                <a:solidFill>
                  <a:srgbClr val="02C39A"/>
                </a:solidFill>
                <a:latin typeface="Cambria" pitchFamily="34" charset="0"/>
                <a:ea typeface="Cambria" pitchFamily="34" charset="-122"/>
                <a:cs typeface="Cambria" pitchFamily="34" charset="-120"/>
              </a:rPr>
              <a:t>El riesgo que seguimos vigilando</a:t>
            </a:r>
            <a:endParaRPr lang="en-US" sz="1700" dirty="0"/>
          </a:p>
        </p:txBody>
      </p:sp>
      <p:sp>
        <p:nvSpPr>
          <p:cNvPr id="15" name="Text 13"/>
          <p:cNvSpPr/>
          <p:nvPr/>
        </p:nvSpPr>
        <p:spPr>
          <a:xfrm>
            <a:off x="960120" y="4919472"/>
            <a:ext cx="10241280" cy="960120"/>
          </a:xfrm>
          <a:prstGeom prst="rect">
            <a:avLst/>
          </a:prstGeom>
          <a:noFill/>
          <a:ln/>
        </p:spPr>
        <p:txBody>
          <a:bodyPr wrap="square" lIns="0" tIns="0" rIns="0" bIns="0" rtlCol="0" anchor="ctr"/>
          <a:lstStyle/>
          <a:p>
            <a:pPr indent="0" marL="0">
              <a:buNone/>
            </a:pPr>
            <a:r>
              <a:rPr lang="en-US" sz="1250" dirty="0">
                <a:solidFill>
                  <a:srgbClr val="C7D2E8"/>
                </a:solidFill>
                <a:latin typeface="Calibri" pitchFamily="34" charset="0"/>
                <a:ea typeface="Calibri" pitchFamily="34" charset="-122"/>
                <a:cs typeface="Calibri" pitchFamily="34" charset="-120"/>
              </a:rPr>
              <a:t>La descarga inicial de 279 megabytes es alta para una aplicación web instalable. Descartamos reducir la cuantización porque la medición demostró que empeora latencia y tamaño. Las medidas adoptadas son cargar el corrector solo cuando se necesita y evaluar un modelo de menor tamaño durante la fase de optimización.</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097280" y="1687068"/>
            <a:ext cx="131916" cy="54864"/>
          </a:xfrm>
          <a:prstGeom prst="roundRect">
            <a:avLst>
              <a:gd name="adj" fmla="val 666667"/>
            </a:avLst>
          </a:prstGeom>
          <a:solidFill>
            <a:srgbClr val="2E3A73"/>
          </a:solidFill>
          <a:ln/>
        </p:spPr>
      </p:sp>
      <p:sp>
        <p:nvSpPr>
          <p:cNvPr id="3" name="Shape 1"/>
          <p:cNvSpPr/>
          <p:nvPr/>
        </p:nvSpPr>
        <p:spPr>
          <a:xfrm>
            <a:off x="1390426" y="1644345"/>
            <a:ext cx="131916" cy="140311"/>
          </a:xfrm>
          <a:prstGeom prst="roundRect">
            <a:avLst>
              <a:gd name="adj" fmla="val 277267"/>
            </a:avLst>
          </a:prstGeom>
          <a:solidFill>
            <a:srgbClr val="2E3A73"/>
          </a:solidFill>
          <a:ln/>
        </p:spPr>
      </p:sp>
      <p:sp>
        <p:nvSpPr>
          <p:cNvPr id="4" name="Shape 2"/>
          <p:cNvSpPr/>
          <p:nvPr/>
        </p:nvSpPr>
        <p:spPr>
          <a:xfrm>
            <a:off x="1683572" y="1573093"/>
            <a:ext cx="131916" cy="282815"/>
          </a:xfrm>
          <a:prstGeom prst="roundRect">
            <a:avLst>
              <a:gd name="adj" fmla="val 277267"/>
            </a:avLst>
          </a:prstGeom>
          <a:solidFill>
            <a:srgbClr val="2E3A73"/>
          </a:solidFill>
          <a:ln/>
        </p:spPr>
      </p:sp>
      <p:sp>
        <p:nvSpPr>
          <p:cNvPr id="5" name="Shape 3"/>
          <p:cNvSpPr/>
          <p:nvPr/>
        </p:nvSpPr>
        <p:spPr>
          <a:xfrm>
            <a:off x="1976718" y="1499972"/>
            <a:ext cx="131916" cy="429056"/>
          </a:xfrm>
          <a:prstGeom prst="roundRect">
            <a:avLst>
              <a:gd name="adj" fmla="val 277267"/>
            </a:avLst>
          </a:prstGeom>
          <a:solidFill>
            <a:srgbClr val="2E3A73"/>
          </a:solidFill>
          <a:ln/>
        </p:spPr>
      </p:sp>
      <p:sp>
        <p:nvSpPr>
          <p:cNvPr id="6" name="Shape 4"/>
          <p:cNvSpPr/>
          <p:nvPr/>
        </p:nvSpPr>
        <p:spPr>
          <a:xfrm>
            <a:off x="2269864" y="1435866"/>
            <a:ext cx="131916" cy="557268"/>
          </a:xfrm>
          <a:prstGeom prst="roundRect">
            <a:avLst>
              <a:gd name="adj" fmla="val 277267"/>
            </a:avLst>
          </a:prstGeom>
          <a:solidFill>
            <a:srgbClr val="2E3A73"/>
          </a:solidFill>
          <a:ln/>
        </p:spPr>
      </p:sp>
      <p:sp>
        <p:nvSpPr>
          <p:cNvPr id="7" name="Shape 5"/>
          <p:cNvSpPr/>
          <p:nvPr/>
        </p:nvSpPr>
        <p:spPr>
          <a:xfrm>
            <a:off x="2563009" y="1391021"/>
            <a:ext cx="131916" cy="646959"/>
          </a:xfrm>
          <a:prstGeom prst="roundRect">
            <a:avLst>
              <a:gd name="adj" fmla="val 277267"/>
            </a:avLst>
          </a:prstGeom>
          <a:solidFill>
            <a:srgbClr val="2E3A73"/>
          </a:solidFill>
          <a:ln/>
        </p:spPr>
      </p:sp>
      <p:sp>
        <p:nvSpPr>
          <p:cNvPr id="8" name="Shape 6"/>
          <p:cNvSpPr/>
          <p:nvPr/>
        </p:nvSpPr>
        <p:spPr>
          <a:xfrm>
            <a:off x="2856155" y="1373183"/>
            <a:ext cx="131916" cy="682634"/>
          </a:xfrm>
          <a:prstGeom prst="roundRect">
            <a:avLst>
              <a:gd name="adj" fmla="val 277267"/>
            </a:avLst>
          </a:prstGeom>
          <a:solidFill>
            <a:srgbClr val="2E3A73"/>
          </a:solidFill>
          <a:ln/>
        </p:spPr>
      </p:sp>
      <p:sp>
        <p:nvSpPr>
          <p:cNvPr id="9" name="Shape 7"/>
          <p:cNvSpPr/>
          <p:nvPr/>
        </p:nvSpPr>
        <p:spPr>
          <a:xfrm>
            <a:off x="3149301" y="1386348"/>
            <a:ext cx="131916" cy="656303"/>
          </a:xfrm>
          <a:prstGeom prst="roundRect">
            <a:avLst>
              <a:gd name="adj" fmla="val 277267"/>
            </a:avLst>
          </a:prstGeom>
          <a:solidFill>
            <a:srgbClr val="2E3A73"/>
          </a:solidFill>
          <a:ln/>
        </p:spPr>
      </p:sp>
      <p:sp>
        <p:nvSpPr>
          <p:cNvPr id="10" name="Shape 8"/>
          <p:cNvSpPr/>
          <p:nvPr/>
        </p:nvSpPr>
        <p:spPr>
          <a:xfrm>
            <a:off x="3442447" y="1430076"/>
            <a:ext cx="131916" cy="568847"/>
          </a:xfrm>
          <a:prstGeom prst="roundRect">
            <a:avLst>
              <a:gd name="adj" fmla="val 277267"/>
            </a:avLst>
          </a:prstGeom>
          <a:solidFill>
            <a:srgbClr val="2E3A73"/>
          </a:solidFill>
          <a:ln/>
        </p:spPr>
      </p:sp>
      <p:sp>
        <p:nvSpPr>
          <p:cNvPr id="11" name="Shape 9"/>
          <p:cNvSpPr/>
          <p:nvPr/>
        </p:nvSpPr>
        <p:spPr>
          <a:xfrm>
            <a:off x="3735593" y="1499454"/>
            <a:ext cx="131916" cy="430091"/>
          </a:xfrm>
          <a:prstGeom prst="roundRect">
            <a:avLst>
              <a:gd name="adj" fmla="val 277267"/>
            </a:avLst>
          </a:prstGeom>
          <a:solidFill>
            <a:srgbClr val="2E3A73"/>
          </a:solidFill>
          <a:ln/>
        </p:spPr>
      </p:sp>
      <p:sp>
        <p:nvSpPr>
          <p:cNvPr id="12" name="Shape 10"/>
          <p:cNvSpPr/>
          <p:nvPr/>
        </p:nvSpPr>
        <p:spPr>
          <a:xfrm>
            <a:off x="4028739" y="1521844"/>
            <a:ext cx="131916" cy="385312"/>
          </a:xfrm>
          <a:prstGeom prst="roundRect">
            <a:avLst>
              <a:gd name="adj" fmla="val 277267"/>
            </a:avLst>
          </a:prstGeom>
          <a:solidFill>
            <a:srgbClr val="2E3A73"/>
          </a:solidFill>
          <a:ln/>
        </p:spPr>
      </p:sp>
      <p:sp>
        <p:nvSpPr>
          <p:cNvPr id="13" name="Shape 11"/>
          <p:cNvSpPr/>
          <p:nvPr/>
        </p:nvSpPr>
        <p:spPr>
          <a:xfrm>
            <a:off x="4321885" y="1417715"/>
            <a:ext cx="131916" cy="593570"/>
          </a:xfrm>
          <a:prstGeom prst="roundRect">
            <a:avLst>
              <a:gd name="adj" fmla="val 277267"/>
            </a:avLst>
          </a:prstGeom>
          <a:solidFill>
            <a:srgbClr val="2E3A73"/>
          </a:solidFill>
          <a:ln/>
        </p:spPr>
      </p:sp>
      <p:sp>
        <p:nvSpPr>
          <p:cNvPr id="14" name="Shape 12"/>
          <p:cNvSpPr/>
          <p:nvPr/>
        </p:nvSpPr>
        <p:spPr>
          <a:xfrm>
            <a:off x="4615031" y="1322710"/>
            <a:ext cx="131916" cy="783579"/>
          </a:xfrm>
          <a:prstGeom prst="roundRect">
            <a:avLst>
              <a:gd name="adj" fmla="val 277267"/>
            </a:avLst>
          </a:prstGeom>
          <a:solidFill>
            <a:srgbClr val="2E3A73"/>
          </a:solidFill>
          <a:ln/>
        </p:spPr>
      </p:sp>
      <p:sp>
        <p:nvSpPr>
          <p:cNvPr id="15" name="Shape 13"/>
          <p:cNvSpPr/>
          <p:nvPr/>
        </p:nvSpPr>
        <p:spPr>
          <a:xfrm>
            <a:off x="4908176" y="1248724"/>
            <a:ext cx="131916" cy="931553"/>
          </a:xfrm>
          <a:prstGeom prst="roundRect">
            <a:avLst>
              <a:gd name="adj" fmla="val 277267"/>
            </a:avLst>
          </a:prstGeom>
          <a:solidFill>
            <a:srgbClr val="2E3A73"/>
          </a:solidFill>
          <a:ln/>
        </p:spPr>
      </p:sp>
      <p:sp>
        <p:nvSpPr>
          <p:cNvPr id="16" name="Shape 14"/>
          <p:cNvSpPr/>
          <p:nvPr/>
        </p:nvSpPr>
        <p:spPr>
          <a:xfrm>
            <a:off x="5201322" y="1205342"/>
            <a:ext cx="131916" cy="1018317"/>
          </a:xfrm>
          <a:prstGeom prst="roundRect">
            <a:avLst>
              <a:gd name="adj" fmla="val 277267"/>
            </a:avLst>
          </a:prstGeom>
          <a:solidFill>
            <a:srgbClr val="2E3A73"/>
          </a:solidFill>
          <a:ln/>
        </p:spPr>
      </p:sp>
      <p:sp>
        <p:nvSpPr>
          <p:cNvPr id="17" name="Shape 15"/>
          <p:cNvSpPr/>
          <p:nvPr/>
        </p:nvSpPr>
        <p:spPr>
          <a:xfrm>
            <a:off x="5494468" y="1198472"/>
            <a:ext cx="131916" cy="1032055"/>
          </a:xfrm>
          <a:prstGeom prst="roundRect">
            <a:avLst>
              <a:gd name="adj" fmla="val 277267"/>
            </a:avLst>
          </a:prstGeom>
          <a:solidFill>
            <a:srgbClr val="2E3A73"/>
          </a:solidFill>
          <a:ln/>
        </p:spPr>
      </p:sp>
      <p:sp>
        <p:nvSpPr>
          <p:cNvPr id="18" name="Shape 16"/>
          <p:cNvSpPr/>
          <p:nvPr/>
        </p:nvSpPr>
        <p:spPr>
          <a:xfrm>
            <a:off x="5787614" y="1229484"/>
            <a:ext cx="131916" cy="970033"/>
          </a:xfrm>
          <a:prstGeom prst="roundRect">
            <a:avLst>
              <a:gd name="adj" fmla="val 277267"/>
            </a:avLst>
          </a:prstGeom>
          <a:solidFill>
            <a:srgbClr val="2E3A73"/>
          </a:solidFill>
          <a:ln/>
        </p:spPr>
      </p:sp>
      <p:sp>
        <p:nvSpPr>
          <p:cNvPr id="19" name="Shape 17"/>
          <p:cNvSpPr/>
          <p:nvPr/>
        </p:nvSpPr>
        <p:spPr>
          <a:xfrm>
            <a:off x="6080760" y="1294969"/>
            <a:ext cx="131916" cy="839062"/>
          </a:xfrm>
          <a:prstGeom prst="roundRect">
            <a:avLst>
              <a:gd name="adj" fmla="val 277267"/>
            </a:avLst>
          </a:prstGeom>
          <a:solidFill>
            <a:srgbClr val="2E3A73"/>
          </a:solidFill>
          <a:ln/>
        </p:spPr>
      </p:sp>
      <p:sp>
        <p:nvSpPr>
          <p:cNvPr id="20" name="Shape 18"/>
          <p:cNvSpPr/>
          <p:nvPr/>
        </p:nvSpPr>
        <p:spPr>
          <a:xfrm>
            <a:off x="6373906" y="1387179"/>
            <a:ext cx="131916" cy="654642"/>
          </a:xfrm>
          <a:prstGeom prst="roundRect">
            <a:avLst>
              <a:gd name="adj" fmla="val 277267"/>
            </a:avLst>
          </a:prstGeom>
          <a:solidFill>
            <a:srgbClr val="2E3A73"/>
          </a:solidFill>
          <a:ln/>
        </p:spPr>
      </p:sp>
      <p:sp>
        <p:nvSpPr>
          <p:cNvPr id="21" name="Shape 19"/>
          <p:cNvSpPr/>
          <p:nvPr/>
        </p:nvSpPr>
        <p:spPr>
          <a:xfrm>
            <a:off x="6667052" y="1495061"/>
            <a:ext cx="131916" cy="438878"/>
          </a:xfrm>
          <a:prstGeom prst="roundRect">
            <a:avLst>
              <a:gd name="adj" fmla="val 277267"/>
            </a:avLst>
          </a:prstGeom>
          <a:solidFill>
            <a:srgbClr val="2E3A73"/>
          </a:solidFill>
          <a:ln/>
        </p:spPr>
      </p:sp>
      <p:sp>
        <p:nvSpPr>
          <p:cNvPr id="22" name="Shape 20"/>
          <p:cNvSpPr/>
          <p:nvPr/>
        </p:nvSpPr>
        <p:spPr>
          <a:xfrm>
            <a:off x="6960198" y="1463699"/>
            <a:ext cx="131916" cy="501602"/>
          </a:xfrm>
          <a:prstGeom prst="roundRect">
            <a:avLst>
              <a:gd name="adj" fmla="val 277267"/>
            </a:avLst>
          </a:prstGeom>
          <a:solidFill>
            <a:srgbClr val="2E3A73"/>
          </a:solidFill>
          <a:ln/>
        </p:spPr>
      </p:sp>
      <p:sp>
        <p:nvSpPr>
          <p:cNvPr id="23" name="Shape 21"/>
          <p:cNvSpPr/>
          <p:nvPr/>
        </p:nvSpPr>
        <p:spPr>
          <a:xfrm>
            <a:off x="7253344" y="1369756"/>
            <a:ext cx="131916" cy="689487"/>
          </a:xfrm>
          <a:prstGeom prst="roundRect">
            <a:avLst>
              <a:gd name="adj" fmla="val 277267"/>
            </a:avLst>
          </a:prstGeom>
          <a:solidFill>
            <a:srgbClr val="2E3A73"/>
          </a:solidFill>
          <a:ln/>
        </p:spPr>
      </p:sp>
      <p:sp>
        <p:nvSpPr>
          <p:cNvPr id="24" name="Shape 22"/>
          <p:cNvSpPr/>
          <p:nvPr/>
        </p:nvSpPr>
        <p:spPr>
          <a:xfrm>
            <a:off x="7546489" y="1299101"/>
            <a:ext cx="131916" cy="830797"/>
          </a:xfrm>
          <a:prstGeom prst="roundRect">
            <a:avLst>
              <a:gd name="adj" fmla="val 277267"/>
            </a:avLst>
          </a:prstGeom>
          <a:solidFill>
            <a:srgbClr val="2E3A73"/>
          </a:solidFill>
          <a:ln/>
        </p:spPr>
      </p:sp>
      <p:sp>
        <p:nvSpPr>
          <p:cNvPr id="25" name="Shape 23"/>
          <p:cNvSpPr/>
          <p:nvPr/>
        </p:nvSpPr>
        <p:spPr>
          <a:xfrm>
            <a:off x="7839635" y="1259820"/>
            <a:ext cx="131916" cy="909360"/>
          </a:xfrm>
          <a:prstGeom prst="roundRect">
            <a:avLst>
              <a:gd name="adj" fmla="val 277267"/>
            </a:avLst>
          </a:prstGeom>
          <a:solidFill>
            <a:srgbClr val="2E3A73"/>
          </a:solidFill>
          <a:ln/>
        </p:spPr>
      </p:sp>
      <p:sp>
        <p:nvSpPr>
          <p:cNvPr id="26" name="Shape 24"/>
          <p:cNvSpPr/>
          <p:nvPr/>
        </p:nvSpPr>
        <p:spPr>
          <a:xfrm>
            <a:off x="8132781" y="1255773"/>
            <a:ext cx="131916" cy="917454"/>
          </a:xfrm>
          <a:prstGeom prst="roundRect">
            <a:avLst>
              <a:gd name="adj" fmla="val 277267"/>
            </a:avLst>
          </a:prstGeom>
          <a:solidFill>
            <a:srgbClr val="2E3A73"/>
          </a:solidFill>
          <a:ln/>
        </p:spPr>
      </p:sp>
      <p:sp>
        <p:nvSpPr>
          <p:cNvPr id="27" name="Shape 25"/>
          <p:cNvSpPr/>
          <p:nvPr/>
        </p:nvSpPr>
        <p:spPr>
          <a:xfrm>
            <a:off x="8425927" y="1286148"/>
            <a:ext cx="131916" cy="856704"/>
          </a:xfrm>
          <a:prstGeom prst="roundRect">
            <a:avLst>
              <a:gd name="adj" fmla="val 277267"/>
            </a:avLst>
          </a:prstGeom>
          <a:solidFill>
            <a:srgbClr val="2E3A73"/>
          </a:solidFill>
          <a:ln/>
        </p:spPr>
      </p:sp>
      <p:sp>
        <p:nvSpPr>
          <p:cNvPr id="28" name="Shape 26"/>
          <p:cNvSpPr/>
          <p:nvPr/>
        </p:nvSpPr>
        <p:spPr>
          <a:xfrm>
            <a:off x="8719073" y="1345672"/>
            <a:ext cx="131916" cy="737655"/>
          </a:xfrm>
          <a:prstGeom prst="roundRect">
            <a:avLst>
              <a:gd name="adj" fmla="val 277267"/>
            </a:avLst>
          </a:prstGeom>
          <a:solidFill>
            <a:srgbClr val="2E3A73"/>
          </a:solidFill>
          <a:ln/>
        </p:spPr>
      </p:sp>
      <p:sp>
        <p:nvSpPr>
          <p:cNvPr id="29" name="Shape 27"/>
          <p:cNvSpPr/>
          <p:nvPr/>
        </p:nvSpPr>
        <p:spPr>
          <a:xfrm>
            <a:off x="9012219" y="1425452"/>
            <a:ext cx="131916" cy="578095"/>
          </a:xfrm>
          <a:prstGeom prst="roundRect">
            <a:avLst>
              <a:gd name="adj" fmla="val 277267"/>
            </a:avLst>
          </a:prstGeom>
          <a:solidFill>
            <a:srgbClr val="2E3A73"/>
          </a:solidFill>
          <a:ln/>
        </p:spPr>
      </p:sp>
      <p:sp>
        <p:nvSpPr>
          <p:cNvPr id="30" name="Shape 28"/>
          <p:cNvSpPr/>
          <p:nvPr/>
        </p:nvSpPr>
        <p:spPr>
          <a:xfrm>
            <a:off x="9305365" y="1514319"/>
            <a:ext cx="131916" cy="400363"/>
          </a:xfrm>
          <a:prstGeom prst="roundRect">
            <a:avLst>
              <a:gd name="adj" fmla="val 277267"/>
            </a:avLst>
          </a:prstGeom>
          <a:solidFill>
            <a:srgbClr val="2E3A73"/>
          </a:solidFill>
          <a:ln/>
        </p:spPr>
      </p:sp>
      <p:sp>
        <p:nvSpPr>
          <p:cNvPr id="31" name="Shape 29"/>
          <p:cNvSpPr/>
          <p:nvPr/>
        </p:nvSpPr>
        <p:spPr>
          <a:xfrm>
            <a:off x="9598511" y="1600478"/>
            <a:ext cx="131916" cy="228044"/>
          </a:xfrm>
          <a:prstGeom prst="roundRect">
            <a:avLst>
              <a:gd name="adj" fmla="val 277267"/>
            </a:avLst>
          </a:prstGeom>
          <a:solidFill>
            <a:srgbClr val="2E3A73"/>
          </a:solidFill>
          <a:ln/>
        </p:spPr>
      </p:sp>
      <p:sp>
        <p:nvSpPr>
          <p:cNvPr id="32" name="Shape 30"/>
          <p:cNvSpPr/>
          <p:nvPr/>
        </p:nvSpPr>
        <p:spPr>
          <a:xfrm>
            <a:off x="9891656" y="1555970"/>
            <a:ext cx="131916" cy="317061"/>
          </a:xfrm>
          <a:prstGeom prst="roundRect">
            <a:avLst>
              <a:gd name="adj" fmla="val 277267"/>
            </a:avLst>
          </a:prstGeom>
          <a:solidFill>
            <a:srgbClr val="2E3A73"/>
          </a:solidFill>
          <a:ln/>
        </p:spPr>
      </p:sp>
      <p:sp>
        <p:nvSpPr>
          <p:cNvPr id="33" name="Shape 31"/>
          <p:cNvSpPr/>
          <p:nvPr/>
        </p:nvSpPr>
        <p:spPr>
          <a:xfrm>
            <a:off x="10184802" y="1535332"/>
            <a:ext cx="131916" cy="358335"/>
          </a:xfrm>
          <a:prstGeom prst="roundRect">
            <a:avLst>
              <a:gd name="adj" fmla="val 277267"/>
            </a:avLst>
          </a:prstGeom>
          <a:solidFill>
            <a:srgbClr val="2E3A73"/>
          </a:solidFill>
          <a:ln/>
        </p:spPr>
      </p:sp>
      <p:sp>
        <p:nvSpPr>
          <p:cNvPr id="34" name="Shape 32"/>
          <p:cNvSpPr/>
          <p:nvPr/>
        </p:nvSpPr>
        <p:spPr>
          <a:xfrm>
            <a:off x="10477948" y="1545807"/>
            <a:ext cx="131916" cy="337385"/>
          </a:xfrm>
          <a:prstGeom prst="roundRect">
            <a:avLst>
              <a:gd name="adj" fmla="val 277267"/>
            </a:avLst>
          </a:prstGeom>
          <a:solidFill>
            <a:srgbClr val="2E3A73"/>
          </a:solidFill>
          <a:ln/>
        </p:spPr>
      </p:sp>
      <p:sp>
        <p:nvSpPr>
          <p:cNvPr id="35" name="Shape 33"/>
          <p:cNvSpPr/>
          <p:nvPr/>
        </p:nvSpPr>
        <p:spPr>
          <a:xfrm>
            <a:off x="10771094" y="1591720"/>
            <a:ext cx="131916" cy="245560"/>
          </a:xfrm>
          <a:prstGeom prst="roundRect">
            <a:avLst>
              <a:gd name="adj" fmla="val 277267"/>
            </a:avLst>
          </a:prstGeom>
          <a:solidFill>
            <a:srgbClr val="2E3A73"/>
          </a:solidFill>
          <a:ln/>
        </p:spPr>
      </p:sp>
      <p:sp>
        <p:nvSpPr>
          <p:cNvPr id="36" name="Text 34"/>
          <p:cNvSpPr/>
          <p:nvPr/>
        </p:nvSpPr>
        <p:spPr>
          <a:xfrm>
            <a:off x="1097280" y="2514600"/>
            <a:ext cx="9966960" cy="914400"/>
          </a:xfrm>
          <a:prstGeom prst="rect">
            <a:avLst/>
          </a:prstGeom>
          <a:noFill/>
          <a:ln/>
        </p:spPr>
        <p:txBody>
          <a:bodyPr wrap="square"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Gracias</a:t>
            </a:r>
            <a:endParaRPr lang="en-US" sz="4800" dirty="0"/>
          </a:p>
        </p:txBody>
      </p:sp>
      <p:sp>
        <p:nvSpPr>
          <p:cNvPr id="37" name="Text 35"/>
          <p:cNvSpPr/>
          <p:nvPr/>
        </p:nvSpPr>
        <p:spPr>
          <a:xfrm>
            <a:off x="1115568" y="3429000"/>
            <a:ext cx="9966960" cy="457200"/>
          </a:xfrm>
          <a:prstGeom prst="rect">
            <a:avLst/>
          </a:prstGeom>
          <a:noFill/>
          <a:ln/>
        </p:spPr>
        <p:txBody>
          <a:bodyPr wrap="square" rtlCol="0" anchor="ctr"/>
          <a:lstStyle/>
          <a:p>
            <a:pPr indent="0" marL="0">
              <a:buNone/>
            </a:pPr>
            <a:r>
              <a:rPr lang="en-US" sz="1800" dirty="0">
                <a:solidFill>
                  <a:srgbClr val="02C39A"/>
                </a:solidFill>
                <a:latin typeface="Calibri" pitchFamily="34" charset="0"/>
                <a:ea typeface="Calibri" pitchFamily="34" charset="-122"/>
                <a:cs typeface="Calibri" pitchFamily="34" charset="-120"/>
              </a:rPr>
              <a:t>Preguntas</a:t>
            </a:r>
            <a:endParaRPr lang="en-US" sz="1800" dirty="0"/>
          </a:p>
        </p:txBody>
      </p:sp>
      <p:sp>
        <p:nvSpPr>
          <p:cNvPr id="38" name="Shape 36"/>
          <p:cNvSpPr/>
          <p:nvPr/>
        </p:nvSpPr>
        <p:spPr>
          <a:xfrm>
            <a:off x="1097280" y="4251960"/>
            <a:ext cx="4846320" cy="1371600"/>
          </a:xfrm>
          <a:prstGeom prst="roundRect">
            <a:avLst>
              <a:gd name="adj" fmla="val 4000"/>
            </a:avLst>
          </a:prstGeom>
          <a:solidFill>
            <a:srgbClr val="2E3A73"/>
          </a:solidFill>
          <a:ln/>
        </p:spPr>
      </p:sp>
      <p:sp>
        <p:nvSpPr>
          <p:cNvPr id="39" name="Text 37"/>
          <p:cNvSpPr/>
          <p:nvPr/>
        </p:nvSpPr>
        <p:spPr>
          <a:xfrm>
            <a:off x="1371600" y="4434840"/>
            <a:ext cx="4297680" cy="292608"/>
          </a:xfrm>
          <a:prstGeom prst="rect">
            <a:avLst/>
          </a:prstGeom>
          <a:noFill/>
          <a:ln/>
        </p:spPr>
        <p:txBody>
          <a:bodyPr wrap="square" lIns="0" tIns="0" rIns="0" bIns="0" rtlCol="0" anchor="ctr"/>
          <a:lstStyle/>
          <a:p>
            <a:pPr indent="0" marL="0">
              <a:buNone/>
            </a:pPr>
            <a:r>
              <a:rPr lang="en-US" sz="1200" b="1" dirty="0">
                <a:solidFill>
                  <a:srgbClr val="9FB0D0"/>
                </a:solidFill>
                <a:latin typeface="Calibri" pitchFamily="34" charset="0"/>
                <a:ea typeface="Calibri" pitchFamily="34" charset="-122"/>
                <a:cs typeface="Calibri" pitchFamily="34" charset="-120"/>
              </a:rPr>
              <a:t>Repositorio</a:t>
            </a:r>
            <a:endParaRPr lang="en-US" sz="1200" dirty="0"/>
          </a:p>
        </p:txBody>
      </p:sp>
      <p:sp>
        <p:nvSpPr>
          <p:cNvPr id="40" name="Text 38"/>
          <p:cNvSpPr/>
          <p:nvPr/>
        </p:nvSpPr>
        <p:spPr>
          <a:xfrm>
            <a:off x="1371600" y="4754880"/>
            <a:ext cx="43891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github.com/HumanoidCat/mpet</a:t>
            </a:r>
            <a:endParaRPr lang="en-US" sz="1500" dirty="0"/>
          </a:p>
        </p:txBody>
      </p:sp>
      <p:sp>
        <p:nvSpPr>
          <p:cNvPr id="41" name="Text 39"/>
          <p:cNvSpPr/>
          <p:nvPr/>
        </p:nvSpPr>
        <p:spPr>
          <a:xfrm>
            <a:off x="1371600" y="5120640"/>
            <a:ext cx="4389120" cy="320040"/>
          </a:xfrm>
          <a:prstGeom prst="rect">
            <a:avLst/>
          </a:prstGeom>
          <a:noFill/>
          <a:ln/>
        </p:spPr>
        <p:txBody>
          <a:bodyPr wrap="square" lIns="0" tIns="0" rIns="0" bIns="0" rtlCol="0" anchor="ctr"/>
          <a:lstStyle/>
          <a:p>
            <a:pPr indent="0" marL="0">
              <a:buNone/>
            </a:pPr>
            <a:r>
              <a:rPr lang="en-US" sz="1050" dirty="0">
                <a:solidFill>
                  <a:srgbClr val="9FB0D0"/>
                </a:solidFill>
                <a:latin typeface="Calibri" pitchFamily="34" charset="0"/>
                <a:ea typeface="Calibri" pitchFamily="34" charset="-122"/>
                <a:cs typeface="Calibri" pitchFamily="34" charset="-120"/>
              </a:rPr>
              <a:t>Planificación, evidencias y bitácora de decisiones</a:t>
            </a:r>
            <a:endParaRPr lang="en-US" sz="1050" dirty="0"/>
          </a:p>
        </p:txBody>
      </p:sp>
      <p:sp>
        <p:nvSpPr>
          <p:cNvPr id="42" name="Shape 40"/>
          <p:cNvSpPr/>
          <p:nvPr/>
        </p:nvSpPr>
        <p:spPr>
          <a:xfrm>
            <a:off x="6217920" y="4251960"/>
            <a:ext cx="4846320" cy="1371600"/>
          </a:xfrm>
          <a:prstGeom prst="roundRect">
            <a:avLst>
              <a:gd name="adj" fmla="val 4000"/>
            </a:avLst>
          </a:prstGeom>
          <a:solidFill>
            <a:srgbClr val="2E3A73"/>
          </a:solidFill>
          <a:ln/>
        </p:spPr>
      </p:sp>
      <p:sp>
        <p:nvSpPr>
          <p:cNvPr id="43" name="Text 41"/>
          <p:cNvSpPr/>
          <p:nvPr/>
        </p:nvSpPr>
        <p:spPr>
          <a:xfrm>
            <a:off x="6492240" y="4434840"/>
            <a:ext cx="4297680" cy="292608"/>
          </a:xfrm>
          <a:prstGeom prst="rect">
            <a:avLst/>
          </a:prstGeom>
          <a:noFill/>
          <a:ln/>
        </p:spPr>
        <p:txBody>
          <a:bodyPr wrap="square" lIns="0" tIns="0" rIns="0" bIns="0" rtlCol="0" anchor="ctr"/>
          <a:lstStyle/>
          <a:p>
            <a:pPr indent="0" marL="0">
              <a:buNone/>
            </a:pPr>
            <a:r>
              <a:rPr lang="en-US" sz="1200" b="1" dirty="0">
                <a:solidFill>
                  <a:srgbClr val="9FB0D0"/>
                </a:solidFill>
                <a:latin typeface="Calibri" pitchFamily="34" charset="0"/>
                <a:ea typeface="Calibri" pitchFamily="34" charset="-122"/>
                <a:cs typeface="Calibri" pitchFamily="34" charset="-120"/>
              </a:rPr>
              <a:t>Aplicación en línea</a:t>
            </a:r>
            <a:endParaRPr lang="en-US" sz="1200" dirty="0"/>
          </a:p>
        </p:txBody>
      </p:sp>
      <p:sp>
        <p:nvSpPr>
          <p:cNvPr id="44" name="Text 42"/>
          <p:cNvSpPr/>
          <p:nvPr/>
        </p:nvSpPr>
        <p:spPr>
          <a:xfrm>
            <a:off x="6492240" y="4754880"/>
            <a:ext cx="43891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humanoidcat.github.io/mpet</a:t>
            </a:r>
            <a:endParaRPr lang="en-US" sz="1500" dirty="0"/>
          </a:p>
        </p:txBody>
      </p:sp>
      <p:sp>
        <p:nvSpPr>
          <p:cNvPr id="45" name="Text 43"/>
          <p:cNvSpPr/>
          <p:nvPr/>
        </p:nvSpPr>
        <p:spPr>
          <a:xfrm>
            <a:off x="6492240" y="5120640"/>
            <a:ext cx="4389120" cy="320040"/>
          </a:xfrm>
          <a:prstGeom prst="rect">
            <a:avLst/>
          </a:prstGeom>
          <a:noFill/>
          <a:ln/>
        </p:spPr>
        <p:txBody>
          <a:bodyPr wrap="square" lIns="0" tIns="0" rIns="0" bIns="0" rtlCol="0" anchor="ctr"/>
          <a:lstStyle/>
          <a:p>
            <a:pPr indent="0" marL="0">
              <a:buNone/>
            </a:pPr>
            <a:r>
              <a:rPr lang="en-US" sz="1050" dirty="0">
                <a:solidFill>
                  <a:srgbClr val="9FB0D0"/>
                </a:solidFill>
                <a:latin typeface="Calibri" pitchFamily="34" charset="0"/>
                <a:ea typeface="Calibri" pitchFamily="34" charset="-122"/>
                <a:cs typeface="Calibri" pitchFamily="34" charset="-120"/>
              </a:rPr>
              <a:t>Instalable y operativa sin conexión tras la primera carga</a:t>
            </a:r>
            <a:endParaRPr lang="en-US" sz="1050" dirty="0"/>
          </a:p>
        </p:txBody>
      </p:sp>
      <p:sp>
        <p:nvSpPr>
          <p:cNvPr id="46" name="Text 44"/>
          <p:cNvSpPr/>
          <p:nvPr/>
        </p:nvSpPr>
        <p:spPr>
          <a:xfrm>
            <a:off x="1097280" y="5989320"/>
            <a:ext cx="9966960" cy="320040"/>
          </a:xfrm>
          <a:prstGeom prst="rect">
            <a:avLst/>
          </a:prstGeom>
          <a:noFill/>
          <a:ln/>
        </p:spPr>
        <p:txBody>
          <a:bodyPr wrap="square" lIns="0" tIns="0" rIns="0" bIns="0" rtlCol="0" anchor="ctr"/>
          <a:lstStyle/>
          <a:p>
            <a:pPr indent="0" marL="0">
              <a:buNone/>
            </a:pPr>
            <a:r>
              <a:rPr lang="en-US" sz="1150" dirty="0">
                <a:solidFill>
                  <a:srgbClr val="7C8AAE"/>
                </a:solidFill>
                <a:latin typeface="Calibri" pitchFamily="34" charset="0"/>
                <a:ea typeface="Calibri" pitchFamily="34" charset="-122"/>
                <a:cs typeface="Calibri" pitchFamily="34" charset="-120"/>
              </a:rPr>
              <a:t>Alejandro Zamora  ·  Fabrizio Espinoza  ·  Isaac Morum  ·  José Pablo Monestel</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Personal English Teacher - Avance 1</dc:title>
  <dc:subject>PptxGenJS Presentation</dc:subject>
  <dc:creator>Equipo MPET</dc:creator>
  <cp:lastModifiedBy>Equipo MPET</cp:lastModifiedBy>
  <cp:revision>1</cp:revision>
  <dcterms:created xsi:type="dcterms:W3CDTF">2026-07-28T19:51:27Z</dcterms:created>
  <dcterms:modified xsi:type="dcterms:W3CDTF">2026-07-28T19:51:27Z</dcterms:modified>
</cp:coreProperties>
</file>