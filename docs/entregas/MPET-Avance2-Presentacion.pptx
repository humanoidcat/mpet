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Avance 2. El hilo es: recordar brevemente el problema, demostrar la conversacion completa, y presentar el hallazgo de RF-10, que es el resultado tecnico del periodo.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Treinta segundos, no mas. El profesor ya lo escucho el 28 de julio.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que responde a "que hicieron estas dos semanas". Las otras tres son contexto.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reparto importa: la correccion llega rapido porque pierde valor si tarda. La respuesta conversacional admite 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Corte para la demo. Si algo falla, se pasa al video sin explicar por que: se explica despues.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criterio de verificacion del proyecto y conviene decirlo en voz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defecto justifica por que verificar bloque a bloque es necesario pero no suficiente.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grabaciones, cinco frases, cuatro versiones, dos hablantes. Este es el resultado tecnico del periodo.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 decir que se agotaron las vias antes de cambiar de enfoque, y que cada una se descarto midiendo.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Defecto de integracion, no del comparador. Se detecto a raiz de la medicion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giro: ya teniamos un modelo entrenado con miles de voces. No hacia falta traer uno nuevo.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decision de no puntuar en conversacion libre es deliberada y conviene defenderla.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DSP no es el cuello de botella: 67 ms contra 2000, el 3.3 %. El costo esta en los modelos. La medicion integrada esta instrumentada con ?medir=1 y falta ejecutarla.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primeras son las que cambian como se presenta el proyecto en la final. Las demas son acabado.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Si hay una sola frase que quede, es 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E2E"/>
        </a:solidFill>
      </p:bgPr>
    </p:bg>
    <p:spTree>
      <p:nvGrpSpPr>
        <p:cNvPr id="1" name=""/>
        <p:cNvGrpSpPr/>
        <p:nvPr/>
      </p:nvGrpSpPr>
      <p:grpSpPr>
        <a:xfrm>
          <a:off x="0" y="0"/>
          <a:ext cx="0" cy="0"/>
          <a:chOff x="0" y="0"/>
          <a:chExt cx="0" cy="0"/>
        </a:xfrm>
      </p:grpSpPr>
      <p:sp>
        <p:nvSpPr>
          <p:cNvPr id="2" name="Shape 0"/>
          <p:cNvSpPr/>
          <p:nvPr/>
        </p:nvSpPr>
        <p:spPr>
          <a:xfrm>
            <a:off x="9326880" y="-1645920"/>
            <a:ext cx="4937760" cy="4937760"/>
          </a:xfrm>
          <a:prstGeom prst="ellipse">
            <a:avLst/>
          </a:prstGeom>
          <a:solidFill>
            <a:srgbClr val="32194F"/>
          </a:solidFill>
          <a:ln/>
        </p:spPr>
      </p:sp>
      <p:sp>
        <p:nvSpPr>
          <p:cNvPr id="3" name="Shape 1"/>
          <p:cNvSpPr/>
          <p:nvPr/>
        </p:nvSpPr>
        <p:spPr>
          <a:xfrm>
            <a:off x="10515600" y="4023360"/>
            <a:ext cx="3291840" cy="3291840"/>
          </a:xfrm>
          <a:prstGeom prst="ellipse">
            <a:avLst/>
          </a:prstGeom>
          <a:solidFill>
            <a:srgbClr val="8C2F6B"/>
          </a:solidFill>
          <a:ln/>
        </p:spPr>
      </p:sp>
      <p:sp>
        <p:nvSpPr>
          <p:cNvPr id="4" name="Shape 2"/>
          <p:cNvSpPr/>
          <p:nvPr/>
        </p:nvSpPr>
        <p:spPr>
          <a:xfrm>
            <a:off x="11521440" y="2377440"/>
            <a:ext cx="1371600" cy="1371600"/>
          </a:xfrm>
          <a:prstGeom prst="ellipse">
            <a:avLst/>
          </a:prstGeom>
          <a:solidFill>
            <a:srgbClr val="F0A63C"/>
          </a:solidFill>
          <a:ln/>
        </p:spPr>
      </p:sp>
      <p:sp>
        <p:nvSpPr>
          <p:cNvPr id="5" name="Shape 3"/>
          <p:cNvSpPr/>
          <p:nvPr/>
        </p:nvSpPr>
        <p:spPr>
          <a:xfrm>
            <a:off x="822960" y="1417320"/>
            <a:ext cx="1737360" cy="384048"/>
          </a:xfrm>
          <a:prstGeom prst="roundRect">
            <a:avLst>
              <a:gd name="adj" fmla="val 19048"/>
            </a:avLst>
          </a:prstGeom>
          <a:solidFill>
            <a:srgbClr val="8C2F6B"/>
          </a:solidFill>
          <a:ln/>
        </p:spPr>
      </p:sp>
      <p:sp>
        <p:nvSpPr>
          <p:cNvPr id="6" name="Text 4"/>
          <p:cNvSpPr/>
          <p:nvPr/>
        </p:nvSpPr>
        <p:spPr>
          <a:xfrm>
            <a:off x="822960" y="1417320"/>
            <a:ext cx="1737360" cy="384048"/>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AVANCE 2</a:t>
            </a:r>
            <a:endParaRPr lang="en-US" sz="1200" dirty="0"/>
          </a:p>
        </p:txBody>
      </p:sp>
      <p:sp>
        <p:nvSpPr>
          <p:cNvPr id="7" name="Text 5"/>
          <p:cNvSpPr/>
          <p:nvPr/>
        </p:nvSpPr>
        <p:spPr>
          <a:xfrm>
            <a:off x="822960" y="2057400"/>
            <a:ext cx="859536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My Personal English Teacher</a:t>
            </a:r>
            <a:endParaRPr lang="en-US" sz="4400" dirty="0"/>
          </a:p>
        </p:txBody>
      </p:sp>
      <p:sp>
        <p:nvSpPr>
          <p:cNvPr id="8" name="Text 6"/>
          <p:cNvSpPr/>
          <p:nvPr/>
        </p:nvSpPr>
        <p:spPr>
          <a:xfrm>
            <a:off x="822960" y="3063240"/>
            <a:ext cx="8229600" cy="822960"/>
          </a:xfrm>
          <a:prstGeom prst="rect">
            <a:avLst/>
          </a:prstGeom>
          <a:noFill/>
          <a:ln/>
        </p:spPr>
        <p:txBody>
          <a:bodyPr wrap="square" lIns="0" tIns="0" rIns="0" bIns="0" rtlCol="0" anchor="ctr"/>
          <a:lstStyle/>
          <a:p>
            <a:pPr indent="0" marL="0">
              <a:lnSpc>
                <a:spcPts val="2600"/>
              </a:lnSpc>
              <a:buNone/>
            </a:pPr>
            <a:r>
              <a:rPr lang="en-US" sz="1700" dirty="0">
                <a:solidFill>
                  <a:srgbClr val="B9A5C4"/>
                </a:solidFill>
                <a:latin typeface="Calibri" pitchFamily="34" charset="0"/>
                <a:ea typeface="Calibri" pitchFamily="34" charset="-122"/>
                <a:cs typeface="Calibri" pitchFamily="34" charset="-120"/>
              </a:rPr>
              <a:t>Evaluación de pronunciación con procesamiento de señales,</a:t>
            </a:r>
            <a:endParaRPr lang="en-US" sz="1700" dirty="0"/>
          </a:p>
          <a:p>
            <a:pPr indent="0" marL="0">
              <a:lnSpc>
                <a:spcPts val="2600"/>
              </a:lnSpc>
              <a:buNone/>
            </a:pPr>
            <a:r>
              <a:rPr lang="en-US" sz="1700" dirty="0">
                <a:solidFill>
                  <a:srgbClr val="B9A5C4"/>
                </a:solidFill>
                <a:latin typeface="Calibri" pitchFamily="34" charset="0"/>
                <a:ea typeface="Calibri" pitchFamily="34" charset="-122"/>
                <a:cs typeface="Calibri" pitchFamily="34" charset="-120"/>
              </a:rPr>
              <a:t>íntegramente en el navegador</a:t>
            </a:r>
            <a:endParaRPr lang="en-US" sz="1700" dirty="0"/>
          </a:p>
        </p:txBody>
      </p:sp>
      <p:sp>
        <p:nvSpPr>
          <p:cNvPr id="9" name="Text 7"/>
          <p:cNvSpPr/>
          <p:nvPr/>
        </p:nvSpPr>
        <p:spPr>
          <a:xfrm>
            <a:off x="822960" y="5074920"/>
            <a:ext cx="10058400" cy="320040"/>
          </a:xfrm>
          <a:prstGeom prst="rect">
            <a:avLst/>
          </a:prstGeom>
          <a:noFill/>
          <a:ln/>
        </p:spPr>
        <p:txBody>
          <a:bodyPr wrap="square" lIns="0" tIns="0" rIns="0" bIns="0" rtlCol="0" anchor="ctr"/>
          <a:lstStyle/>
          <a:p>
            <a:pPr indent="0" marL="0">
              <a:buNone/>
            </a:pPr>
            <a:r>
              <a:rPr lang="en-US" sz="1300" b="1" dirty="0">
                <a:solidFill>
                  <a:srgbClr val="F0A63C"/>
                </a:solidFill>
                <a:latin typeface="Calibri" pitchFamily="34" charset="0"/>
                <a:ea typeface="Calibri" pitchFamily="34" charset="-122"/>
                <a:cs typeface="Calibri" pitchFamily="34" charset="-120"/>
              </a:rPr>
              <a:t>Señales y Sistemas  ·  11 de agosto de 2026</a:t>
            </a:r>
            <a:endParaRPr lang="en-US" sz="1300" dirty="0"/>
          </a:p>
        </p:txBody>
      </p:sp>
      <p:sp>
        <p:nvSpPr>
          <p:cNvPr id="10" name="Text 8"/>
          <p:cNvSpPr/>
          <p:nvPr/>
        </p:nvSpPr>
        <p:spPr>
          <a:xfrm>
            <a:off x="822960" y="5440680"/>
            <a:ext cx="10058400" cy="320040"/>
          </a:xfrm>
          <a:prstGeom prst="rect">
            <a:avLst/>
          </a:prstGeom>
          <a:noFill/>
          <a:ln/>
        </p:spPr>
        <p:txBody>
          <a:bodyPr wrap="square" lIns="0" tIns="0" rIns="0" bIns="0" rtlCol="0" anchor="ctr"/>
          <a:lstStyle/>
          <a:p>
            <a:pPr indent="0" marL="0">
              <a:buNone/>
            </a:pPr>
            <a:r>
              <a:rPr lang="en-US" sz="1200" dirty="0">
                <a:solidFill>
                  <a:srgbClr val="9A85A8"/>
                </a:solidFill>
                <a:latin typeface="Calibri" pitchFamily="34" charset="0"/>
                <a:ea typeface="Calibri" pitchFamily="34" charset="-122"/>
                <a:cs typeface="Calibri" pitchFamily="34" charset="-120"/>
              </a:rPr>
              <a:t>Alejandro Zamora · Fabrizio Espinoza · Isaac Morum · José Pablo Monestel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4F7"/>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2A1638"/>
                </a:solidFill>
                <a:latin typeface="Cambria" pitchFamily="34" charset="0"/>
                <a:ea typeface="Cambria" pitchFamily="34" charset="-122"/>
                <a:cs typeface="Cambria" pitchFamily="34" charset="-120"/>
              </a:rPr>
              <a:t>Recordatorio en treinta segundos</a:t>
            </a:r>
            <a:endParaRPr lang="en-US" sz="3600" dirty="0"/>
          </a:p>
        </p:txBody>
      </p:sp>
      <p:sp>
        <p:nvSpPr>
          <p:cNvPr id="3" name="Text 1"/>
          <p:cNvSpPr/>
          <p:nvPr/>
        </p:nvSpPr>
        <p:spPr>
          <a:xfrm>
            <a:off x="640080" y="1152144"/>
            <a:ext cx="10881360" cy="365760"/>
          </a:xfrm>
          <a:prstGeom prst="rect">
            <a:avLst/>
          </a:prstGeom>
          <a:noFill/>
          <a:ln/>
        </p:spPr>
        <p:txBody>
          <a:bodyPr wrap="square" lIns="0" tIns="0" rIns="0" bIns="0" rtlCol="0" anchor="ctr"/>
          <a:lstStyle/>
          <a:p>
            <a:pPr indent="0" marL="0">
              <a:buNone/>
            </a:pPr>
            <a:r>
              <a:rPr lang="en-US" sz="1500" dirty="0">
                <a:solidFill>
                  <a:srgbClr val="6E5C7A"/>
                </a:solidFill>
                <a:latin typeface="Calibri" pitchFamily="34" charset="0"/>
                <a:ea typeface="Calibri" pitchFamily="34" charset="-122"/>
                <a:cs typeface="Calibri" pitchFamily="34" charset="-120"/>
              </a:rPr>
              <a:t>Lo presentado en el Avance 1, comprimido</a:t>
            </a:r>
            <a:endParaRPr lang="en-US" sz="1500" dirty="0"/>
          </a:p>
        </p:txBody>
      </p:sp>
      <p:sp>
        <p:nvSpPr>
          <p:cNvPr id="4" name="Shape 2"/>
          <p:cNvSpPr/>
          <p:nvPr/>
        </p:nvSpPr>
        <p:spPr>
          <a:xfrm>
            <a:off x="640080" y="1828800"/>
            <a:ext cx="5303520" cy="3703320"/>
          </a:xfrm>
          <a:prstGeom prst="roundRect">
            <a:avLst>
              <a:gd name="adj" fmla="val 2963"/>
            </a:avLst>
          </a:prstGeom>
          <a:solidFill>
            <a:srgbClr val="FFFFFF"/>
          </a:solidFill>
          <a:ln/>
          <a:effectLst>
            <a:outerShdw sx="100000" sy="100000" kx="0" ky="0" algn="bl" rotWithShape="0" blurRad="114300" dist="25400" dir="5400000">
              <a:srgbClr val="2A1638">
                <a:alpha val="12000"/>
              </a:srgbClr>
            </a:outerShdw>
          </a:effectLst>
        </p:spPr>
      </p:sp>
      <p:sp>
        <p:nvSpPr>
          <p:cNvPr id="5" name="Text 3"/>
          <p:cNvSpPr/>
          <p:nvPr/>
        </p:nvSpPr>
        <p:spPr>
          <a:xfrm>
            <a:off x="960120" y="2148840"/>
            <a:ext cx="4663440" cy="411480"/>
          </a:xfrm>
          <a:prstGeom prst="rect">
            <a:avLst/>
          </a:prstGeom>
          <a:noFill/>
          <a:ln/>
        </p:spPr>
        <p:txBody>
          <a:bodyPr wrap="square" lIns="0" tIns="0" rIns="0" bIns="0" rtlCol="0" anchor="ctr"/>
          <a:lstStyle/>
          <a:p>
            <a:pPr indent="0" marL="0">
              <a:buNone/>
            </a:pPr>
            <a:r>
              <a:rPr lang="en-US" sz="1900" b="1" dirty="0">
                <a:solidFill>
                  <a:srgbClr val="2A1638"/>
                </a:solidFill>
                <a:latin typeface="Calibri" pitchFamily="34" charset="0"/>
                <a:ea typeface="Calibri" pitchFamily="34" charset="-122"/>
                <a:cs typeface="Calibri" pitchFamily="34" charset="-120"/>
              </a:rPr>
              <a:t>El problema</a:t>
            </a:r>
            <a:endParaRPr lang="en-US" sz="1900" dirty="0"/>
          </a:p>
        </p:txBody>
      </p:sp>
      <p:sp>
        <p:nvSpPr>
          <p:cNvPr id="6" name="Text 4"/>
          <p:cNvSpPr/>
          <p:nvPr/>
        </p:nvSpPr>
        <p:spPr>
          <a:xfrm>
            <a:off x="960120" y="2743200"/>
            <a:ext cx="4663440" cy="1097280"/>
          </a:xfrm>
          <a:prstGeom prst="rect">
            <a:avLst/>
          </a:prstGeom>
          <a:noFill/>
          <a:ln/>
        </p:spPr>
        <p:txBody>
          <a:bodyPr wrap="square" lIns="0" tIns="0" rIns="0" bIns="0" rtlCol="0" anchor="ctr"/>
          <a:lstStyle/>
          <a:p>
            <a:pPr indent="0" marL="0">
              <a:lnSpc>
                <a:spcPts val="2100"/>
              </a:lnSpc>
              <a:buNone/>
            </a:pPr>
            <a:r>
              <a:rPr lang="en-US" sz="1350" dirty="0">
                <a:solidFill>
                  <a:srgbClr val="6E5C7A"/>
                </a:solidFill>
                <a:latin typeface="Calibri" pitchFamily="34" charset="0"/>
                <a:ea typeface="Calibri" pitchFamily="34" charset="-122"/>
                <a:cs typeface="Calibri" pitchFamily="34" charset="-120"/>
              </a:rPr>
              <a:t>El español tiene cinco vocales; el inglés supera las once. Pares como ship / sheep se colapsan en un mismo sonido, y el estudiante no puede corregir lo que no distingue.</a:t>
            </a:r>
            <a:endParaRPr lang="en-US" sz="1350" dirty="0"/>
          </a:p>
        </p:txBody>
      </p:sp>
      <p:sp>
        <p:nvSpPr>
          <p:cNvPr id="7" name="Text 5"/>
          <p:cNvSpPr/>
          <p:nvPr/>
        </p:nvSpPr>
        <p:spPr>
          <a:xfrm>
            <a:off x="960120" y="4069080"/>
            <a:ext cx="4663440" cy="1097280"/>
          </a:xfrm>
          <a:prstGeom prst="rect">
            <a:avLst/>
          </a:prstGeom>
          <a:noFill/>
          <a:ln/>
        </p:spPr>
        <p:txBody>
          <a:bodyPr wrap="square" lIns="0" tIns="0" rIns="0" bIns="0" rtlCol="0" anchor="ctr"/>
          <a:lstStyle/>
          <a:p>
            <a:pPr indent="0" marL="0">
              <a:lnSpc>
                <a:spcPts val="2100"/>
              </a:lnSpc>
              <a:buNone/>
            </a:pPr>
            <a:r>
              <a:rPr lang="en-US" sz="1350" dirty="0">
                <a:solidFill>
                  <a:srgbClr val="6E5C7A"/>
                </a:solidFill>
                <a:latin typeface="Calibri" pitchFamily="34" charset="0"/>
                <a:ea typeface="Calibri" pitchFamily="34" charset="-122"/>
                <a:cs typeface="Calibri" pitchFamily="34" charset="-120"/>
              </a:rPr>
              <a:t>Las aplicaciones masivas responden «correcto» o «inténtalo de nuevo», sin decir qué falló ni por qué. Nuestro objetivo es señalar dónde estuvo el error.</a:t>
            </a:r>
            <a:endParaRPr lang="en-US" sz="1350" dirty="0"/>
          </a:p>
        </p:txBody>
      </p:sp>
      <p:sp>
        <p:nvSpPr>
          <p:cNvPr id="8" name="Shape 6"/>
          <p:cNvSpPr/>
          <p:nvPr/>
        </p:nvSpPr>
        <p:spPr>
          <a:xfrm>
            <a:off x="6217920" y="1828800"/>
            <a:ext cx="5303520" cy="3703320"/>
          </a:xfrm>
          <a:prstGeom prst="roundRect">
            <a:avLst>
              <a:gd name="adj" fmla="val 2963"/>
            </a:avLst>
          </a:prstGeom>
          <a:solidFill>
            <a:srgbClr val="FFFFFF"/>
          </a:solidFill>
          <a:ln/>
          <a:effectLst>
            <a:outerShdw sx="100000" sy="100000" kx="0" ky="0" algn="bl" rotWithShape="0" blurRad="114300" dist="25400" dir="5400000">
              <a:srgbClr val="2A1638">
                <a:alpha val="12000"/>
              </a:srgbClr>
            </a:outerShdw>
          </a:effectLst>
        </p:spPr>
      </p:sp>
      <p:sp>
        <p:nvSpPr>
          <p:cNvPr id="9" name="Text 7"/>
          <p:cNvSpPr/>
          <p:nvPr/>
        </p:nvSpPr>
        <p:spPr>
          <a:xfrm>
            <a:off x="6537960" y="2148840"/>
            <a:ext cx="4663440" cy="411480"/>
          </a:xfrm>
          <a:prstGeom prst="rect">
            <a:avLst/>
          </a:prstGeom>
          <a:noFill/>
          <a:ln/>
        </p:spPr>
        <p:txBody>
          <a:bodyPr wrap="square" lIns="0" tIns="0" rIns="0" bIns="0" rtlCol="0" anchor="ctr"/>
          <a:lstStyle/>
          <a:p>
            <a:pPr indent="0" marL="0">
              <a:buNone/>
            </a:pPr>
            <a:r>
              <a:rPr lang="en-US" sz="1900" b="1" dirty="0">
                <a:solidFill>
                  <a:srgbClr val="2A1638"/>
                </a:solidFill>
                <a:latin typeface="Calibri" pitchFamily="34" charset="0"/>
                <a:ea typeface="Calibri" pitchFamily="34" charset="-122"/>
                <a:cs typeface="Calibri" pitchFamily="34" charset="-120"/>
              </a:rPr>
              <a:t>La decisión de arquitectura</a:t>
            </a:r>
            <a:endParaRPr lang="en-US" sz="1900" dirty="0"/>
          </a:p>
        </p:txBody>
      </p:sp>
      <p:sp>
        <p:nvSpPr>
          <p:cNvPr id="10" name="Text 8"/>
          <p:cNvSpPr/>
          <p:nvPr/>
        </p:nvSpPr>
        <p:spPr>
          <a:xfrm>
            <a:off x="6537960" y="2743200"/>
            <a:ext cx="4663440" cy="640080"/>
          </a:xfrm>
          <a:prstGeom prst="rect">
            <a:avLst/>
          </a:prstGeom>
          <a:noFill/>
          <a:ln/>
        </p:spPr>
        <p:txBody>
          <a:bodyPr wrap="square" lIns="0" tIns="0" rIns="0" bIns="0" rtlCol="0" anchor="ctr"/>
          <a:lstStyle/>
          <a:p>
            <a:pPr indent="0" marL="0">
              <a:lnSpc>
                <a:spcPts val="2100"/>
              </a:lnSpc>
              <a:buNone/>
            </a:pPr>
            <a:r>
              <a:rPr lang="en-US" sz="1350" dirty="0">
                <a:solidFill>
                  <a:srgbClr val="6E5C7A"/>
                </a:solidFill>
                <a:latin typeface="Calibri" pitchFamily="34" charset="0"/>
                <a:ea typeface="Calibri" pitchFamily="34" charset="-122"/>
                <a:cs typeface="Calibri" pitchFamily="34" charset="-120"/>
              </a:rPr>
              <a:t>Los cuatro modelos se ejecutan dentro del navegador. De ahí salen las tres propiedades del proyecto:</a:t>
            </a:r>
            <a:endParaRPr lang="en-US" sz="1350" dirty="0"/>
          </a:p>
        </p:txBody>
      </p:sp>
      <p:sp>
        <p:nvSpPr>
          <p:cNvPr id="11" name="Shape 9"/>
          <p:cNvSpPr/>
          <p:nvPr/>
        </p:nvSpPr>
        <p:spPr>
          <a:xfrm>
            <a:off x="6537960" y="3730752"/>
            <a:ext cx="182880" cy="182880"/>
          </a:xfrm>
          <a:prstGeom prst="ellipse">
            <a:avLst/>
          </a:prstGeom>
          <a:solidFill>
            <a:srgbClr val="B63679"/>
          </a:solidFill>
          <a:ln/>
        </p:spPr>
      </p:sp>
      <p:sp>
        <p:nvSpPr>
          <p:cNvPr id="12" name="Text 10"/>
          <p:cNvSpPr/>
          <p:nvPr/>
        </p:nvSpPr>
        <p:spPr>
          <a:xfrm>
            <a:off x="6858000" y="3611880"/>
            <a:ext cx="4389120" cy="256032"/>
          </a:xfrm>
          <a:prstGeom prst="rect">
            <a:avLst/>
          </a:prstGeom>
          <a:noFill/>
          <a:ln/>
        </p:spPr>
        <p:txBody>
          <a:bodyPr wrap="square" lIns="0" tIns="0" rIns="0" bIns="0" rtlCol="0" anchor="ctr"/>
          <a:lstStyle/>
          <a:p>
            <a:pPr indent="0" marL="0">
              <a:buNone/>
            </a:pPr>
            <a:r>
              <a:rPr lang="en-US" sz="1300" b="1" dirty="0">
                <a:solidFill>
                  <a:srgbClr val="2A1638"/>
                </a:solidFill>
                <a:latin typeface="Calibri" pitchFamily="34" charset="0"/>
                <a:ea typeface="Calibri" pitchFamily="34" charset="-122"/>
                <a:cs typeface="Calibri" pitchFamily="34" charset="-120"/>
              </a:rPr>
              <a:t>Costo de operación cero</a:t>
            </a:r>
            <a:endParaRPr lang="en-US" sz="1300" dirty="0"/>
          </a:p>
        </p:txBody>
      </p:sp>
      <p:sp>
        <p:nvSpPr>
          <p:cNvPr id="13" name="Text 11"/>
          <p:cNvSpPr/>
          <p:nvPr/>
        </p:nvSpPr>
        <p:spPr>
          <a:xfrm>
            <a:off x="6858000" y="3858768"/>
            <a:ext cx="4389120" cy="256032"/>
          </a:xfrm>
          <a:prstGeom prst="rect">
            <a:avLst/>
          </a:prstGeom>
          <a:noFill/>
          <a:ln/>
        </p:spPr>
        <p:txBody>
          <a:bodyPr wrap="square" lIns="0" tIns="0" rIns="0" bIns="0" rtlCol="0" anchor="ctr"/>
          <a:lstStyle/>
          <a:p>
            <a:pPr indent="0" marL="0">
              <a:buNone/>
            </a:pPr>
            <a:r>
              <a:rPr lang="en-US" sz="1150" dirty="0">
                <a:solidFill>
                  <a:srgbClr val="6E5C7A"/>
                </a:solidFill>
                <a:latin typeface="Calibri" pitchFamily="34" charset="0"/>
                <a:ea typeface="Calibri" pitchFamily="34" charset="-122"/>
                <a:cs typeface="Calibri" pitchFamily="34" charset="-120"/>
              </a:rPr>
              <a:t>no hay servidores de inferencia</a:t>
            </a:r>
            <a:endParaRPr lang="en-US" sz="1150" dirty="0"/>
          </a:p>
        </p:txBody>
      </p:sp>
      <p:sp>
        <p:nvSpPr>
          <p:cNvPr id="14" name="Shape 12"/>
          <p:cNvSpPr/>
          <p:nvPr/>
        </p:nvSpPr>
        <p:spPr>
          <a:xfrm>
            <a:off x="6537960" y="4352544"/>
            <a:ext cx="182880" cy="182880"/>
          </a:xfrm>
          <a:prstGeom prst="ellipse">
            <a:avLst/>
          </a:prstGeom>
          <a:solidFill>
            <a:srgbClr val="B63679"/>
          </a:solidFill>
          <a:ln/>
        </p:spPr>
      </p:sp>
      <p:sp>
        <p:nvSpPr>
          <p:cNvPr id="15" name="Text 13"/>
          <p:cNvSpPr/>
          <p:nvPr/>
        </p:nvSpPr>
        <p:spPr>
          <a:xfrm>
            <a:off x="6858000" y="4233672"/>
            <a:ext cx="4389120" cy="256032"/>
          </a:xfrm>
          <a:prstGeom prst="rect">
            <a:avLst/>
          </a:prstGeom>
          <a:noFill/>
          <a:ln/>
        </p:spPr>
        <p:txBody>
          <a:bodyPr wrap="square" lIns="0" tIns="0" rIns="0" bIns="0" rtlCol="0" anchor="ctr"/>
          <a:lstStyle/>
          <a:p>
            <a:pPr indent="0" marL="0">
              <a:buNone/>
            </a:pPr>
            <a:r>
              <a:rPr lang="en-US" sz="1300" b="1" dirty="0">
                <a:solidFill>
                  <a:srgbClr val="2A1638"/>
                </a:solidFill>
                <a:latin typeface="Calibri" pitchFamily="34" charset="0"/>
                <a:ea typeface="Calibri" pitchFamily="34" charset="-122"/>
                <a:cs typeface="Calibri" pitchFamily="34" charset="-120"/>
              </a:rPr>
              <a:t>Funciona sin conexión</a:t>
            </a:r>
            <a:endParaRPr lang="en-US" sz="1300" dirty="0"/>
          </a:p>
        </p:txBody>
      </p:sp>
      <p:sp>
        <p:nvSpPr>
          <p:cNvPr id="16" name="Text 14"/>
          <p:cNvSpPr/>
          <p:nvPr/>
        </p:nvSpPr>
        <p:spPr>
          <a:xfrm>
            <a:off x="6858000" y="4480560"/>
            <a:ext cx="4389120" cy="256032"/>
          </a:xfrm>
          <a:prstGeom prst="rect">
            <a:avLst/>
          </a:prstGeom>
          <a:noFill/>
          <a:ln/>
        </p:spPr>
        <p:txBody>
          <a:bodyPr wrap="square" lIns="0" tIns="0" rIns="0" bIns="0" rtlCol="0" anchor="ctr"/>
          <a:lstStyle/>
          <a:p>
            <a:pPr indent="0" marL="0">
              <a:buNone/>
            </a:pPr>
            <a:r>
              <a:rPr lang="en-US" sz="1150" dirty="0">
                <a:solidFill>
                  <a:srgbClr val="6E5C7A"/>
                </a:solidFill>
                <a:latin typeface="Calibri" pitchFamily="34" charset="0"/>
                <a:ea typeface="Calibri" pitchFamily="34" charset="-122"/>
                <a:cs typeface="Calibri" pitchFamily="34" charset="-120"/>
              </a:rPr>
              <a:t>tras una descarga de 676 MiB</a:t>
            </a:r>
            <a:endParaRPr lang="en-US" sz="1150" dirty="0"/>
          </a:p>
        </p:txBody>
      </p:sp>
      <p:sp>
        <p:nvSpPr>
          <p:cNvPr id="17" name="Shape 15"/>
          <p:cNvSpPr/>
          <p:nvPr/>
        </p:nvSpPr>
        <p:spPr>
          <a:xfrm>
            <a:off x="6537960" y="4974336"/>
            <a:ext cx="182880" cy="182880"/>
          </a:xfrm>
          <a:prstGeom prst="ellipse">
            <a:avLst/>
          </a:prstGeom>
          <a:solidFill>
            <a:srgbClr val="B63679"/>
          </a:solidFill>
          <a:ln/>
        </p:spPr>
      </p:sp>
      <p:sp>
        <p:nvSpPr>
          <p:cNvPr id="18" name="Text 16"/>
          <p:cNvSpPr/>
          <p:nvPr/>
        </p:nvSpPr>
        <p:spPr>
          <a:xfrm>
            <a:off x="6858000" y="4855464"/>
            <a:ext cx="4389120" cy="256032"/>
          </a:xfrm>
          <a:prstGeom prst="rect">
            <a:avLst/>
          </a:prstGeom>
          <a:noFill/>
          <a:ln/>
        </p:spPr>
        <p:txBody>
          <a:bodyPr wrap="square" lIns="0" tIns="0" rIns="0" bIns="0" rtlCol="0" anchor="ctr"/>
          <a:lstStyle/>
          <a:p>
            <a:pPr indent="0" marL="0">
              <a:buNone/>
            </a:pPr>
            <a:r>
              <a:rPr lang="en-US" sz="1300" b="1" dirty="0">
                <a:solidFill>
                  <a:srgbClr val="2A1638"/>
                </a:solidFill>
                <a:latin typeface="Calibri" pitchFamily="34" charset="0"/>
                <a:ea typeface="Calibri" pitchFamily="34" charset="-122"/>
                <a:cs typeface="Calibri" pitchFamily="34" charset="-120"/>
              </a:rPr>
              <a:t>El audio nunca sale del equipo</a:t>
            </a:r>
            <a:endParaRPr lang="en-US" sz="1300" dirty="0"/>
          </a:p>
        </p:txBody>
      </p:sp>
      <p:sp>
        <p:nvSpPr>
          <p:cNvPr id="19" name="Text 17"/>
          <p:cNvSpPr/>
          <p:nvPr/>
        </p:nvSpPr>
        <p:spPr>
          <a:xfrm>
            <a:off x="6858000" y="5102352"/>
            <a:ext cx="4389120" cy="256032"/>
          </a:xfrm>
          <a:prstGeom prst="rect">
            <a:avLst/>
          </a:prstGeom>
          <a:noFill/>
          <a:ln/>
        </p:spPr>
        <p:txBody>
          <a:bodyPr wrap="square" lIns="0" tIns="0" rIns="0" bIns="0" rtlCol="0" anchor="ctr"/>
          <a:lstStyle/>
          <a:p>
            <a:pPr indent="0" marL="0">
              <a:buNone/>
            </a:pPr>
            <a:r>
              <a:rPr lang="en-US" sz="1150" dirty="0">
                <a:solidFill>
                  <a:srgbClr val="6E5C7A"/>
                </a:solidFill>
                <a:latin typeface="Calibri" pitchFamily="34" charset="0"/>
                <a:ea typeface="Calibri" pitchFamily="34" charset="-122"/>
                <a:cs typeface="Calibri" pitchFamily="34" charset="-120"/>
              </a:rPr>
              <a:t>privacidad por arquitectura</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2A1638"/>
                </a:solidFill>
                <a:latin typeface="Cambria" pitchFamily="34" charset="0"/>
                <a:ea typeface="Cambria" pitchFamily="34" charset="-122"/>
                <a:cs typeface="Cambria" pitchFamily="34" charset="-120"/>
              </a:rPr>
              <a:t>Qué cambió desde el Avance 1</a:t>
            </a:r>
            <a:endParaRPr lang="en-US" sz="3600" dirty="0"/>
          </a:p>
        </p:txBody>
      </p:sp>
      <p:sp>
        <p:nvSpPr>
          <p:cNvPr id="3" name="Text 1"/>
          <p:cNvSpPr/>
          <p:nvPr/>
        </p:nvSpPr>
        <p:spPr>
          <a:xfrm>
            <a:off x="640080" y="1152144"/>
            <a:ext cx="10881360" cy="365760"/>
          </a:xfrm>
          <a:prstGeom prst="rect">
            <a:avLst/>
          </a:prstGeom>
          <a:noFill/>
          <a:ln/>
        </p:spPr>
        <p:txBody>
          <a:bodyPr wrap="square" lIns="0" tIns="0" rIns="0" bIns="0" rtlCol="0" anchor="ctr"/>
          <a:lstStyle/>
          <a:p>
            <a:pPr indent="0" marL="0">
              <a:buNone/>
            </a:pPr>
            <a:r>
              <a:rPr lang="en-US" sz="1500" dirty="0">
                <a:solidFill>
                  <a:srgbClr val="6E5C7A"/>
                </a:solidFill>
                <a:latin typeface="Calibri" pitchFamily="34" charset="0"/>
                <a:ea typeface="Calibri" pitchFamily="34" charset="-122"/>
                <a:cs typeface="Calibri" pitchFamily="34" charset="-120"/>
              </a:rPr>
              <a:t>Las dos semanas que se están presentando</a:t>
            </a:r>
            <a:endParaRPr lang="en-US" sz="1500" dirty="0"/>
          </a:p>
        </p:txBody>
      </p:sp>
      <p:sp>
        <p:nvSpPr>
          <p:cNvPr id="4" name="Shape 2"/>
          <p:cNvSpPr/>
          <p:nvPr/>
        </p:nvSpPr>
        <p:spPr>
          <a:xfrm>
            <a:off x="640080" y="1920240"/>
            <a:ext cx="5257800" cy="1463040"/>
          </a:xfrm>
          <a:prstGeom prst="roundRect">
            <a:avLst>
              <a:gd name="adj" fmla="val 7500"/>
            </a:avLst>
          </a:prstGeom>
          <a:solidFill>
            <a:srgbClr val="F8F4F7"/>
          </a:solidFill>
          <a:ln/>
          <a:effectLst>
            <a:outerShdw sx="100000" sy="100000" kx="0" ky="0" algn="bl" rotWithShape="0" blurRad="114300" dist="25400" dir="5400000">
              <a:srgbClr val="2A1638">
                <a:alpha val="12000"/>
              </a:srgbClr>
            </a:outerShdw>
          </a:effectLst>
        </p:spPr>
      </p:sp>
      <p:sp>
        <p:nvSpPr>
          <p:cNvPr id="5" name="Shape 3"/>
          <p:cNvSpPr/>
          <p:nvPr/>
        </p:nvSpPr>
        <p:spPr>
          <a:xfrm>
            <a:off x="914400" y="2212848"/>
            <a:ext cx="475488" cy="475488"/>
          </a:xfrm>
          <a:prstGeom prst="ellipse">
            <a:avLst/>
          </a:prstGeom>
          <a:solidFill>
            <a:srgbClr val="8C2F6B"/>
          </a:solidFill>
          <a:ln/>
        </p:spPr>
      </p:sp>
      <p:sp>
        <p:nvSpPr>
          <p:cNvPr id="6" name="Text 4"/>
          <p:cNvSpPr/>
          <p:nvPr/>
        </p:nvSpPr>
        <p:spPr>
          <a:xfrm>
            <a:off x="914400" y="221284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54480" y="2148840"/>
            <a:ext cx="4114800" cy="365760"/>
          </a:xfrm>
          <a:prstGeom prst="rect">
            <a:avLst/>
          </a:prstGeom>
          <a:noFill/>
          <a:ln/>
        </p:spPr>
        <p:txBody>
          <a:bodyPr wrap="square" lIns="0" tIns="0" rIns="0" bIns="0" rtlCol="0" anchor="ctr"/>
          <a:lstStyle/>
          <a:p>
            <a:pPr indent="0" marL="0">
              <a:buNone/>
            </a:pPr>
            <a:r>
              <a:rPr lang="en-US" sz="1600" b="1" dirty="0">
                <a:solidFill>
                  <a:srgbClr val="2A1638"/>
                </a:solidFill>
                <a:latin typeface="Calibri" pitchFamily="34" charset="0"/>
                <a:ea typeface="Calibri" pitchFamily="34" charset="-122"/>
                <a:cs typeface="Calibri" pitchFamily="34" charset="-120"/>
              </a:rPr>
              <a:t>Conversación completa</a:t>
            </a:r>
            <a:endParaRPr lang="en-US" sz="1600" dirty="0"/>
          </a:p>
        </p:txBody>
      </p:sp>
      <p:sp>
        <p:nvSpPr>
          <p:cNvPr id="8" name="Text 6"/>
          <p:cNvSpPr/>
          <p:nvPr/>
        </p:nvSpPr>
        <p:spPr>
          <a:xfrm>
            <a:off x="1554480" y="2542032"/>
            <a:ext cx="4114800" cy="731520"/>
          </a:xfrm>
          <a:prstGeom prst="rect">
            <a:avLst/>
          </a:prstGeom>
          <a:noFill/>
          <a:ln/>
        </p:spPr>
        <p:txBody>
          <a:bodyPr wrap="square" lIns="0" tIns="0" rIns="0" bIns="0" rtlCol="0" anchor="ctr"/>
          <a:lstStyle/>
          <a:p>
            <a:pPr indent="0" marL="0">
              <a:lnSpc>
                <a:spcPts val="1700"/>
              </a:lnSpc>
              <a:buNone/>
            </a:pPr>
            <a:r>
              <a:rPr lang="en-US" sz="1250" dirty="0">
                <a:solidFill>
                  <a:srgbClr val="6E5C7A"/>
                </a:solidFill>
                <a:latin typeface="Calibri" pitchFamily="34" charset="0"/>
                <a:ea typeface="Calibri" pitchFamily="34" charset="-122"/>
                <a:cs typeface="Calibri" pitchFamily="34" charset="-120"/>
              </a:rPr>
              <a:t>La cadena entera funciona de punta a punta: hablar, transcribir, corregir, responder y sintetizar, sin objetos simulados.</a:t>
            </a:r>
            <a:endParaRPr lang="en-US" sz="1250" dirty="0"/>
          </a:p>
        </p:txBody>
      </p:sp>
      <p:sp>
        <p:nvSpPr>
          <p:cNvPr id="9" name="Shape 7"/>
          <p:cNvSpPr/>
          <p:nvPr/>
        </p:nvSpPr>
        <p:spPr>
          <a:xfrm>
            <a:off x="6172200" y="1920240"/>
            <a:ext cx="5257800" cy="1463040"/>
          </a:xfrm>
          <a:prstGeom prst="roundRect">
            <a:avLst>
              <a:gd name="adj" fmla="val 7500"/>
            </a:avLst>
          </a:prstGeom>
          <a:solidFill>
            <a:srgbClr val="F8F4F7"/>
          </a:solidFill>
          <a:ln/>
          <a:effectLst>
            <a:outerShdw sx="100000" sy="100000" kx="0" ky="0" algn="bl" rotWithShape="0" blurRad="114300" dist="25400" dir="5400000">
              <a:srgbClr val="2A1638">
                <a:alpha val="12000"/>
              </a:srgbClr>
            </a:outerShdw>
          </a:effectLst>
        </p:spPr>
      </p:sp>
      <p:sp>
        <p:nvSpPr>
          <p:cNvPr id="10" name="Shape 8"/>
          <p:cNvSpPr/>
          <p:nvPr/>
        </p:nvSpPr>
        <p:spPr>
          <a:xfrm>
            <a:off x="6446520" y="2212848"/>
            <a:ext cx="475488" cy="475488"/>
          </a:xfrm>
          <a:prstGeom prst="ellipse">
            <a:avLst/>
          </a:prstGeom>
          <a:solidFill>
            <a:srgbClr val="8C2F6B"/>
          </a:solidFill>
          <a:ln/>
        </p:spPr>
      </p:sp>
      <p:sp>
        <p:nvSpPr>
          <p:cNvPr id="11" name="Text 9"/>
          <p:cNvSpPr/>
          <p:nvPr/>
        </p:nvSpPr>
        <p:spPr>
          <a:xfrm>
            <a:off x="6446520" y="221284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086600" y="2148840"/>
            <a:ext cx="4114800" cy="365760"/>
          </a:xfrm>
          <a:prstGeom prst="rect">
            <a:avLst/>
          </a:prstGeom>
          <a:noFill/>
          <a:ln/>
        </p:spPr>
        <p:txBody>
          <a:bodyPr wrap="square" lIns="0" tIns="0" rIns="0" bIns="0" rtlCol="0" anchor="ctr"/>
          <a:lstStyle/>
          <a:p>
            <a:pPr indent="0" marL="0">
              <a:buNone/>
            </a:pPr>
            <a:r>
              <a:rPr lang="en-US" sz="1600" b="1" dirty="0">
                <a:solidFill>
                  <a:srgbClr val="2A1638"/>
                </a:solidFill>
                <a:latin typeface="Calibri" pitchFamily="34" charset="0"/>
                <a:ea typeface="Calibri" pitchFamily="34" charset="-122"/>
                <a:cs typeface="Calibri" pitchFamily="34" charset="-120"/>
              </a:rPr>
              <a:t>Calibración con voz real</a:t>
            </a:r>
            <a:endParaRPr lang="en-US" sz="1600" dirty="0"/>
          </a:p>
        </p:txBody>
      </p:sp>
      <p:sp>
        <p:nvSpPr>
          <p:cNvPr id="13" name="Text 11"/>
          <p:cNvSpPr/>
          <p:nvPr/>
        </p:nvSpPr>
        <p:spPr>
          <a:xfrm>
            <a:off x="7086600" y="2542032"/>
            <a:ext cx="4114800" cy="731520"/>
          </a:xfrm>
          <a:prstGeom prst="rect">
            <a:avLst/>
          </a:prstGeom>
          <a:noFill/>
          <a:ln/>
        </p:spPr>
        <p:txBody>
          <a:bodyPr wrap="square" lIns="0" tIns="0" rIns="0" bIns="0" rtlCol="0" anchor="ctr"/>
          <a:lstStyle/>
          <a:p>
            <a:pPr indent="0" marL="0">
              <a:lnSpc>
                <a:spcPts val="1700"/>
              </a:lnSpc>
              <a:buNone/>
            </a:pPr>
            <a:r>
              <a:rPr lang="en-US" sz="1250" dirty="0">
                <a:solidFill>
                  <a:srgbClr val="6E5C7A"/>
                </a:solidFill>
                <a:latin typeface="Calibri" pitchFamily="34" charset="0"/>
                <a:ea typeface="Calibri" pitchFamily="34" charset="-122"/>
                <a:cs typeface="Calibri" pitchFamily="34" charset="-120"/>
              </a:rPr>
              <a:t>Cuarenta grabaciones de dos hablantes. De ahí sale el resultado principal de este avance.</a:t>
            </a:r>
            <a:endParaRPr lang="en-US" sz="1250" dirty="0"/>
          </a:p>
        </p:txBody>
      </p:sp>
      <p:sp>
        <p:nvSpPr>
          <p:cNvPr id="14" name="Shape 12"/>
          <p:cNvSpPr/>
          <p:nvPr/>
        </p:nvSpPr>
        <p:spPr>
          <a:xfrm>
            <a:off x="640080" y="3611880"/>
            <a:ext cx="5257800" cy="1463040"/>
          </a:xfrm>
          <a:prstGeom prst="roundRect">
            <a:avLst>
              <a:gd name="adj" fmla="val 7500"/>
            </a:avLst>
          </a:prstGeom>
          <a:solidFill>
            <a:srgbClr val="F8F4F7"/>
          </a:solidFill>
          <a:ln/>
          <a:effectLst>
            <a:outerShdw sx="100000" sy="100000" kx="0" ky="0" algn="bl" rotWithShape="0" blurRad="114300" dist="25400" dir="5400000">
              <a:srgbClr val="2A1638">
                <a:alpha val="12000"/>
              </a:srgbClr>
            </a:outerShdw>
          </a:effectLst>
        </p:spPr>
      </p:sp>
      <p:sp>
        <p:nvSpPr>
          <p:cNvPr id="15" name="Shape 13"/>
          <p:cNvSpPr/>
          <p:nvPr/>
        </p:nvSpPr>
        <p:spPr>
          <a:xfrm>
            <a:off x="914400" y="3904488"/>
            <a:ext cx="475488" cy="475488"/>
          </a:xfrm>
          <a:prstGeom prst="ellipse">
            <a:avLst/>
          </a:prstGeom>
          <a:solidFill>
            <a:srgbClr val="8C2F6B"/>
          </a:solidFill>
          <a:ln/>
        </p:spPr>
      </p:sp>
      <p:sp>
        <p:nvSpPr>
          <p:cNvPr id="16" name="Text 14"/>
          <p:cNvSpPr/>
          <p:nvPr/>
        </p:nvSpPr>
        <p:spPr>
          <a:xfrm>
            <a:off x="914400" y="390448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554480" y="3840480"/>
            <a:ext cx="4114800" cy="365760"/>
          </a:xfrm>
          <a:prstGeom prst="rect">
            <a:avLst/>
          </a:prstGeom>
          <a:noFill/>
          <a:ln/>
        </p:spPr>
        <p:txBody>
          <a:bodyPr wrap="square" lIns="0" tIns="0" rIns="0" bIns="0" rtlCol="0" anchor="ctr"/>
          <a:lstStyle/>
          <a:p>
            <a:pPr indent="0" marL="0">
              <a:buNone/>
            </a:pPr>
            <a:r>
              <a:rPr lang="en-US" sz="1600" b="1" dirty="0">
                <a:solidFill>
                  <a:srgbClr val="2A1638"/>
                </a:solidFill>
                <a:latin typeface="Calibri" pitchFamily="34" charset="0"/>
                <a:ea typeface="Calibri" pitchFamily="34" charset="-122"/>
                <a:cs typeface="Calibri" pitchFamily="34" charset="-120"/>
              </a:rPr>
              <a:t>Modo práctica</a:t>
            </a:r>
            <a:endParaRPr lang="en-US" sz="1600" dirty="0"/>
          </a:p>
        </p:txBody>
      </p:sp>
      <p:sp>
        <p:nvSpPr>
          <p:cNvPr id="18" name="Text 16"/>
          <p:cNvSpPr/>
          <p:nvPr/>
        </p:nvSpPr>
        <p:spPr>
          <a:xfrm>
            <a:off x="1554480" y="4233672"/>
            <a:ext cx="4114800" cy="731520"/>
          </a:xfrm>
          <a:prstGeom prst="rect">
            <a:avLst/>
          </a:prstGeom>
          <a:noFill/>
          <a:ln/>
        </p:spPr>
        <p:txBody>
          <a:bodyPr wrap="square" lIns="0" tIns="0" rIns="0" bIns="0" rtlCol="0" anchor="ctr"/>
          <a:lstStyle/>
          <a:p>
            <a:pPr indent="0" marL="0">
              <a:lnSpc>
                <a:spcPts val="1700"/>
              </a:lnSpc>
              <a:buNone/>
            </a:pPr>
            <a:r>
              <a:rPr lang="en-US" sz="1250" dirty="0">
                <a:solidFill>
                  <a:srgbClr val="6E5C7A"/>
                </a:solidFill>
                <a:latin typeface="Calibri" pitchFamily="34" charset="0"/>
                <a:ea typeface="Calibri" pitchFamily="34" charset="-122"/>
                <a:cs typeface="Calibri" pitchFamily="34" charset="-120"/>
              </a:rPr>
              <a:t>Una vía distinta para evaluar pronunciación, sobre el chat que ya existía.</a:t>
            </a:r>
            <a:endParaRPr lang="en-US" sz="1250" dirty="0"/>
          </a:p>
        </p:txBody>
      </p:sp>
      <p:sp>
        <p:nvSpPr>
          <p:cNvPr id="19" name="Shape 17"/>
          <p:cNvSpPr/>
          <p:nvPr/>
        </p:nvSpPr>
        <p:spPr>
          <a:xfrm>
            <a:off x="6172200" y="3611880"/>
            <a:ext cx="5257800" cy="1463040"/>
          </a:xfrm>
          <a:prstGeom prst="roundRect">
            <a:avLst>
              <a:gd name="adj" fmla="val 7500"/>
            </a:avLst>
          </a:prstGeom>
          <a:solidFill>
            <a:srgbClr val="F8F4F7"/>
          </a:solidFill>
          <a:ln/>
          <a:effectLst>
            <a:outerShdw sx="100000" sy="100000" kx="0" ky="0" algn="bl" rotWithShape="0" blurRad="114300" dist="25400" dir="5400000">
              <a:srgbClr val="2A1638">
                <a:alpha val="12000"/>
              </a:srgbClr>
            </a:outerShdw>
          </a:effectLst>
        </p:spPr>
      </p:sp>
      <p:sp>
        <p:nvSpPr>
          <p:cNvPr id="20" name="Shape 18"/>
          <p:cNvSpPr/>
          <p:nvPr/>
        </p:nvSpPr>
        <p:spPr>
          <a:xfrm>
            <a:off x="6446520" y="3904488"/>
            <a:ext cx="475488" cy="475488"/>
          </a:xfrm>
          <a:prstGeom prst="ellipse">
            <a:avLst/>
          </a:prstGeom>
          <a:solidFill>
            <a:srgbClr val="8C2F6B"/>
          </a:solidFill>
          <a:ln/>
        </p:spPr>
      </p:sp>
      <p:sp>
        <p:nvSpPr>
          <p:cNvPr id="21" name="Text 19"/>
          <p:cNvSpPr/>
          <p:nvPr/>
        </p:nvSpPr>
        <p:spPr>
          <a:xfrm>
            <a:off x="6446520" y="390448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086600" y="3840480"/>
            <a:ext cx="4114800" cy="365760"/>
          </a:xfrm>
          <a:prstGeom prst="rect">
            <a:avLst/>
          </a:prstGeom>
          <a:noFill/>
          <a:ln/>
        </p:spPr>
        <p:txBody>
          <a:bodyPr wrap="square" lIns="0" tIns="0" rIns="0" bIns="0" rtlCol="0" anchor="ctr"/>
          <a:lstStyle/>
          <a:p>
            <a:pPr indent="0" marL="0">
              <a:buNone/>
            </a:pPr>
            <a:r>
              <a:rPr lang="en-US" sz="1600" b="1" dirty="0">
                <a:solidFill>
                  <a:srgbClr val="2A1638"/>
                </a:solidFill>
                <a:latin typeface="Calibri" pitchFamily="34" charset="0"/>
                <a:ea typeface="Calibri" pitchFamily="34" charset="-122"/>
                <a:cs typeface="Calibri" pitchFamily="34" charset="-120"/>
              </a:rPr>
              <a:t>Verificación cruzada</a:t>
            </a:r>
            <a:endParaRPr lang="en-US" sz="1600" dirty="0"/>
          </a:p>
        </p:txBody>
      </p:sp>
      <p:sp>
        <p:nvSpPr>
          <p:cNvPr id="23" name="Text 21"/>
          <p:cNvSpPr/>
          <p:nvPr/>
        </p:nvSpPr>
        <p:spPr>
          <a:xfrm>
            <a:off x="7086600" y="4233672"/>
            <a:ext cx="4114800" cy="731520"/>
          </a:xfrm>
          <a:prstGeom prst="rect">
            <a:avLst/>
          </a:prstGeom>
          <a:noFill/>
          <a:ln/>
        </p:spPr>
        <p:txBody>
          <a:bodyPr wrap="square" lIns="0" tIns="0" rIns="0" bIns="0" rtlCol="0" anchor="ctr"/>
          <a:lstStyle/>
          <a:p>
            <a:pPr indent="0" marL="0">
              <a:lnSpc>
                <a:spcPts val="1700"/>
              </a:lnSpc>
              <a:buNone/>
            </a:pPr>
            <a:r>
              <a:rPr lang="en-US" sz="1250" dirty="0">
                <a:solidFill>
                  <a:srgbClr val="6E5C7A"/>
                </a:solidFill>
                <a:latin typeface="Calibri" pitchFamily="34" charset="0"/>
                <a:ea typeface="Calibri" pitchFamily="34" charset="-122"/>
                <a:cs typeface="Calibri" pitchFamily="34" charset="-120"/>
              </a:rPr>
              <a:t>Los coeficientes cepstrales, contrastados contra librosa: de 5.02 % a 0.009 % de error.</a:t>
            </a:r>
            <a:endParaRPr lang="en-US" sz="1250" dirty="0"/>
          </a:p>
        </p:txBody>
      </p:sp>
      <p:sp>
        <p:nvSpPr>
          <p:cNvPr id="24" name="Text 22"/>
          <p:cNvSpPr/>
          <p:nvPr/>
        </p:nvSpPr>
        <p:spPr>
          <a:xfrm>
            <a:off x="640080" y="5440680"/>
            <a:ext cx="10881360" cy="457200"/>
          </a:xfrm>
          <a:prstGeom prst="rect">
            <a:avLst/>
          </a:prstGeom>
          <a:noFill/>
          <a:ln/>
        </p:spPr>
        <p:txBody>
          <a:bodyPr wrap="square" lIns="0" tIns="0" rIns="0" bIns="0" rtlCol="0" anchor="ctr"/>
          <a:lstStyle/>
          <a:p>
            <a:pPr indent="0" marL="0">
              <a:buNone/>
            </a:pPr>
            <a:r>
              <a:rPr lang="en-US" sz="1400" i="1" dirty="0">
                <a:solidFill>
                  <a:srgbClr val="2A1638"/>
                </a:solidFill>
                <a:latin typeface="Calibri" pitchFamily="34" charset="0"/>
                <a:ea typeface="Calibri" pitchFamily="34" charset="-122"/>
                <a:cs typeface="Calibri" pitchFamily="34" charset="-120"/>
              </a:rPr>
              <a:t>Lo de la derecha es lo esperado. Lo interesante de este avance es lo que apareció al medir.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4F7"/>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2A1638"/>
                </a:solidFill>
                <a:latin typeface="Cambria" pitchFamily="34" charset="0"/>
                <a:ea typeface="Cambria" pitchFamily="34" charset="-122"/>
                <a:cs typeface="Cambria" pitchFamily="34" charset="-120"/>
              </a:rPr>
              <a:t>La cadena completa de un turno</a:t>
            </a:r>
            <a:endParaRPr lang="en-US" sz="3600" dirty="0"/>
          </a:p>
        </p:txBody>
      </p:sp>
      <p:sp>
        <p:nvSpPr>
          <p:cNvPr id="3" name="Text 1"/>
          <p:cNvSpPr/>
          <p:nvPr/>
        </p:nvSpPr>
        <p:spPr>
          <a:xfrm>
            <a:off x="640080" y="1152144"/>
            <a:ext cx="10881360" cy="365760"/>
          </a:xfrm>
          <a:prstGeom prst="rect">
            <a:avLst/>
          </a:prstGeom>
          <a:noFill/>
          <a:ln/>
        </p:spPr>
        <p:txBody>
          <a:bodyPr wrap="square" lIns="0" tIns="0" rIns="0" bIns="0" rtlCol="0" anchor="ctr"/>
          <a:lstStyle/>
          <a:p>
            <a:pPr indent="0" marL="0">
              <a:buNone/>
            </a:pPr>
            <a:r>
              <a:rPr lang="en-US" sz="1500" dirty="0">
                <a:solidFill>
                  <a:srgbClr val="6E5C7A"/>
                </a:solidFill>
                <a:latin typeface="Calibri" pitchFamily="34" charset="0"/>
                <a:ea typeface="Calibri" pitchFamily="34" charset="-122"/>
                <a:cs typeface="Calibri" pitchFamily="34" charset="-120"/>
              </a:rPr>
              <a:t>Del micrófono a la retroalimentación, sin salir del dispositivo</a:t>
            </a:r>
            <a:endParaRPr lang="en-US" sz="1500" dirty="0"/>
          </a:p>
        </p:txBody>
      </p:sp>
      <p:sp>
        <p:nvSpPr>
          <p:cNvPr id="4" name="Shape 2"/>
          <p:cNvSpPr/>
          <p:nvPr/>
        </p:nvSpPr>
        <p:spPr>
          <a:xfrm>
            <a:off x="640080" y="2240280"/>
            <a:ext cx="1600200" cy="1051560"/>
          </a:xfrm>
          <a:prstGeom prst="roundRect">
            <a:avLst>
              <a:gd name="adj" fmla="val 8696"/>
            </a:avLst>
          </a:prstGeom>
          <a:solidFill>
            <a:srgbClr val="1A0E2E"/>
          </a:solidFill>
          <a:ln/>
        </p:spPr>
      </p:sp>
      <p:sp>
        <p:nvSpPr>
          <p:cNvPr id="5" name="Text 3"/>
          <p:cNvSpPr/>
          <p:nvPr/>
        </p:nvSpPr>
        <p:spPr>
          <a:xfrm>
            <a:off x="640080" y="2423160"/>
            <a:ext cx="16002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48 kHz</a:t>
            </a:r>
            <a:endParaRPr lang="en-US" sz="1300" dirty="0"/>
          </a:p>
        </p:txBody>
      </p:sp>
      <p:sp>
        <p:nvSpPr>
          <p:cNvPr id="6" name="Text 4"/>
          <p:cNvSpPr/>
          <p:nvPr/>
        </p:nvSpPr>
        <p:spPr>
          <a:xfrm>
            <a:off x="640080" y="2743200"/>
            <a:ext cx="1600200" cy="320040"/>
          </a:xfrm>
          <a:prstGeom prst="rect">
            <a:avLst/>
          </a:prstGeom>
          <a:noFill/>
          <a:ln/>
        </p:spPr>
        <p:txBody>
          <a:bodyPr wrap="square" lIns="0" tIns="0" rIns="0" bIns="0" rtlCol="0" anchor="ctr"/>
          <a:lstStyle/>
          <a:p>
            <a:pPr algn="ctr" indent="0" marL="0">
              <a:buNone/>
            </a:pPr>
            <a:r>
              <a:rPr lang="en-US" sz="1050" dirty="0">
                <a:solidFill>
                  <a:srgbClr val="B9A5C4"/>
                </a:solidFill>
                <a:latin typeface="Calibri" pitchFamily="34" charset="0"/>
                <a:ea typeface="Calibri" pitchFamily="34" charset="-122"/>
                <a:cs typeface="Calibri" pitchFamily="34" charset="-120"/>
              </a:rPr>
              <a:t>Captura</a:t>
            </a:r>
            <a:endParaRPr lang="en-US" sz="1050" dirty="0"/>
          </a:p>
        </p:txBody>
      </p:sp>
      <p:sp>
        <p:nvSpPr>
          <p:cNvPr id="7" name="Text 5"/>
          <p:cNvSpPr/>
          <p:nvPr/>
        </p:nvSpPr>
        <p:spPr>
          <a:xfrm>
            <a:off x="2212848" y="2487168"/>
            <a:ext cx="274320" cy="548640"/>
          </a:xfrm>
          <a:prstGeom prst="rect">
            <a:avLst/>
          </a:prstGeom>
          <a:noFill/>
          <a:ln/>
        </p:spPr>
        <p:txBody>
          <a:bodyPr wrap="square" lIns="0" tIns="0" rIns="0" bIns="0" rtlCol="0" anchor="ctr"/>
          <a:lstStyle/>
          <a:p>
            <a:pPr algn="ctr" indent="0" marL="0">
              <a:buNone/>
            </a:pPr>
            <a:r>
              <a:rPr lang="en-US" sz="2200" dirty="0">
                <a:solidFill>
                  <a:srgbClr val="B63679"/>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2468880" y="2240280"/>
            <a:ext cx="1600200" cy="1051560"/>
          </a:xfrm>
          <a:prstGeom prst="roundRect">
            <a:avLst>
              <a:gd name="adj" fmla="val 8696"/>
            </a:avLst>
          </a:prstGeom>
          <a:solidFill>
            <a:srgbClr val="1A0E2E"/>
          </a:solidFill>
          <a:ln/>
        </p:spPr>
      </p:sp>
      <p:sp>
        <p:nvSpPr>
          <p:cNvPr id="9" name="Text 7"/>
          <p:cNvSpPr/>
          <p:nvPr/>
        </p:nvSpPr>
        <p:spPr>
          <a:xfrm>
            <a:off x="2468880" y="2423160"/>
            <a:ext cx="16002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FIR + ÷3</a:t>
            </a:r>
            <a:endParaRPr lang="en-US" sz="1300" dirty="0"/>
          </a:p>
        </p:txBody>
      </p:sp>
      <p:sp>
        <p:nvSpPr>
          <p:cNvPr id="10" name="Text 8"/>
          <p:cNvSpPr/>
          <p:nvPr/>
        </p:nvSpPr>
        <p:spPr>
          <a:xfrm>
            <a:off x="2468880" y="2743200"/>
            <a:ext cx="1600200" cy="320040"/>
          </a:xfrm>
          <a:prstGeom prst="rect">
            <a:avLst/>
          </a:prstGeom>
          <a:noFill/>
          <a:ln/>
        </p:spPr>
        <p:txBody>
          <a:bodyPr wrap="square" lIns="0" tIns="0" rIns="0" bIns="0" rtlCol="0" anchor="ctr"/>
          <a:lstStyle/>
          <a:p>
            <a:pPr algn="ctr" indent="0" marL="0">
              <a:buNone/>
            </a:pPr>
            <a:r>
              <a:rPr lang="en-US" sz="1050" dirty="0">
                <a:solidFill>
                  <a:srgbClr val="B9A5C4"/>
                </a:solidFill>
                <a:latin typeface="Calibri" pitchFamily="34" charset="0"/>
                <a:ea typeface="Calibri" pitchFamily="34" charset="-122"/>
                <a:cs typeface="Calibri" pitchFamily="34" charset="-120"/>
              </a:rPr>
              <a:t>Anti-aliasing</a:t>
            </a:r>
            <a:endParaRPr lang="en-US" sz="1050" dirty="0"/>
          </a:p>
        </p:txBody>
      </p:sp>
      <p:sp>
        <p:nvSpPr>
          <p:cNvPr id="11" name="Text 9"/>
          <p:cNvSpPr/>
          <p:nvPr/>
        </p:nvSpPr>
        <p:spPr>
          <a:xfrm>
            <a:off x="4041648" y="2487168"/>
            <a:ext cx="274320" cy="548640"/>
          </a:xfrm>
          <a:prstGeom prst="rect">
            <a:avLst/>
          </a:prstGeom>
          <a:noFill/>
          <a:ln/>
        </p:spPr>
        <p:txBody>
          <a:bodyPr wrap="square" lIns="0" tIns="0" rIns="0" bIns="0" rtlCol="0" anchor="ctr"/>
          <a:lstStyle/>
          <a:p>
            <a:pPr algn="ctr" indent="0" marL="0">
              <a:buNone/>
            </a:pPr>
            <a:r>
              <a:rPr lang="en-US" sz="2200" dirty="0">
                <a:solidFill>
                  <a:srgbClr val="B63679"/>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4297680" y="2240280"/>
            <a:ext cx="1600200" cy="1051560"/>
          </a:xfrm>
          <a:prstGeom prst="roundRect">
            <a:avLst>
              <a:gd name="adj" fmla="val 8696"/>
            </a:avLst>
          </a:prstGeom>
          <a:solidFill>
            <a:srgbClr val="1A0E2E"/>
          </a:solidFill>
          <a:ln/>
        </p:spPr>
      </p:sp>
      <p:sp>
        <p:nvSpPr>
          <p:cNvPr id="13" name="Text 11"/>
          <p:cNvSpPr/>
          <p:nvPr/>
        </p:nvSpPr>
        <p:spPr>
          <a:xfrm>
            <a:off x="4297680" y="2423160"/>
            <a:ext cx="16002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80–8 kHz</a:t>
            </a:r>
            <a:endParaRPr lang="en-US" sz="1300" dirty="0"/>
          </a:p>
        </p:txBody>
      </p:sp>
      <p:sp>
        <p:nvSpPr>
          <p:cNvPr id="14" name="Text 12"/>
          <p:cNvSpPr/>
          <p:nvPr/>
        </p:nvSpPr>
        <p:spPr>
          <a:xfrm>
            <a:off x="4297680" y="2743200"/>
            <a:ext cx="1600200" cy="320040"/>
          </a:xfrm>
          <a:prstGeom prst="rect">
            <a:avLst/>
          </a:prstGeom>
          <a:noFill/>
          <a:ln/>
        </p:spPr>
        <p:txBody>
          <a:bodyPr wrap="square" lIns="0" tIns="0" rIns="0" bIns="0" rtlCol="0" anchor="ctr"/>
          <a:lstStyle/>
          <a:p>
            <a:pPr algn="ctr" indent="0" marL="0">
              <a:buNone/>
            </a:pPr>
            <a:r>
              <a:rPr lang="en-US" sz="1050" dirty="0">
                <a:solidFill>
                  <a:srgbClr val="B9A5C4"/>
                </a:solidFill>
                <a:latin typeface="Calibri" pitchFamily="34" charset="0"/>
                <a:ea typeface="Calibri" pitchFamily="34" charset="-122"/>
                <a:cs typeface="Calibri" pitchFamily="34" charset="-120"/>
              </a:rPr>
              <a:t>Banda de voz</a:t>
            </a:r>
            <a:endParaRPr lang="en-US" sz="1050" dirty="0"/>
          </a:p>
        </p:txBody>
      </p:sp>
      <p:sp>
        <p:nvSpPr>
          <p:cNvPr id="15" name="Text 13"/>
          <p:cNvSpPr/>
          <p:nvPr/>
        </p:nvSpPr>
        <p:spPr>
          <a:xfrm>
            <a:off x="5870448" y="2487168"/>
            <a:ext cx="274320" cy="548640"/>
          </a:xfrm>
          <a:prstGeom prst="rect">
            <a:avLst/>
          </a:prstGeom>
          <a:noFill/>
          <a:ln/>
        </p:spPr>
        <p:txBody>
          <a:bodyPr wrap="square" lIns="0" tIns="0" rIns="0" bIns="0" rtlCol="0" anchor="ctr"/>
          <a:lstStyle/>
          <a:p>
            <a:pPr algn="ctr" indent="0" marL="0">
              <a:buNone/>
            </a:pPr>
            <a:r>
              <a:rPr lang="en-US" sz="2200" dirty="0">
                <a:solidFill>
                  <a:srgbClr val="B63679"/>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126480" y="2240280"/>
            <a:ext cx="1600200" cy="1051560"/>
          </a:xfrm>
          <a:prstGeom prst="roundRect">
            <a:avLst>
              <a:gd name="adj" fmla="val 8696"/>
            </a:avLst>
          </a:prstGeom>
          <a:solidFill>
            <a:srgbClr val="1A0E2E"/>
          </a:solidFill>
          <a:ln/>
        </p:spPr>
      </p:sp>
      <p:sp>
        <p:nvSpPr>
          <p:cNvPr id="17" name="Text 15"/>
          <p:cNvSpPr/>
          <p:nvPr/>
        </p:nvSpPr>
        <p:spPr>
          <a:xfrm>
            <a:off x="6126480" y="2423160"/>
            <a:ext cx="16002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FFT / STFT</a:t>
            </a:r>
            <a:endParaRPr lang="en-US" sz="1300" dirty="0"/>
          </a:p>
        </p:txBody>
      </p:sp>
      <p:sp>
        <p:nvSpPr>
          <p:cNvPr id="18" name="Text 16"/>
          <p:cNvSpPr/>
          <p:nvPr/>
        </p:nvSpPr>
        <p:spPr>
          <a:xfrm>
            <a:off x="6126480" y="2743200"/>
            <a:ext cx="1600200" cy="320040"/>
          </a:xfrm>
          <a:prstGeom prst="rect">
            <a:avLst/>
          </a:prstGeom>
          <a:noFill/>
          <a:ln/>
        </p:spPr>
        <p:txBody>
          <a:bodyPr wrap="square" lIns="0" tIns="0" rIns="0" bIns="0" rtlCol="0" anchor="ctr"/>
          <a:lstStyle/>
          <a:p>
            <a:pPr algn="ctr" indent="0" marL="0">
              <a:buNone/>
            </a:pPr>
            <a:r>
              <a:rPr lang="en-US" sz="1050" dirty="0">
                <a:solidFill>
                  <a:srgbClr val="B9A5C4"/>
                </a:solidFill>
                <a:latin typeface="Calibri" pitchFamily="34" charset="0"/>
                <a:ea typeface="Calibri" pitchFamily="34" charset="-122"/>
                <a:cs typeface="Calibri" pitchFamily="34" charset="-120"/>
              </a:rPr>
              <a:t>Espectro</a:t>
            </a:r>
            <a:endParaRPr lang="en-US" sz="1050" dirty="0"/>
          </a:p>
        </p:txBody>
      </p:sp>
      <p:sp>
        <p:nvSpPr>
          <p:cNvPr id="19" name="Text 17"/>
          <p:cNvSpPr/>
          <p:nvPr/>
        </p:nvSpPr>
        <p:spPr>
          <a:xfrm>
            <a:off x="7699248" y="2487168"/>
            <a:ext cx="274320" cy="548640"/>
          </a:xfrm>
          <a:prstGeom prst="rect">
            <a:avLst/>
          </a:prstGeom>
          <a:noFill/>
          <a:ln/>
        </p:spPr>
        <p:txBody>
          <a:bodyPr wrap="square" lIns="0" tIns="0" rIns="0" bIns="0" rtlCol="0" anchor="ctr"/>
          <a:lstStyle/>
          <a:p>
            <a:pPr algn="ctr" indent="0" marL="0">
              <a:buNone/>
            </a:pPr>
            <a:r>
              <a:rPr lang="en-US" sz="2200" dirty="0">
                <a:solidFill>
                  <a:srgbClr val="B63679"/>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7955280" y="2240280"/>
            <a:ext cx="1600200" cy="1051560"/>
          </a:xfrm>
          <a:prstGeom prst="roundRect">
            <a:avLst>
              <a:gd name="adj" fmla="val 8696"/>
            </a:avLst>
          </a:prstGeom>
          <a:solidFill>
            <a:srgbClr val="1A0E2E"/>
          </a:solidFill>
          <a:ln/>
        </p:spPr>
      </p:sp>
      <p:sp>
        <p:nvSpPr>
          <p:cNvPr id="21" name="Text 19"/>
          <p:cNvSpPr/>
          <p:nvPr/>
        </p:nvSpPr>
        <p:spPr>
          <a:xfrm>
            <a:off x="7955280" y="2423160"/>
            <a:ext cx="16002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Whisper</a:t>
            </a:r>
            <a:endParaRPr lang="en-US" sz="1300" dirty="0"/>
          </a:p>
        </p:txBody>
      </p:sp>
      <p:sp>
        <p:nvSpPr>
          <p:cNvPr id="22" name="Text 20"/>
          <p:cNvSpPr/>
          <p:nvPr/>
        </p:nvSpPr>
        <p:spPr>
          <a:xfrm>
            <a:off x="7955280" y="2743200"/>
            <a:ext cx="1600200" cy="320040"/>
          </a:xfrm>
          <a:prstGeom prst="rect">
            <a:avLst/>
          </a:prstGeom>
          <a:noFill/>
          <a:ln/>
        </p:spPr>
        <p:txBody>
          <a:bodyPr wrap="square" lIns="0" tIns="0" rIns="0" bIns="0" rtlCol="0" anchor="ctr"/>
          <a:lstStyle/>
          <a:p>
            <a:pPr algn="ctr" indent="0" marL="0">
              <a:buNone/>
            </a:pPr>
            <a:r>
              <a:rPr lang="en-US" sz="1050" dirty="0">
                <a:solidFill>
                  <a:srgbClr val="B9A5C4"/>
                </a:solidFill>
                <a:latin typeface="Calibri" pitchFamily="34" charset="0"/>
                <a:ea typeface="Calibri" pitchFamily="34" charset="-122"/>
                <a:cs typeface="Calibri" pitchFamily="34" charset="-120"/>
              </a:rPr>
              <a:t>Transcripción</a:t>
            </a:r>
            <a:endParaRPr lang="en-US" sz="1050" dirty="0"/>
          </a:p>
        </p:txBody>
      </p:sp>
      <p:sp>
        <p:nvSpPr>
          <p:cNvPr id="23" name="Text 21"/>
          <p:cNvSpPr/>
          <p:nvPr/>
        </p:nvSpPr>
        <p:spPr>
          <a:xfrm>
            <a:off x="9528048" y="2487168"/>
            <a:ext cx="274320" cy="548640"/>
          </a:xfrm>
          <a:prstGeom prst="rect">
            <a:avLst/>
          </a:prstGeom>
          <a:noFill/>
          <a:ln/>
        </p:spPr>
        <p:txBody>
          <a:bodyPr wrap="square" lIns="0" tIns="0" rIns="0" bIns="0" rtlCol="0" anchor="ctr"/>
          <a:lstStyle/>
          <a:p>
            <a:pPr algn="ctr" indent="0" marL="0">
              <a:buNone/>
            </a:pPr>
            <a:r>
              <a:rPr lang="en-US" sz="2200" dirty="0">
                <a:solidFill>
                  <a:srgbClr val="B63679"/>
                </a:solidFill>
                <a:latin typeface="Calibri" pitchFamily="34" charset="0"/>
                <a:ea typeface="Calibri" pitchFamily="34" charset="-122"/>
                <a:cs typeface="Calibri" pitchFamily="34" charset="-120"/>
              </a:rPr>
              <a:t>›</a:t>
            </a:r>
            <a:endParaRPr lang="en-US" sz="2200" dirty="0"/>
          </a:p>
        </p:txBody>
      </p:sp>
      <p:sp>
        <p:nvSpPr>
          <p:cNvPr id="24" name="Shape 22"/>
          <p:cNvSpPr/>
          <p:nvPr/>
        </p:nvSpPr>
        <p:spPr>
          <a:xfrm>
            <a:off x="9784080" y="2240280"/>
            <a:ext cx="1600200" cy="1051560"/>
          </a:xfrm>
          <a:prstGeom prst="roundRect">
            <a:avLst>
              <a:gd name="adj" fmla="val 8696"/>
            </a:avLst>
          </a:prstGeom>
          <a:solidFill>
            <a:srgbClr val="1A0E2E"/>
          </a:solidFill>
          <a:ln/>
        </p:spPr>
      </p:sp>
      <p:sp>
        <p:nvSpPr>
          <p:cNvPr id="25" name="Text 23"/>
          <p:cNvSpPr/>
          <p:nvPr/>
        </p:nvSpPr>
        <p:spPr>
          <a:xfrm>
            <a:off x="9784080" y="2423160"/>
            <a:ext cx="16002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T5</a:t>
            </a:r>
            <a:endParaRPr lang="en-US" sz="1300" dirty="0"/>
          </a:p>
        </p:txBody>
      </p:sp>
      <p:sp>
        <p:nvSpPr>
          <p:cNvPr id="26" name="Text 24"/>
          <p:cNvSpPr/>
          <p:nvPr/>
        </p:nvSpPr>
        <p:spPr>
          <a:xfrm>
            <a:off x="9784080" y="2743200"/>
            <a:ext cx="1600200" cy="320040"/>
          </a:xfrm>
          <a:prstGeom prst="rect">
            <a:avLst/>
          </a:prstGeom>
          <a:noFill/>
          <a:ln/>
        </p:spPr>
        <p:txBody>
          <a:bodyPr wrap="square" lIns="0" tIns="0" rIns="0" bIns="0" rtlCol="0" anchor="ctr"/>
          <a:lstStyle/>
          <a:p>
            <a:pPr algn="ctr" indent="0" marL="0">
              <a:buNone/>
            </a:pPr>
            <a:r>
              <a:rPr lang="en-US" sz="1050" dirty="0">
                <a:solidFill>
                  <a:srgbClr val="B9A5C4"/>
                </a:solidFill>
                <a:latin typeface="Calibri" pitchFamily="34" charset="0"/>
                <a:ea typeface="Calibri" pitchFamily="34" charset="-122"/>
                <a:cs typeface="Calibri" pitchFamily="34" charset="-120"/>
              </a:rPr>
              <a:t>Gramática</a:t>
            </a:r>
            <a:endParaRPr lang="en-US" sz="1050" dirty="0"/>
          </a:p>
        </p:txBody>
      </p:sp>
      <p:sp>
        <p:nvSpPr>
          <p:cNvPr id="27" name="Shape 25"/>
          <p:cNvSpPr/>
          <p:nvPr/>
        </p:nvSpPr>
        <p:spPr>
          <a:xfrm>
            <a:off x="640080" y="3611880"/>
            <a:ext cx="10881360" cy="457200"/>
          </a:xfrm>
          <a:prstGeom prst="roundRect">
            <a:avLst>
              <a:gd name="adj" fmla="val 16000"/>
            </a:avLst>
          </a:prstGeom>
          <a:solidFill>
            <a:srgbClr val="F7E3D6"/>
          </a:solidFill>
          <a:ln/>
        </p:spPr>
      </p:sp>
      <p:sp>
        <p:nvSpPr>
          <p:cNvPr id="28" name="Text 26"/>
          <p:cNvSpPr/>
          <p:nvPr/>
        </p:nvSpPr>
        <p:spPr>
          <a:xfrm>
            <a:off x="868680" y="3611880"/>
            <a:ext cx="10515600" cy="457200"/>
          </a:xfrm>
          <a:prstGeom prst="rect">
            <a:avLst/>
          </a:prstGeom>
          <a:noFill/>
          <a:ln/>
        </p:spPr>
        <p:txBody>
          <a:bodyPr wrap="square" lIns="0" tIns="0" rIns="0" bIns="0" rtlCol="0" anchor="ctr"/>
          <a:lstStyle/>
          <a:p>
            <a:pPr indent="0" marL="0">
              <a:buNone/>
            </a:pPr>
            <a:r>
              <a:rPr lang="en-US" sz="1200" b="1" dirty="0">
                <a:solidFill>
                  <a:srgbClr val="C24E22"/>
                </a:solidFill>
                <a:latin typeface="Calibri" pitchFamily="34" charset="0"/>
                <a:ea typeface="Calibri" pitchFamily="34" charset="-122"/>
                <a:cs typeface="Calibri" pitchFamily="34" charset="-120"/>
              </a:rPr>
              <a:t>hasta aquí: menos de 2 segundos — es la retroalimentación que pierde valor si tarda</a:t>
            </a:r>
            <a:endParaRPr lang="en-US" sz="1200" dirty="0"/>
          </a:p>
        </p:txBody>
      </p:sp>
      <p:sp>
        <p:nvSpPr>
          <p:cNvPr id="29" name="Shape 27"/>
          <p:cNvSpPr/>
          <p:nvPr/>
        </p:nvSpPr>
        <p:spPr>
          <a:xfrm>
            <a:off x="640080" y="4434840"/>
            <a:ext cx="3429000" cy="1143000"/>
          </a:xfrm>
          <a:prstGeom prst="roundRect">
            <a:avLst>
              <a:gd name="adj" fmla="val 9600"/>
            </a:avLst>
          </a:prstGeom>
          <a:solidFill>
            <a:srgbClr val="FFFFFF"/>
          </a:solidFill>
          <a:ln/>
          <a:effectLst>
            <a:outerShdw sx="100000" sy="100000" kx="0" ky="0" algn="bl" rotWithShape="0" blurRad="114300" dist="25400" dir="5400000">
              <a:srgbClr val="2A1638">
                <a:alpha val="12000"/>
              </a:srgbClr>
            </a:outerShdw>
          </a:effectLst>
        </p:spPr>
      </p:sp>
      <p:sp>
        <p:nvSpPr>
          <p:cNvPr id="30" name="Text 28"/>
          <p:cNvSpPr/>
          <p:nvPr/>
        </p:nvSpPr>
        <p:spPr>
          <a:xfrm>
            <a:off x="896112" y="4645152"/>
            <a:ext cx="3017520" cy="320040"/>
          </a:xfrm>
          <a:prstGeom prst="rect">
            <a:avLst/>
          </a:prstGeom>
          <a:noFill/>
          <a:ln/>
        </p:spPr>
        <p:txBody>
          <a:bodyPr wrap="square" lIns="0" tIns="0" rIns="0" bIns="0" rtlCol="0" anchor="ctr"/>
          <a:lstStyle/>
          <a:p>
            <a:pPr indent="0" marL="0">
              <a:buNone/>
            </a:pPr>
            <a:r>
              <a:rPr lang="en-US" sz="1400" b="1" dirty="0">
                <a:solidFill>
                  <a:srgbClr val="2A1638"/>
                </a:solidFill>
                <a:latin typeface="Calibri" pitchFamily="34" charset="0"/>
                <a:ea typeface="Calibri" pitchFamily="34" charset="-122"/>
                <a:cs typeface="Calibri" pitchFamily="34" charset="-120"/>
              </a:rPr>
              <a:t>Respuesta del tutor</a:t>
            </a:r>
            <a:endParaRPr lang="en-US" sz="1400" dirty="0"/>
          </a:p>
        </p:txBody>
      </p:sp>
      <p:sp>
        <p:nvSpPr>
          <p:cNvPr id="31" name="Text 29"/>
          <p:cNvSpPr/>
          <p:nvPr/>
        </p:nvSpPr>
        <p:spPr>
          <a:xfrm>
            <a:off x="896112" y="4983480"/>
            <a:ext cx="3017520" cy="320040"/>
          </a:xfrm>
          <a:prstGeom prst="rect">
            <a:avLst/>
          </a:prstGeom>
          <a:noFill/>
          <a:ln/>
        </p:spPr>
        <p:txBody>
          <a:bodyPr wrap="square" lIns="0" tIns="0" rIns="0" bIns="0" rtlCol="0" anchor="ctr"/>
          <a:lstStyle/>
          <a:p>
            <a:pPr indent="0" marL="0">
              <a:buNone/>
            </a:pPr>
            <a:r>
              <a:rPr lang="en-US" sz="1150" dirty="0">
                <a:solidFill>
                  <a:srgbClr val="6E5C7A"/>
                </a:solidFill>
                <a:latin typeface="Calibri" pitchFamily="34" charset="0"/>
                <a:ea typeface="Calibri" pitchFamily="34" charset="-122"/>
                <a:cs typeface="Calibri" pitchFamily="34" charset="-120"/>
              </a:rPr>
              <a:t>dentro del turno, después</a:t>
            </a:r>
            <a:endParaRPr lang="en-US" sz="1150" dirty="0"/>
          </a:p>
        </p:txBody>
      </p:sp>
      <p:sp>
        <p:nvSpPr>
          <p:cNvPr id="32" name="Shape 30"/>
          <p:cNvSpPr/>
          <p:nvPr/>
        </p:nvSpPr>
        <p:spPr>
          <a:xfrm>
            <a:off x="4343400" y="4434840"/>
            <a:ext cx="3429000" cy="1143000"/>
          </a:xfrm>
          <a:prstGeom prst="roundRect">
            <a:avLst>
              <a:gd name="adj" fmla="val 9600"/>
            </a:avLst>
          </a:prstGeom>
          <a:solidFill>
            <a:srgbClr val="FFFFFF"/>
          </a:solidFill>
          <a:ln/>
          <a:effectLst>
            <a:outerShdw sx="100000" sy="100000" kx="0" ky="0" algn="bl" rotWithShape="0" blurRad="114300" dist="25400" dir="5400000">
              <a:srgbClr val="2A1638">
                <a:alpha val="12000"/>
              </a:srgbClr>
            </a:outerShdw>
          </a:effectLst>
        </p:spPr>
      </p:sp>
      <p:sp>
        <p:nvSpPr>
          <p:cNvPr id="33" name="Text 31"/>
          <p:cNvSpPr/>
          <p:nvPr/>
        </p:nvSpPr>
        <p:spPr>
          <a:xfrm>
            <a:off x="4599432" y="4645152"/>
            <a:ext cx="3017520" cy="320040"/>
          </a:xfrm>
          <a:prstGeom prst="rect">
            <a:avLst/>
          </a:prstGeom>
          <a:noFill/>
          <a:ln/>
        </p:spPr>
        <p:txBody>
          <a:bodyPr wrap="square" lIns="0" tIns="0" rIns="0" bIns="0" rtlCol="0" anchor="ctr"/>
          <a:lstStyle/>
          <a:p>
            <a:pPr indent="0" marL="0">
              <a:buNone/>
            </a:pPr>
            <a:r>
              <a:rPr lang="en-US" sz="1400" b="1" dirty="0">
                <a:solidFill>
                  <a:srgbClr val="2A1638"/>
                </a:solidFill>
                <a:latin typeface="Calibri" pitchFamily="34" charset="0"/>
                <a:ea typeface="Calibri" pitchFamily="34" charset="-122"/>
                <a:cs typeface="Calibri" pitchFamily="34" charset="-120"/>
              </a:rPr>
              <a:t>Sugerencias de mejora</a:t>
            </a:r>
            <a:endParaRPr lang="en-US" sz="1400" dirty="0"/>
          </a:p>
        </p:txBody>
      </p:sp>
      <p:sp>
        <p:nvSpPr>
          <p:cNvPr id="34" name="Text 32"/>
          <p:cNvSpPr/>
          <p:nvPr/>
        </p:nvSpPr>
        <p:spPr>
          <a:xfrm>
            <a:off x="4599432" y="4983480"/>
            <a:ext cx="3017520" cy="320040"/>
          </a:xfrm>
          <a:prstGeom prst="rect">
            <a:avLst/>
          </a:prstGeom>
          <a:noFill/>
          <a:ln/>
        </p:spPr>
        <p:txBody>
          <a:bodyPr wrap="square" lIns="0" tIns="0" rIns="0" bIns="0" rtlCol="0" anchor="ctr"/>
          <a:lstStyle/>
          <a:p>
            <a:pPr indent="0" marL="0">
              <a:buNone/>
            </a:pPr>
            <a:r>
              <a:rPr lang="en-US" sz="1150" dirty="0">
                <a:solidFill>
                  <a:srgbClr val="6E5C7A"/>
                </a:solidFill>
                <a:latin typeface="Calibri" pitchFamily="34" charset="0"/>
                <a:ea typeface="Calibri" pitchFamily="34" charset="-122"/>
                <a:cs typeface="Calibri" pitchFamily="34" charset="-120"/>
              </a:rPr>
              <a:t>fuera del turno</a:t>
            </a:r>
            <a:endParaRPr lang="en-US" sz="1150" dirty="0"/>
          </a:p>
        </p:txBody>
      </p:sp>
      <p:sp>
        <p:nvSpPr>
          <p:cNvPr id="35" name="Shape 33"/>
          <p:cNvSpPr/>
          <p:nvPr/>
        </p:nvSpPr>
        <p:spPr>
          <a:xfrm>
            <a:off x="8046720" y="4434840"/>
            <a:ext cx="3429000" cy="1143000"/>
          </a:xfrm>
          <a:prstGeom prst="roundRect">
            <a:avLst>
              <a:gd name="adj" fmla="val 9600"/>
            </a:avLst>
          </a:prstGeom>
          <a:solidFill>
            <a:srgbClr val="FFFFFF"/>
          </a:solidFill>
          <a:ln/>
          <a:effectLst>
            <a:outerShdw sx="100000" sy="100000" kx="0" ky="0" algn="bl" rotWithShape="0" blurRad="114300" dist="25400" dir="5400000">
              <a:srgbClr val="2A1638">
                <a:alpha val="12000"/>
              </a:srgbClr>
            </a:outerShdw>
          </a:effectLst>
        </p:spPr>
      </p:sp>
      <p:sp>
        <p:nvSpPr>
          <p:cNvPr id="36" name="Text 34"/>
          <p:cNvSpPr/>
          <p:nvPr/>
        </p:nvSpPr>
        <p:spPr>
          <a:xfrm>
            <a:off x="8302752" y="4645152"/>
            <a:ext cx="3017520" cy="320040"/>
          </a:xfrm>
          <a:prstGeom prst="rect">
            <a:avLst/>
          </a:prstGeom>
          <a:noFill/>
          <a:ln/>
        </p:spPr>
        <p:txBody>
          <a:bodyPr wrap="square" lIns="0" tIns="0" rIns="0" bIns="0" rtlCol="0" anchor="ctr"/>
          <a:lstStyle/>
          <a:p>
            <a:pPr indent="0" marL="0">
              <a:buNone/>
            </a:pPr>
            <a:r>
              <a:rPr lang="en-US" sz="1400" b="1" dirty="0">
                <a:solidFill>
                  <a:srgbClr val="2A1638"/>
                </a:solidFill>
                <a:latin typeface="Calibri" pitchFamily="34" charset="0"/>
                <a:ea typeface="Calibri" pitchFamily="34" charset="-122"/>
                <a:cs typeface="Calibri" pitchFamily="34" charset="-120"/>
              </a:rPr>
              <a:t>Puntaje de pronunciación</a:t>
            </a:r>
            <a:endParaRPr lang="en-US" sz="1400" dirty="0"/>
          </a:p>
        </p:txBody>
      </p:sp>
      <p:sp>
        <p:nvSpPr>
          <p:cNvPr id="37" name="Text 35"/>
          <p:cNvSpPr/>
          <p:nvPr/>
        </p:nvSpPr>
        <p:spPr>
          <a:xfrm>
            <a:off x="8302752" y="4983480"/>
            <a:ext cx="3017520" cy="320040"/>
          </a:xfrm>
          <a:prstGeom prst="rect">
            <a:avLst/>
          </a:prstGeom>
          <a:noFill/>
          <a:ln/>
        </p:spPr>
        <p:txBody>
          <a:bodyPr wrap="square" lIns="0" tIns="0" rIns="0" bIns="0" rtlCol="0" anchor="ctr"/>
          <a:lstStyle/>
          <a:p>
            <a:pPr indent="0" marL="0">
              <a:buNone/>
            </a:pPr>
            <a:r>
              <a:rPr lang="en-US" sz="1150" dirty="0">
                <a:solidFill>
                  <a:srgbClr val="6E5C7A"/>
                </a:solidFill>
                <a:latin typeface="Calibri" pitchFamily="34" charset="0"/>
                <a:ea typeface="Calibri" pitchFamily="34" charset="-122"/>
                <a:cs typeface="Calibri" pitchFamily="34" charset="-120"/>
              </a:rPr>
              <a:t>solo en modo práctica</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0E2E"/>
        </a:solidFill>
      </p:bgPr>
    </p:bg>
    <p:spTree>
      <p:nvGrpSpPr>
        <p:cNvPr id="1" name=""/>
        <p:cNvGrpSpPr/>
        <p:nvPr/>
      </p:nvGrpSpPr>
      <p:grpSpPr>
        <a:xfrm>
          <a:off x="0" y="0"/>
          <a:ext cx="0" cy="0"/>
          <a:chOff x="0" y="0"/>
          <a:chExt cx="0" cy="0"/>
        </a:xfrm>
      </p:grpSpPr>
      <p:sp>
        <p:nvSpPr>
          <p:cNvPr id="2" name="Shape 0"/>
          <p:cNvSpPr/>
          <p:nvPr/>
        </p:nvSpPr>
        <p:spPr>
          <a:xfrm>
            <a:off x="-1463040" y="3291840"/>
            <a:ext cx="5669280" cy="5669280"/>
          </a:xfrm>
          <a:prstGeom prst="ellipse">
            <a:avLst/>
          </a:prstGeom>
          <a:solidFill>
            <a:srgbClr val="32194F"/>
          </a:solidFill>
          <a:ln/>
        </p:spPr>
      </p:sp>
      <p:sp>
        <p:nvSpPr>
          <p:cNvPr id="3" name="Shape 1"/>
          <p:cNvSpPr/>
          <p:nvPr/>
        </p:nvSpPr>
        <p:spPr>
          <a:xfrm>
            <a:off x="9875520" y="-1280160"/>
            <a:ext cx="4206240" cy="4206240"/>
          </a:xfrm>
          <a:prstGeom prst="ellipse">
            <a:avLst/>
          </a:prstGeom>
          <a:solidFill>
            <a:srgbClr val="8C2F6B"/>
          </a:solidFill>
          <a:ln/>
        </p:spPr>
      </p:sp>
      <p:sp>
        <p:nvSpPr>
          <p:cNvPr id="4" name="Text 2"/>
          <p:cNvSpPr/>
          <p:nvPr/>
        </p:nvSpPr>
        <p:spPr>
          <a:xfrm>
            <a:off x="822960" y="1371600"/>
            <a:ext cx="1033272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Demostración en vivo</a:t>
            </a:r>
            <a:endParaRPr lang="en-US" sz="4200" dirty="0"/>
          </a:p>
        </p:txBody>
      </p:sp>
      <p:sp>
        <p:nvSpPr>
          <p:cNvPr id="5" name="Text 3"/>
          <p:cNvSpPr/>
          <p:nvPr/>
        </p:nvSpPr>
        <p:spPr>
          <a:xfrm>
            <a:off x="822960" y="2240280"/>
            <a:ext cx="10332720" cy="365760"/>
          </a:xfrm>
          <a:prstGeom prst="rect">
            <a:avLst/>
          </a:prstGeom>
          <a:noFill/>
          <a:ln/>
        </p:spPr>
        <p:txBody>
          <a:bodyPr wrap="square" lIns="0" tIns="0" rIns="0" bIns="0" rtlCol="0" anchor="ctr"/>
          <a:lstStyle/>
          <a:p>
            <a:pPr indent="0" marL="0">
              <a:buNone/>
            </a:pPr>
            <a:r>
              <a:rPr lang="en-US" sz="1600" dirty="0">
                <a:solidFill>
                  <a:srgbClr val="B9A5C4"/>
                </a:solidFill>
                <a:latin typeface="Calibri" pitchFamily="34" charset="0"/>
                <a:ea typeface="Calibri" pitchFamily="34" charset="-122"/>
                <a:cs typeface="Calibri" pitchFamily="34" charset="-120"/>
              </a:rPr>
              <a:t>La conversación completa, sobre la aplicación desplegada</a:t>
            </a:r>
            <a:endParaRPr lang="en-US" sz="1600" dirty="0"/>
          </a:p>
        </p:txBody>
      </p:sp>
      <p:sp>
        <p:nvSpPr>
          <p:cNvPr id="6" name="Shape 4"/>
          <p:cNvSpPr/>
          <p:nvPr/>
        </p:nvSpPr>
        <p:spPr>
          <a:xfrm>
            <a:off x="822960" y="3063240"/>
            <a:ext cx="3200400" cy="2011680"/>
          </a:xfrm>
          <a:prstGeom prst="roundRect">
            <a:avLst>
              <a:gd name="adj" fmla="val 5455"/>
            </a:avLst>
          </a:prstGeom>
          <a:solidFill>
            <a:srgbClr val="32194F"/>
          </a:solidFill>
          <a:ln/>
        </p:spPr>
      </p:sp>
      <p:sp>
        <p:nvSpPr>
          <p:cNvPr id="7" name="Text 5"/>
          <p:cNvSpPr/>
          <p:nvPr/>
        </p:nvSpPr>
        <p:spPr>
          <a:xfrm>
            <a:off x="1097280" y="3246120"/>
            <a:ext cx="914400" cy="457200"/>
          </a:xfrm>
          <a:prstGeom prst="rect">
            <a:avLst/>
          </a:prstGeom>
          <a:noFill/>
          <a:ln/>
        </p:spPr>
        <p:txBody>
          <a:bodyPr wrap="square" lIns="0" tIns="0" rIns="0" bIns="0" rtlCol="0" anchor="ctr"/>
          <a:lstStyle/>
          <a:p>
            <a:pPr indent="0" marL="0">
              <a:buNone/>
            </a:pPr>
            <a:r>
              <a:rPr lang="en-US" sz="2600" b="1" dirty="0">
                <a:solidFill>
                  <a:srgbClr val="F0A63C"/>
                </a:solidFill>
                <a:latin typeface="Cambria" pitchFamily="34" charset="0"/>
                <a:ea typeface="Cambria" pitchFamily="34" charset="-122"/>
                <a:cs typeface="Cambria" pitchFamily="34" charset="-120"/>
              </a:rPr>
              <a:t>1</a:t>
            </a:r>
            <a:endParaRPr lang="en-US" sz="2600" dirty="0"/>
          </a:p>
        </p:txBody>
      </p:sp>
      <p:sp>
        <p:nvSpPr>
          <p:cNvPr id="8" name="Text 6"/>
          <p:cNvSpPr/>
          <p:nvPr/>
        </p:nvSpPr>
        <p:spPr>
          <a:xfrm>
            <a:off x="1097280" y="3749040"/>
            <a:ext cx="265176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Conversación libre</a:t>
            </a:r>
            <a:endParaRPr lang="en-US" sz="1500" dirty="0"/>
          </a:p>
        </p:txBody>
      </p:sp>
      <p:sp>
        <p:nvSpPr>
          <p:cNvPr id="9" name="Text 7"/>
          <p:cNvSpPr/>
          <p:nvPr/>
        </p:nvSpPr>
        <p:spPr>
          <a:xfrm>
            <a:off x="1097280" y="4114800"/>
            <a:ext cx="2651760" cy="822960"/>
          </a:xfrm>
          <a:prstGeom prst="rect">
            <a:avLst/>
          </a:prstGeom>
          <a:noFill/>
          <a:ln/>
        </p:spPr>
        <p:txBody>
          <a:bodyPr wrap="square" lIns="0" tIns="0" rIns="0" bIns="0" rtlCol="0" anchor="ctr"/>
          <a:lstStyle/>
          <a:p>
            <a:pPr indent="0" marL="0">
              <a:lnSpc>
                <a:spcPts val="1600"/>
              </a:lnSpc>
              <a:buNone/>
            </a:pPr>
            <a:r>
              <a:rPr lang="en-US" sz="1150" dirty="0">
                <a:solidFill>
                  <a:srgbClr val="B9A5C4"/>
                </a:solidFill>
                <a:latin typeface="Calibri" pitchFamily="34" charset="0"/>
                <a:ea typeface="Calibri" pitchFamily="34" charset="-122"/>
                <a:cs typeface="Calibri" pitchFamily="34" charset="-120"/>
              </a:rPr>
              <a:t>Hablar, ver la transcripción, la corrección gramatical resaltada y la respuesta del tutor.</a:t>
            </a:r>
            <a:endParaRPr lang="en-US" sz="1150" dirty="0"/>
          </a:p>
        </p:txBody>
      </p:sp>
      <p:sp>
        <p:nvSpPr>
          <p:cNvPr id="10" name="Shape 8"/>
          <p:cNvSpPr/>
          <p:nvPr/>
        </p:nvSpPr>
        <p:spPr>
          <a:xfrm>
            <a:off x="4343400" y="3063240"/>
            <a:ext cx="3200400" cy="2011680"/>
          </a:xfrm>
          <a:prstGeom prst="roundRect">
            <a:avLst>
              <a:gd name="adj" fmla="val 5455"/>
            </a:avLst>
          </a:prstGeom>
          <a:solidFill>
            <a:srgbClr val="32194F"/>
          </a:solidFill>
          <a:ln/>
        </p:spPr>
      </p:sp>
      <p:sp>
        <p:nvSpPr>
          <p:cNvPr id="11" name="Text 9"/>
          <p:cNvSpPr/>
          <p:nvPr/>
        </p:nvSpPr>
        <p:spPr>
          <a:xfrm>
            <a:off x="4617720" y="3246120"/>
            <a:ext cx="914400" cy="457200"/>
          </a:xfrm>
          <a:prstGeom prst="rect">
            <a:avLst/>
          </a:prstGeom>
          <a:noFill/>
          <a:ln/>
        </p:spPr>
        <p:txBody>
          <a:bodyPr wrap="square" lIns="0" tIns="0" rIns="0" bIns="0" rtlCol="0" anchor="ctr"/>
          <a:lstStyle/>
          <a:p>
            <a:pPr indent="0" marL="0">
              <a:buNone/>
            </a:pPr>
            <a:r>
              <a:rPr lang="en-US" sz="2600" b="1" dirty="0">
                <a:solidFill>
                  <a:srgbClr val="F0A63C"/>
                </a:solidFill>
                <a:latin typeface="Cambria" pitchFamily="34" charset="0"/>
                <a:ea typeface="Cambria" pitchFamily="34" charset="-122"/>
                <a:cs typeface="Cambria" pitchFamily="34" charset="-120"/>
              </a:rPr>
              <a:t>2</a:t>
            </a:r>
            <a:endParaRPr lang="en-US" sz="2600" dirty="0"/>
          </a:p>
        </p:txBody>
      </p:sp>
      <p:sp>
        <p:nvSpPr>
          <p:cNvPr id="12" name="Text 10"/>
          <p:cNvSpPr/>
          <p:nvPr/>
        </p:nvSpPr>
        <p:spPr>
          <a:xfrm>
            <a:off x="4617720" y="3749040"/>
            <a:ext cx="265176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Modo práctica</a:t>
            </a:r>
            <a:endParaRPr lang="en-US" sz="1500" dirty="0"/>
          </a:p>
        </p:txBody>
      </p:sp>
      <p:sp>
        <p:nvSpPr>
          <p:cNvPr id="13" name="Text 11"/>
          <p:cNvSpPr/>
          <p:nvPr/>
        </p:nvSpPr>
        <p:spPr>
          <a:xfrm>
            <a:off x="4617720" y="4114800"/>
            <a:ext cx="2651760" cy="822960"/>
          </a:xfrm>
          <a:prstGeom prst="rect">
            <a:avLst/>
          </a:prstGeom>
          <a:noFill/>
          <a:ln/>
        </p:spPr>
        <p:txBody>
          <a:bodyPr wrap="square" lIns="0" tIns="0" rIns="0" bIns="0" rtlCol="0" anchor="ctr"/>
          <a:lstStyle/>
          <a:p>
            <a:pPr indent="0" marL="0">
              <a:lnSpc>
                <a:spcPts val="1600"/>
              </a:lnSpc>
              <a:buNone/>
            </a:pPr>
            <a:r>
              <a:rPr lang="en-US" sz="1150" dirty="0">
                <a:solidFill>
                  <a:srgbClr val="B9A5C4"/>
                </a:solidFill>
                <a:latin typeface="Calibri" pitchFamily="34" charset="0"/>
                <a:ea typeface="Calibri" pitchFamily="34" charset="-122"/>
                <a:cs typeface="Calibri" pitchFamily="34" charset="-120"/>
              </a:rPr>
              <a:t>La aplicación propone una frase, el estudiante la repite y se compara palabra por palabra.</a:t>
            </a:r>
            <a:endParaRPr lang="en-US" sz="1150" dirty="0"/>
          </a:p>
        </p:txBody>
      </p:sp>
      <p:sp>
        <p:nvSpPr>
          <p:cNvPr id="14" name="Shape 12"/>
          <p:cNvSpPr/>
          <p:nvPr/>
        </p:nvSpPr>
        <p:spPr>
          <a:xfrm>
            <a:off x="7863840" y="3063240"/>
            <a:ext cx="3200400" cy="2011680"/>
          </a:xfrm>
          <a:prstGeom prst="roundRect">
            <a:avLst>
              <a:gd name="adj" fmla="val 5455"/>
            </a:avLst>
          </a:prstGeom>
          <a:solidFill>
            <a:srgbClr val="32194F"/>
          </a:solidFill>
          <a:ln/>
        </p:spPr>
      </p:sp>
      <p:sp>
        <p:nvSpPr>
          <p:cNvPr id="15" name="Text 13"/>
          <p:cNvSpPr/>
          <p:nvPr/>
        </p:nvSpPr>
        <p:spPr>
          <a:xfrm>
            <a:off x="8138160" y="3246120"/>
            <a:ext cx="914400" cy="457200"/>
          </a:xfrm>
          <a:prstGeom prst="rect">
            <a:avLst/>
          </a:prstGeom>
          <a:noFill/>
          <a:ln/>
        </p:spPr>
        <p:txBody>
          <a:bodyPr wrap="square" lIns="0" tIns="0" rIns="0" bIns="0" rtlCol="0" anchor="ctr"/>
          <a:lstStyle/>
          <a:p>
            <a:pPr indent="0" marL="0">
              <a:buNone/>
            </a:pPr>
            <a:r>
              <a:rPr lang="en-US" sz="2600" b="1" dirty="0">
                <a:solidFill>
                  <a:srgbClr val="F0A63C"/>
                </a:solidFill>
                <a:latin typeface="Cambria" pitchFamily="34" charset="0"/>
                <a:ea typeface="Cambria" pitchFamily="34" charset="-122"/>
                <a:cs typeface="Cambria" pitchFamily="34" charset="-120"/>
              </a:rPr>
              <a:t>3</a:t>
            </a:r>
            <a:endParaRPr lang="en-US" sz="2600" dirty="0"/>
          </a:p>
        </p:txBody>
      </p:sp>
      <p:sp>
        <p:nvSpPr>
          <p:cNvPr id="16" name="Text 14"/>
          <p:cNvSpPr/>
          <p:nvPr/>
        </p:nvSpPr>
        <p:spPr>
          <a:xfrm>
            <a:off x="8138160" y="3749040"/>
            <a:ext cx="265176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Espectrograma en vivo</a:t>
            </a:r>
            <a:endParaRPr lang="en-US" sz="1500" dirty="0"/>
          </a:p>
        </p:txBody>
      </p:sp>
      <p:sp>
        <p:nvSpPr>
          <p:cNvPr id="17" name="Text 15"/>
          <p:cNvSpPr/>
          <p:nvPr/>
        </p:nvSpPr>
        <p:spPr>
          <a:xfrm>
            <a:off x="8138160" y="4114800"/>
            <a:ext cx="2651760" cy="822960"/>
          </a:xfrm>
          <a:prstGeom prst="rect">
            <a:avLst/>
          </a:prstGeom>
          <a:noFill/>
          <a:ln/>
        </p:spPr>
        <p:txBody>
          <a:bodyPr wrap="square" lIns="0" tIns="0" rIns="0" bIns="0" rtlCol="0" anchor="ctr"/>
          <a:lstStyle/>
          <a:p>
            <a:pPr indent="0" marL="0">
              <a:lnSpc>
                <a:spcPts val="1600"/>
              </a:lnSpc>
              <a:buNone/>
            </a:pPr>
            <a:r>
              <a:rPr lang="en-US" sz="1150" dirty="0">
                <a:solidFill>
                  <a:srgbClr val="B9A5C4"/>
                </a:solidFill>
                <a:latin typeface="Calibri" pitchFamily="34" charset="0"/>
                <a:ea typeface="Calibri" pitchFamily="34" charset="-122"/>
                <a:cs typeface="Calibri" pitchFamily="34" charset="-120"/>
              </a:rPr>
              <a:t>El análisis de señal dibujándose mientras la persona habla.</a:t>
            </a:r>
            <a:endParaRPr lang="en-US" sz="1150" dirty="0"/>
          </a:p>
        </p:txBody>
      </p:sp>
      <p:sp>
        <p:nvSpPr>
          <p:cNvPr id="18" name="Text 16"/>
          <p:cNvSpPr/>
          <p:nvPr/>
        </p:nvSpPr>
        <p:spPr>
          <a:xfrm>
            <a:off x="822960" y="5349240"/>
            <a:ext cx="10332720" cy="365760"/>
          </a:xfrm>
          <a:prstGeom prst="rect">
            <a:avLst/>
          </a:prstGeom>
          <a:noFill/>
          <a:ln/>
        </p:spPr>
        <p:txBody>
          <a:bodyPr wrap="square" lIns="0" tIns="0" rIns="0" bIns="0" rtlCol="0" anchor="ctr"/>
          <a:lstStyle/>
          <a:p>
            <a:pPr indent="0" marL="0">
              <a:buNone/>
            </a:pPr>
            <a:r>
              <a:rPr lang="en-US" sz="1300" i="1" dirty="0">
                <a:solidFill>
                  <a:srgbClr val="9A85A8"/>
                </a:solidFill>
                <a:latin typeface="Calibri" pitchFamily="34" charset="0"/>
                <a:ea typeface="Calibri" pitchFamily="34" charset="-122"/>
                <a:cs typeface="Calibri" pitchFamily="34" charset="-120"/>
              </a:rPr>
              <a:t>Hay un video de respaldo grabado, por si el micrófono o la red del aula fallan.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2A1638"/>
                </a:solidFill>
                <a:latin typeface="Cambria" pitchFamily="34" charset="0"/>
                <a:ea typeface="Cambria" pitchFamily="34" charset="-122"/>
                <a:cs typeface="Cambria" pitchFamily="34" charset="-120"/>
              </a:rPr>
              <a:t>Cada concepto, con su medición</a:t>
            </a:r>
            <a:endParaRPr lang="en-US" sz="3600" dirty="0"/>
          </a:p>
        </p:txBody>
      </p:sp>
      <p:sp>
        <p:nvSpPr>
          <p:cNvPr id="3" name="Text 1"/>
          <p:cNvSpPr/>
          <p:nvPr/>
        </p:nvSpPr>
        <p:spPr>
          <a:xfrm>
            <a:off x="640080" y="1152144"/>
            <a:ext cx="10881360" cy="365760"/>
          </a:xfrm>
          <a:prstGeom prst="rect">
            <a:avLst/>
          </a:prstGeom>
          <a:noFill/>
          <a:ln/>
        </p:spPr>
        <p:txBody>
          <a:bodyPr wrap="square" lIns="0" tIns="0" rIns="0" bIns="0" rtlCol="0" anchor="ctr"/>
          <a:lstStyle/>
          <a:p>
            <a:pPr indent="0" marL="0">
              <a:buNone/>
            </a:pPr>
            <a:r>
              <a:rPr lang="en-US" sz="1500" dirty="0">
                <a:solidFill>
                  <a:srgbClr val="6E5C7A"/>
                </a:solidFill>
                <a:latin typeface="Calibri" pitchFamily="34" charset="0"/>
                <a:ea typeface="Calibri" pitchFamily="34" charset="-122"/>
                <a:cs typeface="Calibri" pitchFamily="34" charset="-120"/>
              </a:rPr>
              <a:t>Ningún número de esta presentación es una estimación</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881360" cy="914400"/>
        </p:xfrm>
        <a:graphic>
          <a:graphicData uri="http://schemas.openxmlformats.org/drawingml/2006/table">
            <a:tbl>
              <a:tblPr/>
              <a:tblGrid>
                <a:gridCol w="2743200"/>
                <a:gridCol w="4937760"/>
                <a:gridCol w="3200400"/>
              </a:tblGrid>
              <a:tr h="47548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Concepto</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1A0E2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Dónde se aplica</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1A0E2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Verificación</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1A0E2E"/>
                    </a:solidFill>
                  </a:tcPr>
                </a:tc>
              </a:tr>
              <a:tr h="475488">
                <a:tc>
                  <a:txBody>
                    <a:bodyPr/>
                    <a:lstStyle/>
                    <a:p>
                      <a:pPr indent="0" marL="0">
                        <a:buNone/>
                      </a:pPr>
                      <a:r>
                        <a:rPr lang="en-US" sz="1250" b="1" dirty="0">
                          <a:solidFill>
                            <a:srgbClr val="2A1638"/>
                          </a:solidFill>
                          <a:latin typeface="Calibri" pitchFamily="34" charset="0"/>
                          <a:ea typeface="Calibri" pitchFamily="34" charset="-122"/>
                          <a:cs typeface="Calibri" pitchFamily="34" charset="-120"/>
                        </a:rPr>
                        <a:t>Muestreo y aliasing</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c>
                  <a:txBody>
                    <a:bodyPr/>
                    <a:lstStyle/>
                    <a:p>
                      <a:pPr indent="0" marL="0">
                        <a:buNone/>
                      </a:pPr>
                      <a:r>
                        <a:rPr lang="en-US" sz="1250" dirty="0">
                          <a:solidFill>
                            <a:srgbClr val="6E5C7A"/>
                          </a:solidFill>
                          <a:latin typeface="Calibri" pitchFamily="34" charset="0"/>
                          <a:ea typeface="Calibri" pitchFamily="34" charset="-122"/>
                          <a:cs typeface="Calibri" pitchFamily="34" charset="-120"/>
                        </a:rPr>
                        <a:t>Decimación ÷3 con FIR de fase lineal</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c>
                  <a:txBody>
                    <a:bodyPr/>
                    <a:lstStyle/>
                    <a:p>
                      <a:pPr indent="0" marL="0">
                        <a:buNone/>
                      </a:pPr>
                      <a:r>
                        <a:rPr lang="en-US" sz="1250" b="1" dirty="0">
                          <a:solidFill>
                            <a:srgbClr val="8C2F6B"/>
                          </a:solidFill>
                          <a:latin typeface="Calibri" pitchFamily="34" charset="0"/>
                          <a:ea typeface="Calibri" pitchFamily="34" charset="-122"/>
                          <a:cs typeface="Calibri" pitchFamily="34" charset="-120"/>
                        </a:rPr>
                        <a:t>73.8 dB de supresión</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2A1638"/>
                          </a:solidFill>
                          <a:latin typeface="Calibri" pitchFamily="34" charset="0"/>
                          <a:ea typeface="Calibri" pitchFamily="34" charset="-122"/>
                          <a:cs typeface="Calibri" pitchFamily="34" charset="-120"/>
                        </a:rPr>
                        <a:t>Filtrado IIR</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c>
                  <a:txBody>
                    <a:bodyPr/>
                    <a:lstStyle/>
                    <a:p>
                      <a:pPr indent="0" marL="0">
                        <a:buNone/>
                      </a:pPr>
                      <a:r>
                        <a:rPr lang="en-US" sz="1250" dirty="0">
                          <a:solidFill>
                            <a:srgbClr val="6E5C7A"/>
                          </a:solidFill>
                          <a:latin typeface="Calibri" pitchFamily="34" charset="0"/>
                          <a:ea typeface="Calibri" pitchFamily="34" charset="-122"/>
                          <a:cs typeface="Calibri" pitchFamily="34" charset="-120"/>
                        </a:rPr>
                        <a:t>Banda de voz 80–8 000 Hz, Butterworth</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c>
                  <a:txBody>
                    <a:bodyPr/>
                    <a:lstStyle/>
                    <a:p>
                      <a:pPr indent="0" marL="0">
                        <a:buNone/>
                      </a:pPr>
                      <a:r>
                        <a:rPr lang="en-US" sz="1250" b="1" dirty="0">
                          <a:solidFill>
                            <a:srgbClr val="8C2F6B"/>
                          </a:solidFill>
                          <a:latin typeface="Calibri" pitchFamily="34" charset="0"/>
                          <a:ea typeface="Calibri" pitchFamily="34" charset="-122"/>
                          <a:cs typeface="Calibri" pitchFamily="34" charset="-120"/>
                        </a:rPr>
                        <a:t>−3.01 dB en el corte</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2A1638"/>
                          </a:solidFill>
                          <a:latin typeface="Calibri" pitchFamily="34" charset="0"/>
                          <a:ea typeface="Calibri" pitchFamily="34" charset="-122"/>
                          <a:cs typeface="Calibri" pitchFamily="34" charset="-120"/>
                        </a:rPr>
                        <a:t>DFT y FFT radix-2</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c>
                  <a:txBody>
                    <a:bodyPr/>
                    <a:lstStyle/>
                    <a:p>
                      <a:pPr indent="0" marL="0">
                        <a:buNone/>
                      </a:pPr>
                      <a:r>
                        <a:rPr lang="en-US" sz="1250" dirty="0">
                          <a:solidFill>
                            <a:srgbClr val="6E5C7A"/>
                          </a:solidFill>
                          <a:latin typeface="Calibri" pitchFamily="34" charset="0"/>
                          <a:ea typeface="Calibri" pitchFamily="34" charset="-122"/>
                          <a:cs typeface="Calibri" pitchFamily="34" charset="-120"/>
                        </a:rPr>
                        <a:t>Verificada contra la definición directa</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c>
                  <a:txBody>
                    <a:bodyPr/>
                    <a:lstStyle/>
                    <a:p>
                      <a:pPr indent="0" marL="0">
                        <a:buNone/>
                      </a:pPr>
                      <a:r>
                        <a:rPr lang="en-US" sz="1250" b="1" dirty="0">
                          <a:solidFill>
                            <a:srgbClr val="8C2F6B"/>
                          </a:solidFill>
                          <a:latin typeface="Calibri" pitchFamily="34" charset="0"/>
                          <a:ea typeface="Calibri" pitchFamily="34" charset="-122"/>
                          <a:cs typeface="Calibri" pitchFamily="34" charset="-120"/>
                        </a:rPr>
                        <a:t>Error 1.45 × 10⁻¹³</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2A1638"/>
                          </a:solidFill>
                          <a:latin typeface="Calibri" pitchFamily="34" charset="0"/>
                          <a:ea typeface="Calibri" pitchFamily="34" charset="-122"/>
                          <a:cs typeface="Calibri" pitchFamily="34" charset="-120"/>
                        </a:rPr>
                        <a:t>Ventanas y fuga</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c>
                  <a:txBody>
                    <a:bodyPr/>
                    <a:lstStyle/>
                    <a:p>
                      <a:pPr indent="0" marL="0">
                        <a:buNone/>
                      </a:pPr>
                      <a:r>
                        <a:rPr lang="en-US" sz="1250" dirty="0">
                          <a:solidFill>
                            <a:srgbClr val="6E5C7A"/>
                          </a:solidFill>
                          <a:latin typeface="Calibri" pitchFamily="34" charset="0"/>
                          <a:ea typeface="Calibri" pitchFamily="34" charset="-122"/>
                          <a:cs typeface="Calibri" pitchFamily="34" charset="-120"/>
                        </a:rPr>
                        <a:t>Hann con ganancia coherente</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c>
                  <a:txBody>
                    <a:bodyPr/>
                    <a:lstStyle/>
                    <a:p>
                      <a:pPr indent="0" marL="0">
                        <a:buNone/>
                      </a:pPr>
                      <a:r>
                        <a:rPr lang="en-US" sz="1250" b="1" dirty="0">
                          <a:solidFill>
                            <a:srgbClr val="8C2F6B"/>
                          </a:solidFill>
                          <a:latin typeface="Calibri" pitchFamily="34" charset="0"/>
                          <a:ea typeface="Calibri" pitchFamily="34" charset="-122"/>
                          <a:cs typeface="Calibri" pitchFamily="34" charset="-120"/>
                        </a:rPr>
                        <a:t>Amplitud unitaria exacta</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2A1638"/>
                          </a:solidFill>
                          <a:latin typeface="Calibri" pitchFamily="34" charset="0"/>
                          <a:ea typeface="Calibri" pitchFamily="34" charset="-122"/>
                          <a:cs typeface="Calibri" pitchFamily="34" charset="-120"/>
                        </a:rPr>
                        <a:t>Periodicidad (YIN)</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c>
                  <a:txBody>
                    <a:bodyPr/>
                    <a:lstStyle/>
                    <a:p>
                      <a:pPr indent="0" marL="0">
                        <a:buNone/>
                      </a:pPr>
                      <a:r>
                        <a:rPr lang="en-US" sz="1250" dirty="0">
                          <a:solidFill>
                            <a:srgbClr val="6E5C7A"/>
                          </a:solidFill>
                          <a:latin typeface="Calibri" pitchFamily="34" charset="0"/>
                          <a:ea typeface="Calibri" pitchFamily="34" charset="-122"/>
                          <a:cs typeface="Calibri" pitchFamily="34" charset="-120"/>
                        </a:rPr>
                        <a:t>Frecuencia fundamental y entonación</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c>
                  <a:txBody>
                    <a:bodyPr/>
                    <a:lstStyle/>
                    <a:p>
                      <a:pPr indent="0" marL="0">
                        <a:buNone/>
                      </a:pPr>
                      <a:r>
                        <a:rPr lang="en-US" sz="1250" b="1" dirty="0">
                          <a:solidFill>
                            <a:srgbClr val="8C2F6B"/>
                          </a:solidFill>
                          <a:latin typeface="Calibri" pitchFamily="34" charset="0"/>
                          <a:ea typeface="Calibri" pitchFamily="34" charset="-122"/>
                          <a:cs typeface="Calibri" pitchFamily="34" charset="-120"/>
                        </a:rPr>
                        <a:t>Error de 0.115 Hz</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2A1638"/>
                          </a:solidFill>
                          <a:latin typeface="Calibri" pitchFamily="34" charset="0"/>
                          <a:ea typeface="Calibri" pitchFamily="34" charset="-122"/>
                          <a:cs typeface="Calibri" pitchFamily="34" charset="-120"/>
                        </a:rPr>
                        <a:t>Banco mel y DCT</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c>
                  <a:txBody>
                    <a:bodyPr/>
                    <a:lstStyle/>
                    <a:p>
                      <a:pPr indent="0" marL="0">
                        <a:buNone/>
                      </a:pPr>
                      <a:r>
                        <a:rPr lang="en-US" sz="1250" dirty="0">
                          <a:solidFill>
                            <a:srgbClr val="6E5C7A"/>
                          </a:solidFill>
                          <a:latin typeface="Calibri" pitchFamily="34" charset="0"/>
                          <a:ea typeface="Calibri" pitchFamily="34" charset="-122"/>
                          <a:cs typeface="Calibri" pitchFamily="34" charset="-120"/>
                        </a:rPr>
                        <a:t>Características robustas al hablante</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c>
                  <a:txBody>
                    <a:bodyPr/>
                    <a:lstStyle/>
                    <a:p>
                      <a:pPr indent="0" marL="0">
                        <a:buNone/>
                      </a:pPr>
                      <a:r>
                        <a:rPr lang="en-US" sz="1250" b="1" dirty="0">
                          <a:solidFill>
                            <a:srgbClr val="8C2F6B"/>
                          </a:solidFill>
                          <a:latin typeface="Calibri" pitchFamily="34" charset="0"/>
                          <a:ea typeface="Calibri" pitchFamily="34" charset="-122"/>
                          <a:cs typeface="Calibri" pitchFamily="34" charset="-120"/>
                        </a:rPr>
                        <a:t>0.009 % frente a librosa</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5532120"/>
            <a:ext cx="10881360" cy="548640"/>
          </a:xfrm>
          <a:prstGeom prst="rect">
            <a:avLst/>
          </a:prstGeom>
          <a:noFill/>
          <a:ln/>
        </p:spPr>
        <p:txBody>
          <a:bodyPr wrap="square" lIns="0" tIns="0" rIns="0" bIns="0" rtlCol="0" anchor="ctr"/>
          <a:lstStyle/>
          <a:p>
            <a:pPr indent="0" marL="0">
              <a:lnSpc>
                <a:spcPts val="1900"/>
              </a:lnSpc>
              <a:buNone/>
            </a:pPr>
            <a:r>
              <a:rPr lang="en-US" sz="1300" i="1" dirty="0">
                <a:solidFill>
                  <a:srgbClr val="2A1638"/>
                </a:solidFill>
                <a:latin typeface="Calibri" pitchFamily="34" charset="0"/>
                <a:ea typeface="Calibri" pitchFamily="34" charset="-122"/>
                <a:cs typeface="Calibri" pitchFamily="34" charset="-120"/>
              </a:rPr>
              <a:t>La transformada se verifica contra la definición matemática, no contra otra biblioteca: comparar dos implementaciones no demuestra que ninguna sea correcta, solo que coinciden.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4F7"/>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2A1638"/>
                </a:solidFill>
                <a:latin typeface="Cambria" pitchFamily="34" charset="0"/>
                <a:ea typeface="Cambria" pitchFamily="34" charset="-122"/>
                <a:cs typeface="Cambria" pitchFamily="34" charset="-120"/>
              </a:rPr>
              <a:t>Tres defectos que solo aparecieron al medir</a:t>
            </a:r>
            <a:endParaRPr lang="en-US" sz="3600" dirty="0"/>
          </a:p>
        </p:txBody>
      </p:sp>
      <p:sp>
        <p:nvSpPr>
          <p:cNvPr id="3" name="Text 1"/>
          <p:cNvSpPr/>
          <p:nvPr/>
        </p:nvSpPr>
        <p:spPr>
          <a:xfrm>
            <a:off x="640080" y="1152144"/>
            <a:ext cx="10881360" cy="365760"/>
          </a:xfrm>
          <a:prstGeom prst="rect">
            <a:avLst/>
          </a:prstGeom>
          <a:noFill/>
          <a:ln/>
        </p:spPr>
        <p:txBody>
          <a:bodyPr wrap="square" lIns="0" tIns="0" rIns="0" bIns="0" rtlCol="0" anchor="ctr"/>
          <a:lstStyle/>
          <a:p>
            <a:pPr indent="0" marL="0">
              <a:buNone/>
            </a:pPr>
            <a:r>
              <a:rPr lang="en-US" sz="1500" dirty="0">
                <a:solidFill>
                  <a:srgbClr val="6E5C7A"/>
                </a:solidFill>
                <a:latin typeface="Calibri" pitchFamily="34" charset="0"/>
                <a:ea typeface="Calibri" pitchFamily="34" charset="-122"/>
                <a:cs typeface="Calibri" pitchFamily="34" charset="-120"/>
              </a:rPr>
              <a:t>Ninguno era visible leyendo el código</a:t>
            </a:r>
            <a:endParaRPr lang="en-US" sz="1500" dirty="0"/>
          </a:p>
        </p:txBody>
      </p:sp>
      <p:sp>
        <p:nvSpPr>
          <p:cNvPr id="4" name="Shape 2"/>
          <p:cNvSpPr/>
          <p:nvPr/>
        </p:nvSpPr>
        <p:spPr>
          <a:xfrm>
            <a:off x="640080" y="1920240"/>
            <a:ext cx="3429000" cy="3063240"/>
          </a:xfrm>
          <a:prstGeom prst="roundRect">
            <a:avLst>
              <a:gd name="adj" fmla="val 3582"/>
            </a:avLst>
          </a:prstGeom>
          <a:solidFill>
            <a:srgbClr val="FFFFFF"/>
          </a:solidFill>
          <a:ln/>
          <a:effectLst>
            <a:outerShdw sx="100000" sy="100000" kx="0" ky="0" algn="bl" rotWithShape="0" blurRad="114300" dist="25400" dir="5400000">
              <a:srgbClr val="2A1638">
                <a:alpha val="12000"/>
              </a:srgbClr>
            </a:outerShdw>
          </a:effectLst>
        </p:spPr>
      </p:sp>
      <p:sp>
        <p:nvSpPr>
          <p:cNvPr id="5" name="Shape 3"/>
          <p:cNvSpPr/>
          <p:nvPr/>
        </p:nvSpPr>
        <p:spPr>
          <a:xfrm>
            <a:off x="896112" y="2176272"/>
            <a:ext cx="475488" cy="475488"/>
          </a:xfrm>
          <a:prstGeom prst="ellipse">
            <a:avLst/>
          </a:prstGeom>
          <a:solidFill>
            <a:srgbClr val="C24E22"/>
          </a:solidFill>
          <a:ln/>
        </p:spPr>
      </p:sp>
      <p:sp>
        <p:nvSpPr>
          <p:cNvPr id="6" name="Text 4"/>
          <p:cNvSpPr/>
          <p:nvPr/>
        </p:nvSpPr>
        <p:spPr>
          <a:xfrm>
            <a:off x="896112" y="217627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96112" y="2761488"/>
            <a:ext cx="2926080" cy="365760"/>
          </a:xfrm>
          <a:prstGeom prst="rect">
            <a:avLst/>
          </a:prstGeom>
          <a:noFill/>
          <a:ln/>
        </p:spPr>
        <p:txBody>
          <a:bodyPr wrap="square" lIns="0" tIns="0" rIns="0" bIns="0" rtlCol="0" anchor="ctr"/>
          <a:lstStyle/>
          <a:p>
            <a:pPr indent="0" marL="0">
              <a:buNone/>
            </a:pPr>
            <a:r>
              <a:rPr lang="en-US" sz="1500" b="1" dirty="0">
                <a:solidFill>
                  <a:srgbClr val="2A1638"/>
                </a:solidFill>
                <a:latin typeface="Calibri" pitchFamily="34" charset="0"/>
                <a:ea typeface="Calibri" pitchFamily="34" charset="-122"/>
                <a:cs typeface="Calibri" pitchFamily="34" charset="-120"/>
              </a:rPr>
              <a:t>Pérdida de amplitud</a:t>
            </a:r>
            <a:endParaRPr lang="en-US" sz="1500" dirty="0"/>
          </a:p>
        </p:txBody>
      </p:sp>
      <p:sp>
        <p:nvSpPr>
          <p:cNvPr id="8" name="Text 6"/>
          <p:cNvSpPr/>
          <p:nvPr/>
        </p:nvSpPr>
        <p:spPr>
          <a:xfrm>
            <a:off x="896112" y="3154680"/>
            <a:ext cx="2926080" cy="1188720"/>
          </a:xfrm>
          <a:prstGeom prst="rect">
            <a:avLst/>
          </a:prstGeom>
          <a:noFill/>
          <a:ln/>
        </p:spPr>
        <p:txBody>
          <a:bodyPr wrap="square" lIns="0" tIns="0" rIns="0" bIns="0" rtlCol="0" anchor="ctr"/>
          <a:lstStyle/>
          <a:p>
            <a:pPr indent="0" marL="0">
              <a:lnSpc>
                <a:spcPts val="1700"/>
              </a:lnSpc>
              <a:buNone/>
            </a:pPr>
            <a:r>
              <a:rPr lang="en-US" sz="1200" dirty="0">
                <a:solidFill>
                  <a:srgbClr val="6E5C7A"/>
                </a:solidFill>
                <a:latin typeface="Calibri" pitchFamily="34" charset="0"/>
                <a:ea typeface="Calibri" pitchFamily="34" charset="-122"/>
                <a:cs typeface="Calibri" pitchFamily="34" charset="-120"/>
              </a:rPr>
              <a:t>El bloque del micrófono no divide al tamaño de trama. Se rellenaba con ceros y la ventana se aplicaba sobre el relleno.</a:t>
            </a:r>
            <a:endParaRPr lang="en-US" sz="1200" dirty="0"/>
          </a:p>
        </p:txBody>
      </p:sp>
      <p:sp>
        <p:nvSpPr>
          <p:cNvPr id="9" name="Text 7"/>
          <p:cNvSpPr/>
          <p:nvPr/>
        </p:nvSpPr>
        <p:spPr>
          <a:xfrm>
            <a:off x="896112" y="4407408"/>
            <a:ext cx="2926080" cy="365760"/>
          </a:xfrm>
          <a:prstGeom prst="rect">
            <a:avLst/>
          </a:prstGeom>
          <a:noFill/>
          <a:ln/>
        </p:spPr>
        <p:txBody>
          <a:bodyPr wrap="square" lIns="0" tIns="0" rIns="0" bIns="0" rtlCol="0" anchor="ctr"/>
          <a:lstStyle/>
          <a:p>
            <a:pPr indent="0" marL="0">
              <a:buNone/>
            </a:pPr>
            <a:r>
              <a:rPr lang="en-US" sz="1250" b="1" dirty="0">
                <a:solidFill>
                  <a:srgbClr val="8C2F6B"/>
                </a:solidFill>
                <a:latin typeface="Calibri" pitchFamily="34" charset="0"/>
                <a:ea typeface="Calibri" pitchFamily="34" charset="-122"/>
                <a:cs typeface="Calibri" pitchFamily="34" charset="-120"/>
              </a:rPr>
              <a:t>El espectro salía 20 % bajo</a:t>
            </a:r>
            <a:endParaRPr lang="en-US" sz="1250" dirty="0"/>
          </a:p>
        </p:txBody>
      </p:sp>
      <p:sp>
        <p:nvSpPr>
          <p:cNvPr id="10" name="Shape 8"/>
          <p:cNvSpPr/>
          <p:nvPr/>
        </p:nvSpPr>
        <p:spPr>
          <a:xfrm>
            <a:off x="4343400" y="1920240"/>
            <a:ext cx="3429000" cy="3063240"/>
          </a:xfrm>
          <a:prstGeom prst="roundRect">
            <a:avLst>
              <a:gd name="adj" fmla="val 3582"/>
            </a:avLst>
          </a:prstGeom>
          <a:solidFill>
            <a:srgbClr val="FFFFFF"/>
          </a:solidFill>
          <a:ln/>
          <a:effectLst>
            <a:outerShdw sx="100000" sy="100000" kx="0" ky="0" algn="bl" rotWithShape="0" blurRad="114300" dist="25400" dir="5400000">
              <a:srgbClr val="2A1638">
                <a:alpha val="12000"/>
              </a:srgbClr>
            </a:outerShdw>
          </a:effectLst>
        </p:spPr>
      </p:sp>
      <p:sp>
        <p:nvSpPr>
          <p:cNvPr id="11" name="Shape 9"/>
          <p:cNvSpPr/>
          <p:nvPr/>
        </p:nvSpPr>
        <p:spPr>
          <a:xfrm>
            <a:off x="4599432" y="2176272"/>
            <a:ext cx="475488" cy="475488"/>
          </a:xfrm>
          <a:prstGeom prst="ellipse">
            <a:avLst/>
          </a:prstGeom>
          <a:solidFill>
            <a:srgbClr val="C24E22"/>
          </a:solidFill>
          <a:ln/>
        </p:spPr>
      </p:sp>
      <p:sp>
        <p:nvSpPr>
          <p:cNvPr id="12" name="Text 10"/>
          <p:cNvSpPr/>
          <p:nvPr/>
        </p:nvSpPr>
        <p:spPr>
          <a:xfrm>
            <a:off x="4599432" y="217627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4599432" y="2761488"/>
            <a:ext cx="2926080" cy="365760"/>
          </a:xfrm>
          <a:prstGeom prst="rect">
            <a:avLst/>
          </a:prstGeom>
          <a:noFill/>
          <a:ln/>
        </p:spPr>
        <p:txBody>
          <a:bodyPr wrap="square" lIns="0" tIns="0" rIns="0" bIns="0" rtlCol="0" anchor="ctr"/>
          <a:lstStyle/>
          <a:p>
            <a:pPr indent="0" marL="0">
              <a:buNone/>
            </a:pPr>
            <a:r>
              <a:rPr lang="en-US" sz="1500" b="1" dirty="0">
                <a:solidFill>
                  <a:srgbClr val="2A1638"/>
                </a:solidFill>
                <a:latin typeface="Calibri" pitchFamily="34" charset="0"/>
                <a:ea typeface="Calibri" pitchFamily="34" charset="-122"/>
                <a:cs typeface="Calibri" pitchFamily="34" charset="-120"/>
              </a:rPr>
              <a:t>Escala de los MFCC</a:t>
            </a:r>
            <a:endParaRPr lang="en-US" sz="1500" dirty="0"/>
          </a:p>
        </p:txBody>
      </p:sp>
      <p:sp>
        <p:nvSpPr>
          <p:cNvPr id="14" name="Text 12"/>
          <p:cNvSpPr/>
          <p:nvPr/>
        </p:nvSpPr>
        <p:spPr>
          <a:xfrm>
            <a:off x="4599432" y="3154680"/>
            <a:ext cx="2926080" cy="1188720"/>
          </a:xfrm>
          <a:prstGeom prst="rect">
            <a:avLst/>
          </a:prstGeom>
          <a:noFill/>
          <a:ln/>
        </p:spPr>
        <p:txBody>
          <a:bodyPr wrap="square" lIns="0" tIns="0" rIns="0" bIns="0" rtlCol="0" anchor="ctr"/>
          <a:lstStyle/>
          <a:p>
            <a:pPr indent="0" marL="0">
              <a:lnSpc>
                <a:spcPts val="1700"/>
              </a:lnSpc>
              <a:buNone/>
            </a:pPr>
            <a:r>
              <a:rPr lang="en-US" sz="1200" dirty="0">
                <a:solidFill>
                  <a:srgbClr val="6E5C7A"/>
                </a:solidFill>
                <a:latin typeface="Calibri" pitchFamily="34" charset="0"/>
                <a:ea typeface="Calibri" pitchFamily="34" charset="-122"/>
                <a:cs typeface="Calibri" pitchFamily="34" charset="-120"/>
              </a:rPr>
              <a:t>Se aplicaba al espectro de potencia una corrección pensada para leer amplitudes. Hundía 24 de las 26 bandas mel bajo el piso del logaritmo.</a:t>
            </a:r>
            <a:endParaRPr lang="en-US" sz="1200" dirty="0"/>
          </a:p>
        </p:txBody>
      </p:sp>
      <p:sp>
        <p:nvSpPr>
          <p:cNvPr id="15" name="Text 13"/>
          <p:cNvSpPr/>
          <p:nvPr/>
        </p:nvSpPr>
        <p:spPr>
          <a:xfrm>
            <a:off x="4599432" y="4407408"/>
            <a:ext cx="2926080" cy="365760"/>
          </a:xfrm>
          <a:prstGeom prst="rect">
            <a:avLst/>
          </a:prstGeom>
          <a:noFill/>
          <a:ln/>
        </p:spPr>
        <p:txBody>
          <a:bodyPr wrap="square" lIns="0" tIns="0" rIns="0" bIns="0" rtlCol="0" anchor="ctr"/>
          <a:lstStyle/>
          <a:p>
            <a:pPr indent="0" marL="0">
              <a:buNone/>
            </a:pPr>
            <a:r>
              <a:rPr lang="en-US" sz="1250" b="1" dirty="0">
                <a:solidFill>
                  <a:srgbClr val="8C2F6B"/>
                </a:solidFill>
                <a:latin typeface="Calibri" pitchFamily="34" charset="0"/>
                <a:ea typeface="Calibri" pitchFamily="34" charset="-122"/>
                <a:cs typeface="Calibri" pitchFamily="34" charset="-120"/>
              </a:rPr>
              <a:t>De 5.02 % a 0.009 % de error</a:t>
            </a:r>
            <a:endParaRPr lang="en-US" sz="1250" dirty="0"/>
          </a:p>
        </p:txBody>
      </p:sp>
      <p:sp>
        <p:nvSpPr>
          <p:cNvPr id="16" name="Shape 14"/>
          <p:cNvSpPr/>
          <p:nvPr/>
        </p:nvSpPr>
        <p:spPr>
          <a:xfrm>
            <a:off x="8046720" y="1920240"/>
            <a:ext cx="3429000" cy="3063240"/>
          </a:xfrm>
          <a:prstGeom prst="roundRect">
            <a:avLst>
              <a:gd name="adj" fmla="val 3582"/>
            </a:avLst>
          </a:prstGeom>
          <a:solidFill>
            <a:srgbClr val="FFFFFF"/>
          </a:solidFill>
          <a:ln/>
          <a:effectLst>
            <a:outerShdw sx="100000" sy="100000" kx="0" ky="0" algn="bl" rotWithShape="0" blurRad="114300" dist="25400" dir="5400000">
              <a:srgbClr val="2A1638">
                <a:alpha val="12000"/>
              </a:srgbClr>
            </a:outerShdw>
          </a:effectLst>
        </p:spPr>
      </p:sp>
      <p:sp>
        <p:nvSpPr>
          <p:cNvPr id="17" name="Shape 15"/>
          <p:cNvSpPr/>
          <p:nvPr/>
        </p:nvSpPr>
        <p:spPr>
          <a:xfrm>
            <a:off x="8302752" y="2176272"/>
            <a:ext cx="475488" cy="475488"/>
          </a:xfrm>
          <a:prstGeom prst="ellipse">
            <a:avLst/>
          </a:prstGeom>
          <a:solidFill>
            <a:srgbClr val="C24E22"/>
          </a:solidFill>
          <a:ln/>
        </p:spPr>
      </p:sp>
      <p:sp>
        <p:nvSpPr>
          <p:cNvPr id="18" name="Text 16"/>
          <p:cNvSpPr/>
          <p:nvPr/>
        </p:nvSpPr>
        <p:spPr>
          <a:xfrm>
            <a:off x="8302752" y="217627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8302752" y="2761488"/>
            <a:ext cx="2926080" cy="365760"/>
          </a:xfrm>
          <a:prstGeom prst="rect">
            <a:avLst/>
          </a:prstGeom>
          <a:noFill/>
          <a:ln/>
        </p:spPr>
        <p:txBody>
          <a:bodyPr wrap="square" lIns="0" tIns="0" rIns="0" bIns="0" rtlCol="0" anchor="ctr"/>
          <a:lstStyle/>
          <a:p>
            <a:pPr indent="0" marL="0">
              <a:buNone/>
            </a:pPr>
            <a:r>
              <a:rPr lang="en-US" sz="1500" b="1" dirty="0">
                <a:solidFill>
                  <a:srgbClr val="2A1638"/>
                </a:solidFill>
                <a:latin typeface="Calibri" pitchFamily="34" charset="0"/>
                <a:ea typeface="Calibri" pitchFamily="34" charset="-122"/>
                <a:cs typeface="Calibri" pitchFamily="34" charset="-120"/>
              </a:rPr>
              <a:t>Generadores divergentes</a:t>
            </a:r>
            <a:endParaRPr lang="en-US" sz="1500" dirty="0"/>
          </a:p>
        </p:txBody>
      </p:sp>
      <p:sp>
        <p:nvSpPr>
          <p:cNvPr id="20" name="Text 18"/>
          <p:cNvSpPr/>
          <p:nvPr/>
        </p:nvSpPr>
        <p:spPr>
          <a:xfrm>
            <a:off x="8302752" y="3154680"/>
            <a:ext cx="2926080" cy="1188720"/>
          </a:xfrm>
          <a:prstGeom prst="rect">
            <a:avLst/>
          </a:prstGeom>
          <a:noFill/>
          <a:ln/>
        </p:spPr>
        <p:txBody>
          <a:bodyPr wrap="square" lIns="0" tIns="0" rIns="0" bIns="0" rtlCol="0" anchor="ctr"/>
          <a:lstStyle/>
          <a:p>
            <a:pPr indent="0" marL="0">
              <a:lnSpc>
                <a:spcPts val="1700"/>
              </a:lnSpc>
              <a:buNone/>
            </a:pPr>
            <a:r>
              <a:rPr lang="en-US" sz="1200" dirty="0">
                <a:solidFill>
                  <a:srgbClr val="6E5C7A"/>
                </a:solidFill>
                <a:latin typeface="Calibri" pitchFamily="34" charset="0"/>
                <a:ea typeface="Calibri" pitchFamily="34" charset="-122"/>
                <a:cs typeface="Calibri" pitchFamily="34" charset="-120"/>
              </a:rPr>
              <a:t>El generador pseudoaleatorio daba secuencias distintas en Python y en JavaScript desde la segunda muestra.</a:t>
            </a:r>
            <a:endParaRPr lang="en-US" sz="1200" dirty="0"/>
          </a:p>
        </p:txBody>
      </p:sp>
      <p:sp>
        <p:nvSpPr>
          <p:cNvPr id="21" name="Text 19"/>
          <p:cNvSpPr/>
          <p:nvPr/>
        </p:nvSpPr>
        <p:spPr>
          <a:xfrm>
            <a:off x="8302752" y="4407408"/>
            <a:ext cx="2926080" cy="365760"/>
          </a:xfrm>
          <a:prstGeom prst="rect">
            <a:avLst/>
          </a:prstGeom>
          <a:noFill/>
          <a:ln/>
        </p:spPr>
        <p:txBody>
          <a:bodyPr wrap="square" lIns="0" tIns="0" rIns="0" bIns="0" rtlCol="0" anchor="ctr"/>
          <a:lstStyle/>
          <a:p>
            <a:pPr indent="0" marL="0">
              <a:buNone/>
            </a:pPr>
            <a:r>
              <a:rPr lang="en-US" sz="1250" b="1" dirty="0">
                <a:solidFill>
                  <a:srgbClr val="8C2F6B"/>
                </a:solidFill>
                <a:latin typeface="Calibri" pitchFamily="34" charset="0"/>
                <a:ea typeface="Calibri" pitchFamily="34" charset="-122"/>
                <a:cs typeface="Calibri" pitchFamily="34" charset="-120"/>
              </a:rPr>
              <a:t>Se comparaban señales distintas</a:t>
            </a:r>
            <a:endParaRPr lang="en-US" sz="1250" dirty="0"/>
          </a:p>
        </p:txBody>
      </p:sp>
      <p:sp>
        <p:nvSpPr>
          <p:cNvPr id="22" name="Text 20"/>
          <p:cNvSpPr/>
          <p:nvPr/>
        </p:nvSpPr>
        <p:spPr>
          <a:xfrm>
            <a:off x="640080" y="5257800"/>
            <a:ext cx="10881360" cy="457200"/>
          </a:xfrm>
          <a:prstGeom prst="rect">
            <a:avLst/>
          </a:prstGeom>
          <a:noFill/>
          <a:ln/>
        </p:spPr>
        <p:txBody>
          <a:bodyPr wrap="square" lIns="0" tIns="0" rIns="0" bIns="0" rtlCol="0" anchor="ctr"/>
          <a:lstStyle/>
          <a:p>
            <a:pPr indent="0" marL="0">
              <a:buNone/>
            </a:pPr>
            <a:r>
              <a:rPr lang="en-US" sz="1350" i="1" dirty="0">
                <a:solidFill>
                  <a:srgbClr val="2A1638"/>
                </a:solidFill>
                <a:latin typeface="Calibri" pitchFamily="34" charset="0"/>
                <a:ea typeface="Calibri" pitchFamily="34" charset="-122"/>
                <a:cs typeface="Calibri" pitchFamily="34" charset="-120"/>
              </a:rPr>
              <a:t>La verificación por etapas no detectó el segundo: cada etapa era correcta por separado, y el fallo estaba en la escala con que se encadenaban.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0E2E"/>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El hallazgo principal</a:t>
            </a:r>
            <a:endParaRPr lang="en-US" sz="3600" dirty="0"/>
          </a:p>
        </p:txBody>
      </p:sp>
      <p:sp>
        <p:nvSpPr>
          <p:cNvPr id="3" name="Text 1"/>
          <p:cNvSpPr/>
          <p:nvPr/>
        </p:nvSpPr>
        <p:spPr>
          <a:xfrm>
            <a:off x="640080" y="1152144"/>
            <a:ext cx="10881360" cy="365760"/>
          </a:xfrm>
          <a:prstGeom prst="rect">
            <a:avLst/>
          </a:prstGeom>
          <a:noFill/>
          <a:ln/>
        </p:spPr>
        <p:txBody>
          <a:bodyPr wrap="square" lIns="0" tIns="0" rIns="0" bIns="0" rtlCol="0" anchor="ctr"/>
          <a:lstStyle/>
          <a:p>
            <a:pPr indent="0" marL="0">
              <a:buNone/>
            </a:pPr>
            <a:r>
              <a:rPr lang="en-US" sz="1500" dirty="0">
                <a:solidFill>
                  <a:srgbClr val="B9A5C4"/>
                </a:solidFill>
                <a:latin typeface="Calibri" pitchFamily="34" charset="0"/>
                <a:ea typeface="Calibri" pitchFamily="34" charset="-122"/>
                <a:cs typeface="Calibri" pitchFamily="34" charset="-120"/>
              </a:rPr>
              <a:t>Qué ocurrió al medir la evaluación de pronunciación con voz real</a:t>
            </a:r>
            <a:endParaRPr lang="en-US" sz="1500" dirty="0"/>
          </a:p>
        </p:txBody>
      </p:sp>
      <p:sp>
        <p:nvSpPr>
          <p:cNvPr id="4" name="Text 2"/>
          <p:cNvSpPr/>
          <p:nvPr/>
        </p:nvSpPr>
        <p:spPr>
          <a:xfrm>
            <a:off x="640080" y="1783080"/>
            <a:ext cx="10881360" cy="731520"/>
          </a:xfrm>
          <a:prstGeom prst="rect">
            <a:avLst/>
          </a:prstGeom>
          <a:noFill/>
          <a:ln/>
        </p:spPr>
        <p:txBody>
          <a:bodyPr wrap="square" lIns="0" tIns="0" rIns="0" bIns="0" rtlCol="0" anchor="ctr"/>
          <a:lstStyle/>
          <a:p>
            <a:pPr indent="0" marL="0">
              <a:lnSpc>
                <a:spcPts val="2200"/>
              </a:lnSpc>
              <a:buNone/>
            </a:pPr>
            <a:r>
              <a:rPr lang="en-US" sz="1500" dirty="0">
                <a:solidFill>
                  <a:srgbClr val="CFC0D8"/>
                </a:solidFill>
                <a:latin typeface="Calibri" pitchFamily="34" charset="0"/>
                <a:ea typeface="Calibri" pitchFamily="34" charset="-122"/>
                <a:cs typeface="Calibri" pitchFamily="34" charset="-120"/>
              </a:rPr>
              <a:t>Con señales sintéticas el sistema separaba pronunciación correcta de incorrecta por 31 puntos, contra un criterio de 20. Con voz real, el puntaje depende más de quién habla que de cómo pronuncia.</a:t>
            </a:r>
            <a:endParaRPr lang="en-US" sz="1500" dirty="0"/>
          </a:p>
        </p:txBody>
      </p:sp>
      <p:sp>
        <p:nvSpPr>
          <p:cNvPr id="5" name="Shape 3"/>
          <p:cNvSpPr/>
          <p:nvPr/>
        </p:nvSpPr>
        <p:spPr>
          <a:xfrm>
            <a:off x="640080" y="2697480"/>
            <a:ext cx="5303520" cy="1965960"/>
          </a:xfrm>
          <a:prstGeom prst="roundRect">
            <a:avLst>
              <a:gd name="adj" fmla="val 5581"/>
            </a:avLst>
          </a:prstGeom>
          <a:solidFill>
            <a:srgbClr val="32194F"/>
          </a:solidFill>
          <a:ln/>
        </p:spPr>
      </p:sp>
      <p:sp>
        <p:nvSpPr>
          <p:cNvPr id="6" name="Text 4"/>
          <p:cNvSpPr/>
          <p:nvPr/>
        </p:nvSpPr>
        <p:spPr>
          <a:xfrm>
            <a:off x="914400" y="2880360"/>
            <a:ext cx="4754880" cy="914400"/>
          </a:xfrm>
          <a:prstGeom prst="rect">
            <a:avLst/>
          </a:prstGeom>
          <a:noFill/>
          <a:ln/>
        </p:spPr>
        <p:txBody>
          <a:bodyPr wrap="square" lIns="0" tIns="0" rIns="0" bIns="0" rtlCol="0" anchor="ctr"/>
          <a:lstStyle/>
          <a:p>
            <a:pPr indent="0" marL="0">
              <a:buNone/>
            </a:pPr>
            <a:r>
              <a:rPr lang="en-US" sz="5800" b="1" dirty="0">
                <a:solidFill>
                  <a:srgbClr val="F0743C"/>
                </a:solidFill>
                <a:latin typeface="Cambria" pitchFamily="34" charset="0"/>
                <a:ea typeface="Cambria" pitchFamily="34" charset="-122"/>
                <a:cs typeface="Cambria" pitchFamily="34" charset="-120"/>
              </a:rPr>
              <a:t>+7.08</a:t>
            </a:r>
            <a:endParaRPr lang="en-US" sz="5800" dirty="0"/>
          </a:p>
        </p:txBody>
      </p:sp>
      <p:sp>
        <p:nvSpPr>
          <p:cNvPr id="7" name="Text 5"/>
          <p:cNvSpPr/>
          <p:nvPr/>
        </p:nvSpPr>
        <p:spPr>
          <a:xfrm>
            <a:off x="914400" y="3794760"/>
            <a:ext cx="47548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cuesta cambiar de voz</a:t>
            </a:r>
            <a:endParaRPr lang="en-US" sz="1500" dirty="0"/>
          </a:p>
        </p:txBody>
      </p:sp>
      <p:sp>
        <p:nvSpPr>
          <p:cNvPr id="8" name="Text 6"/>
          <p:cNvSpPr/>
          <p:nvPr/>
        </p:nvSpPr>
        <p:spPr>
          <a:xfrm>
            <a:off x="914400" y="4160520"/>
            <a:ext cx="4754880" cy="365760"/>
          </a:xfrm>
          <a:prstGeom prst="rect">
            <a:avLst/>
          </a:prstGeom>
          <a:noFill/>
          <a:ln/>
        </p:spPr>
        <p:txBody>
          <a:bodyPr wrap="square" lIns="0" tIns="0" rIns="0" bIns="0" rtlCol="0" anchor="ctr"/>
          <a:lstStyle/>
          <a:p>
            <a:pPr indent="0" marL="0">
              <a:buNone/>
            </a:pPr>
            <a:r>
              <a:rPr lang="en-US" sz="1250" dirty="0">
                <a:solidFill>
                  <a:srgbClr val="B9A5C4"/>
                </a:solidFill>
                <a:latin typeface="Calibri" pitchFamily="34" charset="0"/>
                <a:ea typeface="Calibri" pitchFamily="34" charset="-122"/>
                <a:cs typeface="Calibri" pitchFamily="34" charset="-120"/>
              </a:rPr>
              <a:t>decir la frase bien, con otra voz</a:t>
            </a:r>
            <a:endParaRPr lang="en-US" sz="1250" dirty="0"/>
          </a:p>
        </p:txBody>
      </p:sp>
      <p:sp>
        <p:nvSpPr>
          <p:cNvPr id="9" name="Shape 7"/>
          <p:cNvSpPr/>
          <p:nvPr/>
        </p:nvSpPr>
        <p:spPr>
          <a:xfrm>
            <a:off x="6217920" y="2697480"/>
            <a:ext cx="5303520" cy="1965960"/>
          </a:xfrm>
          <a:prstGeom prst="roundRect">
            <a:avLst>
              <a:gd name="adj" fmla="val 5581"/>
            </a:avLst>
          </a:prstGeom>
          <a:solidFill>
            <a:srgbClr val="32194F"/>
          </a:solidFill>
          <a:ln/>
        </p:spPr>
      </p:sp>
      <p:sp>
        <p:nvSpPr>
          <p:cNvPr id="10" name="Text 8"/>
          <p:cNvSpPr/>
          <p:nvPr/>
        </p:nvSpPr>
        <p:spPr>
          <a:xfrm>
            <a:off x="6492240" y="2880360"/>
            <a:ext cx="4754880" cy="914400"/>
          </a:xfrm>
          <a:prstGeom prst="rect">
            <a:avLst/>
          </a:prstGeom>
          <a:noFill/>
          <a:ln/>
        </p:spPr>
        <p:txBody>
          <a:bodyPr wrap="square" lIns="0" tIns="0" rIns="0" bIns="0" rtlCol="0" anchor="ctr"/>
          <a:lstStyle/>
          <a:p>
            <a:pPr indent="0" marL="0">
              <a:buNone/>
            </a:pPr>
            <a:r>
              <a:rPr lang="en-US" sz="5800" b="1" dirty="0">
                <a:solidFill>
                  <a:srgbClr val="F0A63C"/>
                </a:solidFill>
                <a:latin typeface="Cambria" pitchFamily="34" charset="0"/>
                <a:ea typeface="Cambria" pitchFamily="34" charset="-122"/>
                <a:cs typeface="Cambria" pitchFamily="34" charset="-120"/>
              </a:rPr>
              <a:t>+1.20</a:t>
            </a:r>
            <a:endParaRPr lang="en-US" sz="5800" dirty="0"/>
          </a:p>
        </p:txBody>
      </p:sp>
      <p:sp>
        <p:nvSpPr>
          <p:cNvPr id="11" name="Text 9"/>
          <p:cNvSpPr/>
          <p:nvPr/>
        </p:nvSpPr>
        <p:spPr>
          <a:xfrm>
            <a:off x="6492240" y="3794760"/>
            <a:ext cx="47548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cuesta pronunciar mal</a:t>
            </a:r>
            <a:endParaRPr lang="en-US" sz="1500" dirty="0"/>
          </a:p>
        </p:txBody>
      </p:sp>
      <p:sp>
        <p:nvSpPr>
          <p:cNvPr id="12" name="Text 10"/>
          <p:cNvSpPr/>
          <p:nvPr/>
        </p:nvSpPr>
        <p:spPr>
          <a:xfrm>
            <a:off x="6492240" y="4160520"/>
            <a:ext cx="4754880" cy="365760"/>
          </a:xfrm>
          <a:prstGeom prst="rect">
            <a:avLst/>
          </a:prstGeom>
          <a:noFill/>
          <a:ln/>
        </p:spPr>
        <p:txBody>
          <a:bodyPr wrap="square" lIns="0" tIns="0" rIns="0" bIns="0" rtlCol="0" anchor="ctr"/>
          <a:lstStyle/>
          <a:p>
            <a:pPr indent="0" marL="0">
              <a:buNone/>
            </a:pPr>
            <a:r>
              <a:rPr lang="en-US" sz="1250" dirty="0">
                <a:solidFill>
                  <a:srgbClr val="B9A5C4"/>
                </a:solidFill>
                <a:latin typeface="Calibri" pitchFamily="34" charset="0"/>
                <a:ea typeface="Calibri" pitchFamily="34" charset="-122"/>
                <a:cs typeface="Calibri" pitchFamily="34" charset="-120"/>
              </a:rPr>
              <a:t>decir la frase mal, con la voz de referencia</a:t>
            </a:r>
            <a:endParaRPr lang="en-US" sz="1250" dirty="0"/>
          </a:p>
        </p:txBody>
      </p:sp>
      <p:sp>
        <p:nvSpPr>
          <p:cNvPr id="13" name="Text 11"/>
          <p:cNvSpPr/>
          <p:nvPr/>
        </p:nvSpPr>
        <p:spPr>
          <a:xfrm>
            <a:off x="640080" y="5029200"/>
            <a:ext cx="10881360" cy="640080"/>
          </a:xfrm>
          <a:prstGeom prst="rect">
            <a:avLst/>
          </a:prstGeom>
          <a:noFill/>
          <a:ln/>
        </p:spPr>
        <p:txBody>
          <a:bodyPr wrap="square" lIns="0" tIns="0" rIns="0" bIns="0" rtlCol="0" anchor="ctr"/>
          <a:lstStyle/>
          <a:p>
            <a:pPr indent="0" marL="0">
              <a:lnSpc>
                <a:spcPts val="2200"/>
              </a:lnSpc>
              <a:buNone/>
            </a:pPr>
            <a:r>
              <a:rPr lang="en-US" sz="1500" b="1" dirty="0">
                <a:solidFill>
                  <a:srgbClr val="FFFFFF"/>
                </a:solidFill>
                <a:latin typeface="Calibri" pitchFamily="34" charset="0"/>
                <a:ea typeface="Calibri" pitchFamily="34" charset="-122"/>
                <a:cs typeface="Calibri" pitchFamily="34" charset="-120"/>
              </a:rPr>
              <a:t>El efecto del hablante pesa casi seis veces más que el error que se quería medir. En cuatro de cada diez casos, la pronunciación incorrecta puntuaba mejor que la correcta.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2A1638"/>
                </a:solidFill>
                <a:latin typeface="Cambria" pitchFamily="34" charset="0"/>
                <a:ea typeface="Cambria" pitchFamily="34" charset="-122"/>
                <a:cs typeface="Cambria" pitchFamily="34" charset="-120"/>
              </a:rPr>
              <a:t>No es un defecto de implementación</a:t>
            </a:r>
            <a:endParaRPr lang="en-US" sz="3600" dirty="0"/>
          </a:p>
        </p:txBody>
      </p:sp>
      <p:sp>
        <p:nvSpPr>
          <p:cNvPr id="3" name="Text 1"/>
          <p:cNvSpPr/>
          <p:nvPr/>
        </p:nvSpPr>
        <p:spPr>
          <a:xfrm>
            <a:off x="640080" y="1152144"/>
            <a:ext cx="10881360" cy="365760"/>
          </a:xfrm>
          <a:prstGeom prst="rect">
            <a:avLst/>
          </a:prstGeom>
          <a:noFill/>
          <a:ln/>
        </p:spPr>
        <p:txBody>
          <a:bodyPr wrap="square" lIns="0" tIns="0" rIns="0" bIns="0" rtlCol="0" anchor="ctr"/>
          <a:lstStyle/>
          <a:p>
            <a:pPr indent="0" marL="0">
              <a:buNone/>
            </a:pPr>
            <a:r>
              <a:rPr lang="en-US" sz="1500" dirty="0">
                <a:solidFill>
                  <a:srgbClr val="6E5C7A"/>
                </a:solidFill>
                <a:latin typeface="Calibri" pitchFamily="34" charset="0"/>
                <a:ea typeface="Calibri" pitchFamily="34" charset="-122"/>
                <a:cs typeface="Calibri" pitchFamily="34" charset="-120"/>
              </a:rPr>
              <a:t>Es un límite del método, y se comprobó agotándolo</a:t>
            </a:r>
            <a:endParaRPr lang="en-US" sz="1500" dirty="0"/>
          </a:p>
        </p:txBody>
      </p:sp>
      <p:sp>
        <p:nvSpPr>
          <p:cNvPr id="4" name="Shape 2"/>
          <p:cNvSpPr/>
          <p:nvPr/>
        </p:nvSpPr>
        <p:spPr>
          <a:xfrm>
            <a:off x="640080" y="1920240"/>
            <a:ext cx="5303520" cy="1371600"/>
          </a:xfrm>
          <a:prstGeom prst="roundRect">
            <a:avLst>
              <a:gd name="adj" fmla="val 8000"/>
            </a:avLst>
          </a:prstGeom>
          <a:solidFill>
            <a:srgbClr val="F8F4F7"/>
          </a:solidFill>
          <a:ln/>
          <a:effectLst>
            <a:outerShdw sx="100000" sy="100000" kx="0" ky="0" algn="bl" rotWithShape="0" blurRad="114300" dist="25400" dir="5400000">
              <a:srgbClr val="2A1638">
                <a:alpha val="12000"/>
              </a:srgbClr>
            </a:outerShdw>
          </a:effectLst>
        </p:spPr>
      </p:sp>
      <p:sp>
        <p:nvSpPr>
          <p:cNvPr id="5" name="Text 3"/>
          <p:cNvSpPr/>
          <p:nvPr/>
        </p:nvSpPr>
        <p:spPr>
          <a:xfrm>
            <a:off x="914400" y="2103120"/>
            <a:ext cx="4754880" cy="365760"/>
          </a:xfrm>
          <a:prstGeom prst="rect">
            <a:avLst/>
          </a:prstGeom>
          <a:noFill/>
          <a:ln/>
        </p:spPr>
        <p:txBody>
          <a:bodyPr wrap="square" lIns="0" tIns="0" rIns="0" bIns="0" rtlCol="0" anchor="ctr"/>
          <a:lstStyle/>
          <a:p>
            <a:pPr indent="0" marL="0">
              <a:buNone/>
            </a:pPr>
            <a:r>
              <a:rPr lang="en-US" sz="1500" b="1" dirty="0">
                <a:solidFill>
                  <a:srgbClr val="2A1638"/>
                </a:solidFill>
                <a:latin typeface="Calibri" pitchFamily="34" charset="0"/>
                <a:ea typeface="Calibri" pitchFamily="34" charset="-122"/>
                <a:cs typeface="Calibri" pitchFamily="34" charset="-120"/>
              </a:rPr>
              <a:t>Los coeficientes están verificados</a:t>
            </a:r>
            <a:endParaRPr lang="en-US" sz="1500" dirty="0"/>
          </a:p>
        </p:txBody>
      </p:sp>
      <p:sp>
        <p:nvSpPr>
          <p:cNvPr id="6" name="Text 4"/>
          <p:cNvSpPr/>
          <p:nvPr/>
        </p:nvSpPr>
        <p:spPr>
          <a:xfrm>
            <a:off x="914400" y="2487168"/>
            <a:ext cx="4754880" cy="640080"/>
          </a:xfrm>
          <a:prstGeom prst="rect">
            <a:avLst/>
          </a:prstGeom>
          <a:noFill/>
          <a:ln/>
        </p:spPr>
        <p:txBody>
          <a:bodyPr wrap="square" lIns="0" tIns="0" rIns="0" bIns="0" rtlCol="0" anchor="ctr"/>
          <a:lstStyle/>
          <a:p>
            <a:pPr indent="0" marL="0">
              <a:lnSpc>
                <a:spcPts val="1700"/>
              </a:lnSpc>
              <a:buNone/>
            </a:pPr>
            <a:r>
              <a:rPr lang="en-US" sz="1250" dirty="0">
                <a:solidFill>
                  <a:srgbClr val="6E5C7A"/>
                </a:solidFill>
                <a:latin typeface="Calibri" pitchFamily="34" charset="0"/>
                <a:ea typeface="Calibri" pitchFamily="34" charset="-122"/>
                <a:cs typeface="Calibri" pitchFamily="34" charset="-120"/>
              </a:rPr>
              <a:t>0.009 % de error frente a librosa, con un criterio de 5 %. La matemática es correcta.</a:t>
            </a:r>
            <a:endParaRPr lang="en-US" sz="1250" dirty="0"/>
          </a:p>
        </p:txBody>
      </p:sp>
      <p:sp>
        <p:nvSpPr>
          <p:cNvPr id="7" name="Shape 5"/>
          <p:cNvSpPr/>
          <p:nvPr/>
        </p:nvSpPr>
        <p:spPr>
          <a:xfrm>
            <a:off x="6217920" y="1920240"/>
            <a:ext cx="5303520" cy="1371600"/>
          </a:xfrm>
          <a:prstGeom prst="roundRect">
            <a:avLst>
              <a:gd name="adj" fmla="val 8000"/>
            </a:avLst>
          </a:prstGeom>
          <a:solidFill>
            <a:srgbClr val="F8F4F7"/>
          </a:solidFill>
          <a:ln/>
          <a:effectLst>
            <a:outerShdw sx="100000" sy="100000" kx="0" ky="0" algn="bl" rotWithShape="0" blurRad="114300" dist="25400" dir="5400000">
              <a:srgbClr val="2A1638">
                <a:alpha val="12000"/>
              </a:srgbClr>
            </a:outerShdw>
          </a:effectLst>
        </p:spPr>
      </p:sp>
      <p:sp>
        <p:nvSpPr>
          <p:cNvPr id="8" name="Text 6"/>
          <p:cNvSpPr/>
          <p:nvPr/>
        </p:nvSpPr>
        <p:spPr>
          <a:xfrm>
            <a:off x="6492240" y="2103120"/>
            <a:ext cx="4754880" cy="365760"/>
          </a:xfrm>
          <a:prstGeom prst="rect">
            <a:avLst/>
          </a:prstGeom>
          <a:noFill/>
          <a:ln/>
        </p:spPr>
        <p:txBody>
          <a:bodyPr wrap="square" lIns="0" tIns="0" rIns="0" bIns="0" rtlCol="0" anchor="ctr"/>
          <a:lstStyle/>
          <a:p>
            <a:pPr indent="0" marL="0">
              <a:buNone/>
            </a:pPr>
            <a:r>
              <a:rPr lang="en-US" sz="1500" b="1" dirty="0">
                <a:solidFill>
                  <a:srgbClr val="2A1638"/>
                </a:solidFill>
                <a:latin typeface="Calibri" pitchFamily="34" charset="0"/>
                <a:ea typeface="Calibri" pitchFamily="34" charset="-122"/>
                <a:cs typeface="Calibri" pitchFamily="34" charset="-120"/>
              </a:rPr>
              <a:t>La causa es física</a:t>
            </a:r>
            <a:endParaRPr lang="en-US" sz="1500" dirty="0"/>
          </a:p>
        </p:txBody>
      </p:sp>
      <p:sp>
        <p:nvSpPr>
          <p:cNvPr id="9" name="Text 7"/>
          <p:cNvSpPr/>
          <p:nvPr/>
        </p:nvSpPr>
        <p:spPr>
          <a:xfrm>
            <a:off x="6492240" y="2487168"/>
            <a:ext cx="4754880" cy="640080"/>
          </a:xfrm>
          <a:prstGeom prst="rect">
            <a:avLst/>
          </a:prstGeom>
          <a:noFill/>
          <a:ln/>
        </p:spPr>
        <p:txBody>
          <a:bodyPr wrap="square" lIns="0" tIns="0" rIns="0" bIns="0" rtlCol="0" anchor="ctr"/>
          <a:lstStyle/>
          <a:p>
            <a:pPr indent="0" marL="0">
              <a:lnSpc>
                <a:spcPts val="1700"/>
              </a:lnSpc>
              <a:buNone/>
            </a:pPr>
            <a:r>
              <a:rPr lang="en-US" sz="1250" dirty="0">
                <a:solidFill>
                  <a:srgbClr val="6E5C7A"/>
                </a:solidFill>
                <a:latin typeface="Calibri" pitchFamily="34" charset="0"/>
                <a:ea typeface="Calibri" pitchFamily="34" charset="-122"/>
                <a:cs typeface="Calibri" pitchFamily="34" charset="-120"/>
              </a:rPr>
              <a:t>La longitud del tracto vocal desplaza los formantes en los mismos coeficientes que distinguen una vocal de otra.</a:t>
            </a:r>
            <a:endParaRPr lang="en-US" sz="1250" dirty="0"/>
          </a:p>
        </p:txBody>
      </p:sp>
      <p:sp>
        <p:nvSpPr>
          <p:cNvPr id="10" name="Text 8"/>
          <p:cNvSpPr/>
          <p:nvPr/>
        </p:nvSpPr>
        <p:spPr>
          <a:xfrm>
            <a:off x="640080" y="3566160"/>
            <a:ext cx="10881360" cy="365760"/>
          </a:xfrm>
          <a:prstGeom prst="rect">
            <a:avLst/>
          </a:prstGeom>
          <a:noFill/>
          <a:ln/>
        </p:spPr>
        <p:txBody>
          <a:bodyPr wrap="square" lIns="0" tIns="0" rIns="0" bIns="0" rtlCol="0" anchor="ctr"/>
          <a:lstStyle/>
          <a:p>
            <a:pPr indent="0" marL="0">
              <a:buNone/>
            </a:pPr>
            <a:r>
              <a:rPr lang="en-US" sz="1500" b="1" dirty="0">
                <a:solidFill>
                  <a:srgbClr val="2A1638"/>
                </a:solidFill>
                <a:latin typeface="Calibri" pitchFamily="34" charset="0"/>
                <a:ea typeface="Calibri" pitchFamily="34" charset="-122"/>
                <a:cs typeface="Calibri" pitchFamily="34" charset="-120"/>
              </a:rPr>
              <a:t>Ocho vías probadas antes de darlo por agotado, todas medidas</a:t>
            </a:r>
            <a:endParaRPr lang="en-US" sz="1500" dirty="0"/>
          </a:p>
        </p:txBody>
      </p:sp>
      <p:sp>
        <p:nvSpPr>
          <p:cNvPr id="11" name="Shape 9"/>
          <p:cNvSpPr/>
          <p:nvPr/>
        </p:nvSpPr>
        <p:spPr>
          <a:xfrm>
            <a:off x="640080" y="4023360"/>
            <a:ext cx="2606040" cy="530352"/>
          </a:xfrm>
          <a:prstGeom prst="roundRect">
            <a:avLst>
              <a:gd name="adj" fmla="val 13793"/>
            </a:avLst>
          </a:prstGeom>
          <a:solidFill>
            <a:srgbClr val="EFE4EE"/>
          </a:solidFill>
          <a:ln/>
        </p:spPr>
      </p:sp>
      <p:sp>
        <p:nvSpPr>
          <p:cNvPr id="12" name="Text 10"/>
          <p:cNvSpPr/>
          <p:nvPr/>
        </p:nvSpPr>
        <p:spPr>
          <a:xfrm>
            <a:off x="777240" y="4023360"/>
            <a:ext cx="2377440" cy="530352"/>
          </a:xfrm>
          <a:prstGeom prst="rect">
            <a:avLst/>
          </a:prstGeom>
          <a:noFill/>
          <a:ln/>
        </p:spPr>
        <p:txBody>
          <a:bodyPr wrap="square" lIns="0" tIns="0" rIns="0" bIns="0" rtlCol="0" anchor="ctr"/>
          <a:lstStyle/>
          <a:p>
            <a:pPr indent="0" marL="0">
              <a:buNone/>
            </a:pPr>
            <a:r>
              <a:rPr lang="en-US" sz="1100" dirty="0">
                <a:solidFill>
                  <a:srgbClr val="6E5C7A"/>
                </a:solidFill>
                <a:latin typeface="Calibri" pitchFamily="34" charset="0"/>
                <a:ea typeface="Calibri" pitchFamily="34" charset="-122"/>
                <a:cs typeface="Calibri" pitchFamily="34" charset="-120"/>
              </a:rPr>
              <a:t>Reescalado de la puntuación</a:t>
            </a:r>
            <a:endParaRPr lang="en-US" sz="1100" dirty="0"/>
          </a:p>
        </p:txBody>
      </p:sp>
      <p:sp>
        <p:nvSpPr>
          <p:cNvPr id="13" name="Shape 11"/>
          <p:cNvSpPr/>
          <p:nvPr/>
        </p:nvSpPr>
        <p:spPr>
          <a:xfrm>
            <a:off x="3429000" y="4023360"/>
            <a:ext cx="2606040" cy="530352"/>
          </a:xfrm>
          <a:prstGeom prst="roundRect">
            <a:avLst>
              <a:gd name="adj" fmla="val 13793"/>
            </a:avLst>
          </a:prstGeom>
          <a:solidFill>
            <a:srgbClr val="EFE4EE"/>
          </a:solidFill>
          <a:ln/>
        </p:spPr>
      </p:sp>
      <p:sp>
        <p:nvSpPr>
          <p:cNvPr id="14" name="Text 12"/>
          <p:cNvSpPr/>
          <p:nvPr/>
        </p:nvSpPr>
        <p:spPr>
          <a:xfrm>
            <a:off x="3566160" y="4023360"/>
            <a:ext cx="2377440" cy="530352"/>
          </a:xfrm>
          <a:prstGeom prst="rect">
            <a:avLst/>
          </a:prstGeom>
          <a:noFill/>
          <a:ln/>
        </p:spPr>
        <p:txBody>
          <a:bodyPr wrap="square" lIns="0" tIns="0" rIns="0" bIns="0" rtlCol="0" anchor="ctr"/>
          <a:lstStyle/>
          <a:p>
            <a:pPr indent="0" marL="0">
              <a:buNone/>
            </a:pPr>
            <a:r>
              <a:rPr lang="en-US" sz="1100" dirty="0">
                <a:solidFill>
                  <a:srgbClr val="6E5C7A"/>
                </a:solidFill>
                <a:latin typeface="Calibri" pitchFamily="34" charset="0"/>
                <a:ea typeface="Calibri" pitchFamily="34" charset="-122"/>
                <a:cs typeface="Calibri" pitchFamily="34" charset="-120"/>
              </a:rPr>
              <a:t>Estadísticos localizados</a:t>
            </a:r>
            <a:endParaRPr lang="en-US" sz="1100" dirty="0"/>
          </a:p>
        </p:txBody>
      </p:sp>
      <p:sp>
        <p:nvSpPr>
          <p:cNvPr id="15" name="Shape 13"/>
          <p:cNvSpPr/>
          <p:nvPr/>
        </p:nvSpPr>
        <p:spPr>
          <a:xfrm>
            <a:off x="6217920" y="4023360"/>
            <a:ext cx="2606040" cy="530352"/>
          </a:xfrm>
          <a:prstGeom prst="roundRect">
            <a:avLst>
              <a:gd name="adj" fmla="val 13793"/>
            </a:avLst>
          </a:prstGeom>
          <a:solidFill>
            <a:srgbClr val="EFE4EE"/>
          </a:solidFill>
          <a:ln/>
        </p:spPr>
      </p:sp>
      <p:sp>
        <p:nvSpPr>
          <p:cNvPr id="16" name="Text 14"/>
          <p:cNvSpPr/>
          <p:nvPr/>
        </p:nvSpPr>
        <p:spPr>
          <a:xfrm>
            <a:off x="6355080" y="4023360"/>
            <a:ext cx="2377440" cy="530352"/>
          </a:xfrm>
          <a:prstGeom prst="rect">
            <a:avLst/>
          </a:prstGeom>
          <a:noFill/>
          <a:ln/>
        </p:spPr>
        <p:txBody>
          <a:bodyPr wrap="square" lIns="0" tIns="0" rIns="0" bIns="0" rtlCol="0" anchor="ctr"/>
          <a:lstStyle/>
          <a:p>
            <a:pPr indent="0" marL="0">
              <a:buNone/>
            </a:pPr>
            <a:r>
              <a:rPr lang="en-US" sz="1100" dirty="0">
                <a:solidFill>
                  <a:srgbClr val="6E5C7A"/>
                </a:solidFill>
                <a:latin typeface="Calibri" pitchFamily="34" charset="0"/>
                <a:ea typeface="Calibri" pitchFamily="34" charset="-122"/>
                <a:cs typeface="Calibri" pitchFamily="34" charset="-120"/>
              </a:rPr>
              <a:t>Coeficientes delta</a:t>
            </a:r>
            <a:endParaRPr lang="en-US" sz="1100" dirty="0"/>
          </a:p>
        </p:txBody>
      </p:sp>
      <p:sp>
        <p:nvSpPr>
          <p:cNvPr id="17" name="Shape 15"/>
          <p:cNvSpPr/>
          <p:nvPr/>
        </p:nvSpPr>
        <p:spPr>
          <a:xfrm>
            <a:off x="9006840" y="4023360"/>
            <a:ext cx="2606040" cy="530352"/>
          </a:xfrm>
          <a:prstGeom prst="roundRect">
            <a:avLst>
              <a:gd name="adj" fmla="val 13793"/>
            </a:avLst>
          </a:prstGeom>
          <a:solidFill>
            <a:srgbClr val="EFE4EE"/>
          </a:solidFill>
          <a:ln/>
        </p:spPr>
      </p:sp>
      <p:sp>
        <p:nvSpPr>
          <p:cNvPr id="18" name="Text 16"/>
          <p:cNvSpPr/>
          <p:nvPr/>
        </p:nvSpPr>
        <p:spPr>
          <a:xfrm>
            <a:off x="9144000" y="4023360"/>
            <a:ext cx="2377440" cy="530352"/>
          </a:xfrm>
          <a:prstGeom prst="rect">
            <a:avLst/>
          </a:prstGeom>
          <a:noFill/>
          <a:ln/>
        </p:spPr>
        <p:txBody>
          <a:bodyPr wrap="square" lIns="0" tIns="0" rIns="0" bIns="0" rtlCol="0" anchor="ctr"/>
          <a:lstStyle/>
          <a:p>
            <a:pPr indent="0" marL="0">
              <a:buNone/>
            </a:pPr>
            <a:r>
              <a:rPr lang="en-US" sz="1100" dirty="0">
                <a:solidFill>
                  <a:srgbClr val="6E5C7A"/>
                </a:solidFill>
                <a:latin typeface="Calibri" pitchFamily="34" charset="0"/>
                <a:ea typeface="Calibri" pitchFamily="34" charset="-122"/>
                <a:cs typeface="Calibri" pitchFamily="34" charset="-120"/>
              </a:rPr>
              <a:t>Normalización cepstral (2 variantes)</a:t>
            </a:r>
            <a:endParaRPr lang="en-US" sz="1100" dirty="0"/>
          </a:p>
        </p:txBody>
      </p:sp>
      <p:sp>
        <p:nvSpPr>
          <p:cNvPr id="19" name="Shape 17"/>
          <p:cNvSpPr/>
          <p:nvPr/>
        </p:nvSpPr>
        <p:spPr>
          <a:xfrm>
            <a:off x="640080" y="4681728"/>
            <a:ext cx="2606040" cy="530352"/>
          </a:xfrm>
          <a:prstGeom prst="roundRect">
            <a:avLst>
              <a:gd name="adj" fmla="val 13793"/>
            </a:avLst>
          </a:prstGeom>
          <a:solidFill>
            <a:srgbClr val="EFE4EE"/>
          </a:solidFill>
          <a:ln/>
        </p:spPr>
      </p:sp>
      <p:sp>
        <p:nvSpPr>
          <p:cNvPr id="20" name="Text 18"/>
          <p:cNvSpPr/>
          <p:nvPr/>
        </p:nvSpPr>
        <p:spPr>
          <a:xfrm>
            <a:off x="777240" y="4681728"/>
            <a:ext cx="2377440" cy="530352"/>
          </a:xfrm>
          <a:prstGeom prst="rect">
            <a:avLst/>
          </a:prstGeom>
          <a:noFill/>
          <a:ln/>
        </p:spPr>
        <p:txBody>
          <a:bodyPr wrap="square" lIns="0" tIns="0" rIns="0" bIns="0" rtlCol="0" anchor="ctr"/>
          <a:lstStyle/>
          <a:p>
            <a:pPr indent="0" marL="0">
              <a:buNone/>
            </a:pPr>
            <a:r>
              <a:rPr lang="en-US" sz="1100" dirty="0">
                <a:solidFill>
                  <a:srgbClr val="6E5C7A"/>
                </a:solidFill>
                <a:latin typeface="Calibri" pitchFamily="34" charset="0"/>
                <a:ea typeface="Calibri" pitchFamily="34" charset="-122"/>
                <a:cs typeface="Calibri" pitchFamily="34" charset="-120"/>
              </a:rPr>
              <a:t>Normalización del tracto vocal</a:t>
            </a:r>
            <a:endParaRPr lang="en-US" sz="1100" dirty="0"/>
          </a:p>
        </p:txBody>
      </p:sp>
      <p:sp>
        <p:nvSpPr>
          <p:cNvPr id="21" name="Shape 19"/>
          <p:cNvSpPr/>
          <p:nvPr/>
        </p:nvSpPr>
        <p:spPr>
          <a:xfrm>
            <a:off x="3429000" y="4681728"/>
            <a:ext cx="2606040" cy="530352"/>
          </a:xfrm>
          <a:prstGeom prst="roundRect">
            <a:avLst>
              <a:gd name="adj" fmla="val 13793"/>
            </a:avLst>
          </a:prstGeom>
          <a:solidFill>
            <a:srgbClr val="EFE4EE"/>
          </a:solidFill>
          <a:ln/>
        </p:spPr>
      </p:sp>
      <p:sp>
        <p:nvSpPr>
          <p:cNvPr id="22" name="Text 20"/>
          <p:cNvSpPr/>
          <p:nvPr/>
        </p:nvSpPr>
        <p:spPr>
          <a:xfrm>
            <a:off x="3566160" y="4681728"/>
            <a:ext cx="2377440" cy="530352"/>
          </a:xfrm>
          <a:prstGeom prst="rect">
            <a:avLst/>
          </a:prstGeom>
          <a:noFill/>
          <a:ln/>
        </p:spPr>
        <p:txBody>
          <a:bodyPr wrap="square" lIns="0" tIns="0" rIns="0" bIns="0" rtlCol="0" anchor="ctr"/>
          <a:lstStyle/>
          <a:p>
            <a:pPr indent="0" marL="0">
              <a:buNone/>
            </a:pPr>
            <a:r>
              <a:rPr lang="en-US" sz="1100" dirty="0">
                <a:solidFill>
                  <a:srgbClr val="6E5C7A"/>
                </a:solidFill>
                <a:latin typeface="Calibri" pitchFamily="34" charset="0"/>
                <a:ea typeface="Calibri" pitchFamily="34" charset="-122"/>
                <a:cs typeface="Calibri" pitchFamily="34" charset="-120"/>
              </a:rPr>
              <a:t>Doble referencia contrastiva</a:t>
            </a:r>
            <a:endParaRPr lang="en-US" sz="1100" dirty="0"/>
          </a:p>
        </p:txBody>
      </p:sp>
      <p:sp>
        <p:nvSpPr>
          <p:cNvPr id="23" name="Shape 21"/>
          <p:cNvSpPr/>
          <p:nvPr/>
        </p:nvSpPr>
        <p:spPr>
          <a:xfrm>
            <a:off x="6217920" y="4681728"/>
            <a:ext cx="2606040" cy="530352"/>
          </a:xfrm>
          <a:prstGeom prst="roundRect">
            <a:avLst>
              <a:gd name="adj" fmla="val 13793"/>
            </a:avLst>
          </a:prstGeom>
          <a:solidFill>
            <a:srgbClr val="EFE4EE"/>
          </a:solidFill>
          <a:ln/>
        </p:spPr>
      </p:sp>
      <p:sp>
        <p:nvSpPr>
          <p:cNvPr id="24" name="Text 22"/>
          <p:cNvSpPr/>
          <p:nvPr/>
        </p:nvSpPr>
        <p:spPr>
          <a:xfrm>
            <a:off x="6355080" y="4681728"/>
            <a:ext cx="2377440" cy="530352"/>
          </a:xfrm>
          <a:prstGeom prst="rect">
            <a:avLst/>
          </a:prstGeom>
          <a:noFill/>
          <a:ln/>
        </p:spPr>
        <p:txBody>
          <a:bodyPr wrap="square" lIns="0" tIns="0" rIns="0" bIns="0" rtlCol="0" anchor="ctr"/>
          <a:lstStyle/>
          <a:p>
            <a:pPr indent="0" marL="0">
              <a:buNone/>
            </a:pPr>
            <a:r>
              <a:rPr lang="en-US" sz="1100" dirty="0">
                <a:solidFill>
                  <a:srgbClr val="6E5C7A"/>
                </a:solidFill>
                <a:latin typeface="Calibri" pitchFamily="34" charset="0"/>
                <a:ea typeface="Calibri" pitchFamily="34" charset="-122"/>
                <a:cs typeface="Calibri" pitchFamily="34" charset="-120"/>
              </a:rPr>
              <a:t>Sin recorte por actividad de voz</a:t>
            </a:r>
            <a:endParaRPr lang="en-US" sz="1100" dirty="0"/>
          </a:p>
        </p:txBody>
      </p:sp>
      <p:sp>
        <p:nvSpPr>
          <p:cNvPr id="25" name="Shape 23"/>
          <p:cNvSpPr/>
          <p:nvPr/>
        </p:nvSpPr>
        <p:spPr>
          <a:xfrm>
            <a:off x="9006840" y="4681728"/>
            <a:ext cx="2606040" cy="530352"/>
          </a:xfrm>
          <a:prstGeom prst="roundRect">
            <a:avLst>
              <a:gd name="adj" fmla="val 13793"/>
            </a:avLst>
          </a:prstGeom>
          <a:solidFill>
            <a:srgbClr val="EFE4EE"/>
          </a:solidFill>
          <a:ln/>
        </p:spPr>
      </p:sp>
      <p:sp>
        <p:nvSpPr>
          <p:cNvPr id="26" name="Text 24"/>
          <p:cNvSpPr/>
          <p:nvPr/>
        </p:nvSpPr>
        <p:spPr>
          <a:xfrm>
            <a:off x="9144000" y="4681728"/>
            <a:ext cx="2377440" cy="530352"/>
          </a:xfrm>
          <a:prstGeom prst="rect">
            <a:avLst/>
          </a:prstGeom>
          <a:noFill/>
          <a:ln/>
        </p:spPr>
        <p:txBody>
          <a:bodyPr wrap="square" lIns="0" tIns="0" rIns="0" bIns="0" rtlCol="0" anchor="ctr"/>
          <a:lstStyle/>
          <a:p>
            <a:pPr indent="0" marL="0">
              <a:buNone/>
            </a:pPr>
            <a:r>
              <a:rPr lang="en-US" sz="1100" dirty="0">
                <a:solidFill>
                  <a:srgbClr val="6E5C7A"/>
                </a:solidFill>
                <a:latin typeface="Calibri" pitchFamily="34" charset="0"/>
                <a:ea typeface="Calibri" pitchFamily="34" charset="-122"/>
                <a:cs typeface="Calibri" pitchFamily="34" charset="-120"/>
              </a:rPr>
              <a:t>Combinaciones de las anteriores</a:t>
            </a:r>
            <a:endParaRPr lang="en-US" sz="1100" dirty="0"/>
          </a:p>
        </p:txBody>
      </p:sp>
      <p:sp>
        <p:nvSpPr>
          <p:cNvPr id="27" name="Text 25"/>
          <p:cNvSpPr/>
          <p:nvPr/>
        </p:nvSpPr>
        <p:spPr>
          <a:xfrm>
            <a:off x="640080" y="5486400"/>
            <a:ext cx="10881360" cy="365760"/>
          </a:xfrm>
          <a:prstGeom prst="rect">
            <a:avLst/>
          </a:prstGeom>
          <a:noFill/>
          <a:ln/>
        </p:spPr>
        <p:txBody>
          <a:bodyPr wrap="square" lIns="0" tIns="0" rIns="0" bIns="0" rtlCol="0" anchor="ctr"/>
          <a:lstStyle/>
          <a:p>
            <a:pPr indent="0" marL="0">
              <a:buNone/>
            </a:pPr>
            <a:r>
              <a:rPr lang="en-US" sz="1350" i="1" dirty="0">
                <a:solidFill>
                  <a:srgbClr val="2A1638"/>
                </a:solidFill>
                <a:latin typeface="Calibri" pitchFamily="34" charset="0"/>
                <a:ea typeface="Calibri" pitchFamily="34" charset="-122"/>
                <a:cs typeface="Calibri" pitchFamily="34" charset="-120"/>
              </a:rPr>
              <a:t>Ninguna alcanza el umbral exigido.</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4F7"/>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2A1638"/>
                </a:solidFill>
                <a:latin typeface="Cambria" pitchFamily="34" charset="0"/>
                <a:ea typeface="Cambria" pitchFamily="34" charset="-122"/>
                <a:cs typeface="Cambria" pitchFamily="34" charset="-120"/>
              </a:rPr>
              <a:t>Y había una segunda causa, más grave</a:t>
            </a:r>
            <a:endParaRPr lang="en-US" sz="3600" dirty="0"/>
          </a:p>
        </p:txBody>
      </p:sp>
      <p:sp>
        <p:nvSpPr>
          <p:cNvPr id="3" name="Text 1"/>
          <p:cNvSpPr/>
          <p:nvPr/>
        </p:nvSpPr>
        <p:spPr>
          <a:xfrm>
            <a:off x="640080" y="1152144"/>
            <a:ext cx="10881360" cy="365760"/>
          </a:xfrm>
          <a:prstGeom prst="rect">
            <a:avLst/>
          </a:prstGeom>
          <a:noFill/>
          <a:ln/>
        </p:spPr>
        <p:txBody>
          <a:bodyPr wrap="square" lIns="0" tIns="0" rIns="0" bIns="0" rtlCol="0" anchor="ctr"/>
          <a:lstStyle/>
          <a:p>
            <a:pPr indent="0" marL="0">
              <a:buNone/>
            </a:pPr>
            <a:r>
              <a:rPr lang="en-US" sz="1500" dirty="0">
                <a:solidFill>
                  <a:srgbClr val="6E5C7A"/>
                </a:solidFill>
                <a:latin typeface="Calibri" pitchFamily="34" charset="0"/>
                <a:ea typeface="Calibri" pitchFamily="34" charset="-122"/>
                <a:cs typeface="Calibri" pitchFamily="34" charset="-120"/>
              </a:rPr>
              <a:t>El estudiante se comparaba contra su propio error</a:t>
            </a:r>
            <a:endParaRPr lang="en-US" sz="1500" dirty="0"/>
          </a:p>
        </p:txBody>
      </p:sp>
      <p:sp>
        <p:nvSpPr>
          <p:cNvPr id="4" name="Shape 2"/>
          <p:cNvSpPr/>
          <p:nvPr/>
        </p:nvSpPr>
        <p:spPr>
          <a:xfrm>
            <a:off x="640080" y="1965960"/>
            <a:ext cx="10881360" cy="713232"/>
          </a:xfrm>
          <a:prstGeom prst="roundRect">
            <a:avLst>
              <a:gd name="adj" fmla="val 15385"/>
            </a:avLst>
          </a:prstGeom>
          <a:solidFill>
            <a:srgbClr val="FFFFFF"/>
          </a:solidFill>
          <a:ln/>
          <a:effectLst>
            <a:outerShdw sx="100000" sy="100000" kx="0" ky="0" algn="bl" rotWithShape="0" blurRad="114300" dist="25400" dir="5400000">
              <a:srgbClr val="2A1638">
                <a:alpha val="12000"/>
              </a:srgbClr>
            </a:outerShdw>
          </a:effectLst>
        </p:spPr>
      </p:sp>
      <p:sp>
        <p:nvSpPr>
          <p:cNvPr id="5" name="Shape 3"/>
          <p:cNvSpPr/>
          <p:nvPr/>
        </p:nvSpPr>
        <p:spPr>
          <a:xfrm>
            <a:off x="914400" y="2084832"/>
            <a:ext cx="475488" cy="475488"/>
          </a:xfrm>
          <a:prstGeom prst="ellipse">
            <a:avLst/>
          </a:prstGeom>
          <a:solidFill>
            <a:srgbClr val="8C2F6B"/>
          </a:solidFill>
          <a:ln/>
        </p:spPr>
      </p:sp>
      <p:sp>
        <p:nvSpPr>
          <p:cNvPr id="6" name="Text 4"/>
          <p:cNvSpPr/>
          <p:nvPr/>
        </p:nvSpPr>
        <p:spPr>
          <a:xfrm>
            <a:off x="914400" y="20848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72768" y="1965960"/>
            <a:ext cx="2743200" cy="713232"/>
          </a:xfrm>
          <a:prstGeom prst="rect">
            <a:avLst/>
          </a:prstGeom>
          <a:noFill/>
          <a:ln/>
        </p:spPr>
        <p:txBody>
          <a:bodyPr wrap="square" lIns="0" tIns="0" rIns="0" bIns="0" rtlCol="0" anchor="ctr"/>
          <a:lstStyle/>
          <a:p>
            <a:pPr indent="0" marL="0">
              <a:buNone/>
            </a:pPr>
            <a:r>
              <a:rPr lang="en-US" sz="1350" dirty="0">
                <a:solidFill>
                  <a:srgbClr val="6E5C7A"/>
                </a:solidFill>
                <a:latin typeface="Calibri" pitchFamily="34" charset="0"/>
                <a:ea typeface="Calibri" pitchFamily="34" charset="-122"/>
                <a:cs typeface="Calibri" pitchFamily="34" charset="-120"/>
              </a:rPr>
              <a:t>El estudiante dice</a:t>
            </a:r>
            <a:endParaRPr lang="en-US" sz="1350" dirty="0"/>
          </a:p>
        </p:txBody>
      </p:sp>
      <p:sp>
        <p:nvSpPr>
          <p:cNvPr id="8" name="Text 6"/>
          <p:cNvSpPr/>
          <p:nvPr/>
        </p:nvSpPr>
        <p:spPr>
          <a:xfrm>
            <a:off x="4343400" y="1965960"/>
            <a:ext cx="1463040" cy="713232"/>
          </a:xfrm>
          <a:prstGeom prst="rect">
            <a:avLst/>
          </a:prstGeom>
          <a:noFill/>
          <a:ln/>
        </p:spPr>
        <p:txBody>
          <a:bodyPr wrap="square" lIns="0" tIns="0" rIns="0" bIns="0" rtlCol="0" anchor="ctr"/>
          <a:lstStyle/>
          <a:p>
            <a:pPr indent="0" marL="0">
              <a:buNone/>
            </a:pPr>
            <a:r>
              <a:rPr lang="en-US" sz="1700" b="1" dirty="0">
                <a:solidFill>
                  <a:srgbClr val="2A1638"/>
                </a:solidFill>
                <a:latin typeface="Calibri" pitchFamily="34" charset="0"/>
                <a:ea typeface="Calibri" pitchFamily="34" charset="-122"/>
                <a:cs typeface="Calibri" pitchFamily="34" charset="-120"/>
              </a:rPr>
              <a:t>sheep</a:t>
            </a:r>
            <a:endParaRPr lang="en-US" sz="1700" dirty="0"/>
          </a:p>
        </p:txBody>
      </p:sp>
      <p:sp>
        <p:nvSpPr>
          <p:cNvPr id="9" name="Text 7"/>
          <p:cNvSpPr/>
          <p:nvPr/>
        </p:nvSpPr>
        <p:spPr>
          <a:xfrm>
            <a:off x="5852160" y="1965960"/>
            <a:ext cx="5486400" cy="713232"/>
          </a:xfrm>
          <a:prstGeom prst="rect">
            <a:avLst/>
          </a:prstGeom>
          <a:noFill/>
          <a:ln/>
        </p:spPr>
        <p:txBody>
          <a:bodyPr wrap="square" lIns="0" tIns="0" rIns="0" bIns="0" rtlCol="0" anchor="ctr"/>
          <a:lstStyle/>
          <a:p>
            <a:pPr indent="0" marL="0">
              <a:buNone/>
            </a:pPr>
            <a:r>
              <a:rPr lang="en-US" sz="1250" i="1" dirty="0">
                <a:solidFill>
                  <a:srgbClr val="6E5C7A"/>
                </a:solidFill>
                <a:latin typeface="Calibri" pitchFamily="34" charset="0"/>
                <a:ea typeface="Calibri" pitchFamily="34" charset="-122"/>
                <a:cs typeface="Calibri" pitchFamily="34" charset="-120"/>
              </a:rPr>
              <a:t>donde iba ship</a:t>
            </a:r>
            <a:endParaRPr lang="en-US" sz="1250" dirty="0"/>
          </a:p>
        </p:txBody>
      </p:sp>
      <p:sp>
        <p:nvSpPr>
          <p:cNvPr id="10" name="Shape 8"/>
          <p:cNvSpPr/>
          <p:nvPr/>
        </p:nvSpPr>
        <p:spPr>
          <a:xfrm>
            <a:off x="640080" y="2807208"/>
            <a:ext cx="10881360" cy="713232"/>
          </a:xfrm>
          <a:prstGeom prst="roundRect">
            <a:avLst>
              <a:gd name="adj" fmla="val 15385"/>
            </a:avLst>
          </a:prstGeom>
          <a:solidFill>
            <a:srgbClr val="FFFFFF"/>
          </a:solidFill>
          <a:ln/>
          <a:effectLst>
            <a:outerShdw sx="100000" sy="100000" kx="0" ky="0" algn="bl" rotWithShape="0" blurRad="114300" dist="25400" dir="5400000">
              <a:srgbClr val="2A1638">
                <a:alpha val="12000"/>
              </a:srgbClr>
            </a:outerShdw>
          </a:effectLst>
        </p:spPr>
      </p:sp>
      <p:sp>
        <p:nvSpPr>
          <p:cNvPr id="11" name="Shape 9"/>
          <p:cNvSpPr/>
          <p:nvPr/>
        </p:nvSpPr>
        <p:spPr>
          <a:xfrm>
            <a:off x="914400" y="2926080"/>
            <a:ext cx="475488" cy="475488"/>
          </a:xfrm>
          <a:prstGeom prst="ellipse">
            <a:avLst/>
          </a:prstGeom>
          <a:solidFill>
            <a:srgbClr val="8C2F6B"/>
          </a:solidFill>
          <a:ln/>
        </p:spPr>
      </p:sp>
      <p:sp>
        <p:nvSpPr>
          <p:cNvPr id="12" name="Text 10"/>
          <p:cNvSpPr/>
          <p:nvPr/>
        </p:nvSpPr>
        <p:spPr>
          <a:xfrm>
            <a:off x="914400" y="292608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72768" y="2807208"/>
            <a:ext cx="2743200" cy="713232"/>
          </a:xfrm>
          <a:prstGeom prst="rect">
            <a:avLst/>
          </a:prstGeom>
          <a:noFill/>
          <a:ln/>
        </p:spPr>
        <p:txBody>
          <a:bodyPr wrap="square" lIns="0" tIns="0" rIns="0" bIns="0" rtlCol="0" anchor="ctr"/>
          <a:lstStyle/>
          <a:p>
            <a:pPr indent="0" marL="0">
              <a:buNone/>
            </a:pPr>
            <a:r>
              <a:rPr lang="en-US" sz="1350" dirty="0">
                <a:solidFill>
                  <a:srgbClr val="6E5C7A"/>
                </a:solidFill>
                <a:latin typeface="Calibri" pitchFamily="34" charset="0"/>
                <a:ea typeface="Calibri" pitchFamily="34" charset="-122"/>
                <a:cs typeface="Calibri" pitchFamily="34" charset="-120"/>
              </a:rPr>
              <a:t>El reconocedor escribe</a:t>
            </a:r>
            <a:endParaRPr lang="en-US" sz="1350" dirty="0"/>
          </a:p>
        </p:txBody>
      </p:sp>
      <p:sp>
        <p:nvSpPr>
          <p:cNvPr id="14" name="Text 12"/>
          <p:cNvSpPr/>
          <p:nvPr/>
        </p:nvSpPr>
        <p:spPr>
          <a:xfrm>
            <a:off x="4343400" y="2807208"/>
            <a:ext cx="1463040" cy="713232"/>
          </a:xfrm>
          <a:prstGeom prst="rect">
            <a:avLst/>
          </a:prstGeom>
          <a:noFill/>
          <a:ln/>
        </p:spPr>
        <p:txBody>
          <a:bodyPr wrap="square" lIns="0" tIns="0" rIns="0" bIns="0" rtlCol="0" anchor="ctr"/>
          <a:lstStyle/>
          <a:p>
            <a:pPr indent="0" marL="0">
              <a:buNone/>
            </a:pPr>
            <a:r>
              <a:rPr lang="en-US" sz="1700" b="1" dirty="0">
                <a:solidFill>
                  <a:srgbClr val="2A1638"/>
                </a:solidFill>
                <a:latin typeface="Calibri" pitchFamily="34" charset="0"/>
                <a:ea typeface="Calibri" pitchFamily="34" charset="-122"/>
                <a:cs typeface="Calibri" pitchFamily="34" charset="-120"/>
              </a:rPr>
              <a:t>sheep</a:t>
            </a:r>
            <a:endParaRPr lang="en-US" sz="1700" dirty="0"/>
          </a:p>
        </p:txBody>
      </p:sp>
      <p:sp>
        <p:nvSpPr>
          <p:cNvPr id="15" name="Text 13"/>
          <p:cNvSpPr/>
          <p:nvPr/>
        </p:nvSpPr>
        <p:spPr>
          <a:xfrm>
            <a:off x="5852160" y="2807208"/>
            <a:ext cx="5486400" cy="713232"/>
          </a:xfrm>
          <a:prstGeom prst="rect">
            <a:avLst/>
          </a:prstGeom>
          <a:noFill/>
          <a:ln/>
        </p:spPr>
        <p:txBody>
          <a:bodyPr wrap="square" lIns="0" tIns="0" rIns="0" bIns="0" rtlCol="0" anchor="ctr"/>
          <a:lstStyle/>
          <a:p>
            <a:pPr indent="0" marL="0">
              <a:buNone/>
            </a:pPr>
            <a:r>
              <a:rPr lang="en-US" sz="1250" i="1" dirty="0">
                <a:solidFill>
                  <a:srgbClr val="6E5C7A"/>
                </a:solidFill>
                <a:latin typeface="Calibri" pitchFamily="34" charset="0"/>
                <a:ea typeface="Calibri" pitchFamily="34" charset="-122"/>
                <a:cs typeface="Calibri" pitchFamily="34" charset="-120"/>
              </a:rPr>
              <a:t>transcribe lo oído</a:t>
            </a:r>
            <a:endParaRPr lang="en-US" sz="1250" dirty="0"/>
          </a:p>
        </p:txBody>
      </p:sp>
      <p:sp>
        <p:nvSpPr>
          <p:cNvPr id="16" name="Shape 14"/>
          <p:cNvSpPr/>
          <p:nvPr/>
        </p:nvSpPr>
        <p:spPr>
          <a:xfrm>
            <a:off x="640080" y="3648456"/>
            <a:ext cx="10881360" cy="713232"/>
          </a:xfrm>
          <a:prstGeom prst="roundRect">
            <a:avLst>
              <a:gd name="adj" fmla="val 15385"/>
            </a:avLst>
          </a:prstGeom>
          <a:solidFill>
            <a:srgbClr val="FFFFFF"/>
          </a:solidFill>
          <a:ln/>
          <a:effectLst>
            <a:outerShdw sx="100000" sy="100000" kx="0" ky="0" algn="bl" rotWithShape="0" blurRad="114300" dist="25400" dir="5400000">
              <a:srgbClr val="2A1638">
                <a:alpha val="12000"/>
              </a:srgbClr>
            </a:outerShdw>
          </a:effectLst>
        </p:spPr>
      </p:sp>
      <p:sp>
        <p:nvSpPr>
          <p:cNvPr id="17" name="Shape 15"/>
          <p:cNvSpPr/>
          <p:nvPr/>
        </p:nvSpPr>
        <p:spPr>
          <a:xfrm>
            <a:off x="914400" y="3767328"/>
            <a:ext cx="475488" cy="475488"/>
          </a:xfrm>
          <a:prstGeom prst="ellipse">
            <a:avLst/>
          </a:prstGeom>
          <a:solidFill>
            <a:srgbClr val="8C2F6B"/>
          </a:solidFill>
          <a:ln/>
        </p:spPr>
      </p:sp>
      <p:sp>
        <p:nvSpPr>
          <p:cNvPr id="18" name="Text 16"/>
          <p:cNvSpPr/>
          <p:nvPr/>
        </p:nvSpPr>
        <p:spPr>
          <a:xfrm>
            <a:off x="914400" y="376732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1572768" y="3648456"/>
            <a:ext cx="2743200" cy="713232"/>
          </a:xfrm>
          <a:prstGeom prst="rect">
            <a:avLst/>
          </a:prstGeom>
          <a:noFill/>
          <a:ln/>
        </p:spPr>
        <p:txBody>
          <a:bodyPr wrap="square" lIns="0" tIns="0" rIns="0" bIns="0" rtlCol="0" anchor="ctr"/>
          <a:lstStyle/>
          <a:p>
            <a:pPr indent="0" marL="0">
              <a:buNone/>
            </a:pPr>
            <a:r>
              <a:rPr lang="en-US" sz="1350" dirty="0">
                <a:solidFill>
                  <a:srgbClr val="6E5C7A"/>
                </a:solidFill>
                <a:latin typeface="Calibri" pitchFamily="34" charset="0"/>
                <a:ea typeface="Calibri" pitchFamily="34" charset="-122"/>
                <a:cs typeface="Calibri" pitchFamily="34" charset="-120"/>
              </a:rPr>
              <a:t>El sintetizador dice</a:t>
            </a:r>
            <a:endParaRPr lang="en-US" sz="1350" dirty="0"/>
          </a:p>
        </p:txBody>
      </p:sp>
      <p:sp>
        <p:nvSpPr>
          <p:cNvPr id="20" name="Text 18"/>
          <p:cNvSpPr/>
          <p:nvPr/>
        </p:nvSpPr>
        <p:spPr>
          <a:xfrm>
            <a:off x="4343400" y="3648456"/>
            <a:ext cx="1463040" cy="713232"/>
          </a:xfrm>
          <a:prstGeom prst="rect">
            <a:avLst/>
          </a:prstGeom>
          <a:noFill/>
          <a:ln/>
        </p:spPr>
        <p:txBody>
          <a:bodyPr wrap="square" lIns="0" tIns="0" rIns="0" bIns="0" rtlCol="0" anchor="ctr"/>
          <a:lstStyle/>
          <a:p>
            <a:pPr indent="0" marL="0">
              <a:buNone/>
            </a:pPr>
            <a:r>
              <a:rPr lang="en-US" sz="1700" b="1" dirty="0">
                <a:solidFill>
                  <a:srgbClr val="2A1638"/>
                </a:solidFill>
                <a:latin typeface="Calibri" pitchFamily="34" charset="0"/>
                <a:ea typeface="Calibri" pitchFamily="34" charset="-122"/>
                <a:cs typeface="Calibri" pitchFamily="34" charset="-120"/>
              </a:rPr>
              <a:t>sheep</a:t>
            </a:r>
            <a:endParaRPr lang="en-US" sz="1700" dirty="0"/>
          </a:p>
        </p:txBody>
      </p:sp>
      <p:sp>
        <p:nvSpPr>
          <p:cNvPr id="21" name="Text 19"/>
          <p:cNvSpPr/>
          <p:nvPr/>
        </p:nvSpPr>
        <p:spPr>
          <a:xfrm>
            <a:off x="5852160" y="3648456"/>
            <a:ext cx="5486400" cy="713232"/>
          </a:xfrm>
          <a:prstGeom prst="rect">
            <a:avLst/>
          </a:prstGeom>
          <a:noFill/>
          <a:ln/>
        </p:spPr>
        <p:txBody>
          <a:bodyPr wrap="square" lIns="0" tIns="0" rIns="0" bIns="0" rtlCol="0" anchor="ctr"/>
          <a:lstStyle/>
          <a:p>
            <a:pPr indent="0" marL="0">
              <a:buNone/>
            </a:pPr>
            <a:r>
              <a:rPr lang="en-US" sz="1250" i="1" dirty="0">
                <a:solidFill>
                  <a:srgbClr val="6E5C7A"/>
                </a:solidFill>
                <a:latin typeface="Calibri" pitchFamily="34" charset="0"/>
                <a:ea typeface="Calibri" pitchFamily="34" charset="-122"/>
                <a:cs typeface="Calibri" pitchFamily="34" charset="-120"/>
              </a:rPr>
              <a:t>se sintetiza la transcripción</a:t>
            </a:r>
            <a:endParaRPr lang="en-US" sz="1250" dirty="0"/>
          </a:p>
        </p:txBody>
      </p:sp>
      <p:sp>
        <p:nvSpPr>
          <p:cNvPr id="22" name="Shape 20"/>
          <p:cNvSpPr/>
          <p:nvPr/>
        </p:nvSpPr>
        <p:spPr>
          <a:xfrm>
            <a:off x="640080" y="4489704"/>
            <a:ext cx="10881360" cy="713232"/>
          </a:xfrm>
          <a:prstGeom prst="roundRect">
            <a:avLst>
              <a:gd name="adj" fmla="val 15385"/>
            </a:avLst>
          </a:prstGeom>
          <a:solidFill>
            <a:srgbClr val="FFFFFF"/>
          </a:solidFill>
          <a:ln/>
          <a:effectLst>
            <a:outerShdw sx="100000" sy="100000" kx="0" ky="0" algn="bl" rotWithShape="0" blurRad="114300" dist="25400" dir="5400000">
              <a:srgbClr val="2A1638">
                <a:alpha val="12000"/>
              </a:srgbClr>
            </a:outerShdw>
          </a:effectLst>
        </p:spPr>
      </p:sp>
      <p:sp>
        <p:nvSpPr>
          <p:cNvPr id="23" name="Shape 21"/>
          <p:cNvSpPr/>
          <p:nvPr/>
        </p:nvSpPr>
        <p:spPr>
          <a:xfrm>
            <a:off x="914400" y="4608576"/>
            <a:ext cx="475488" cy="475488"/>
          </a:xfrm>
          <a:prstGeom prst="ellipse">
            <a:avLst/>
          </a:prstGeom>
          <a:solidFill>
            <a:srgbClr val="C24E22"/>
          </a:solidFill>
          <a:ln/>
        </p:spPr>
      </p:sp>
      <p:sp>
        <p:nvSpPr>
          <p:cNvPr id="24" name="Text 22"/>
          <p:cNvSpPr/>
          <p:nvPr/>
        </p:nvSpPr>
        <p:spPr>
          <a:xfrm>
            <a:off x="914400" y="460857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1572768" y="4489704"/>
            <a:ext cx="2743200" cy="713232"/>
          </a:xfrm>
          <a:prstGeom prst="rect">
            <a:avLst/>
          </a:prstGeom>
          <a:noFill/>
          <a:ln/>
        </p:spPr>
        <p:txBody>
          <a:bodyPr wrap="square" lIns="0" tIns="0" rIns="0" bIns="0" rtlCol="0" anchor="ctr"/>
          <a:lstStyle/>
          <a:p>
            <a:pPr indent="0" marL="0">
              <a:buNone/>
            </a:pPr>
            <a:r>
              <a:rPr lang="en-US" sz="1350" dirty="0">
                <a:solidFill>
                  <a:srgbClr val="6E5C7A"/>
                </a:solidFill>
                <a:latin typeface="Calibri" pitchFamily="34" charset="0"/>
                <a:ea typeface="Calibri" pitchFamily="34" charset="-122"/>
                <a:cs typeface="Calibri" pitchFamily="34" charset="-120"/>
              </a:rPr>
              <a:t>Se compara contra</a:t>
            </a:r>
            <a:endParaRPr lang="en-US" sz="1350" dirty="0"/>
          </a:p>
        </p:txBody>
      </p:sp>
      <p:sp>
        <p:nvSpPr>
          <p:cNvPr id="26" name="Text 24"/>
          <p:cNvSpPr/>
          <p:nvPr/>
        </p:nvSpPr>
        <p:spPr>
          <a:xfrm>
            <a:off x="4343400" y="4489704"/>
            <a:ext cx="1463040" cy="713232"/>
          </a:xfrm>
          <a:prstGeom prst="rect">
            <a:avLst/>
          </a:prstGeom>
          <a:noFill/>
          <a:ln/>
        </p:spPr>
        <p:txBody>
          <a:bodyPr wrap="square" lIns="0" tIns="0" rIns="0" bIns="0" rtlCol="0" anchor="ctr"/>
          <a:lstStyle/>
          <a:p>
            <a:pPr indent="0" marL="0">
              <a:buNone/>
            </a:pPr>
            <a:r>
              <a:rPr lang="en-US" sz="1700" b="1" dirty="0">
                <a:solidFill>
                  <a:srgbClr val="C24E22"/>
                </a:solidFill>
                <a:latin typeface="Calibri" pitchFamily="34" charset="0"/>
                <a:ea typeface="Calibri" pitchFamily="34" charset="-122"/>
                <a:cs typeface="Calibri" pitchFamily="34" charset="-120"/>
              </a:rPr>
              <a:t>sheep</a:t>
            </a:r>
            <a:endParaRPr lang="en-US" sz="1700" dirty="0"/>
          </a:p>
        </p:txBody>
      </p:sp>
      <p:sp>
        <p:nvSpPr>
          <p:cNvPr id="27" name="Text 25"/>
          <p:cNvSpPr/>
          <p:nvPr/>
        </p:nvSpPr>
        <p:spPr>
          <a:xfrm>
            <a:off x="5852160" y="4489704"/>
            <a:ext cx="5486400" cy="713232"/>
          </a:xfrm>
          <a:prstGeom prst="rect">
            <a:avLst/>
          </a:prstGeom>
          <a:noFill/>
          <a:ln/>
        </p:spPr>
        <p:txBody>
          <a:bodyPr wrap="square" lIns="0" tIns="0" rIns="0" bIns="0" rtlCol="0" anchor="ctr"/>
          <a:lstStyle/>
          <a:p>
            <a:pPr indent="0" marL="0">
              <a:buNone/>
            </a:pPr>
            <a:r>
              <a:rPr lang="en-US" sz="1250" i="1" dirty="0">
                <a:solidFill>
                  <a:srgbClr val="6E5C7A"/>
                </a:solidFill>
                <a:latin typeface="Calibri" pitchFamily="34" charset="0"/>
                <a:ea typeface="Calibri" pitchFamily="34" charset="-122"/>
                <a:cs typeface="Calibri" pitchFamily="34" charset="-120"/>
              </a:rPr>
              <a:t>su propia equivocación</a:t>
            </a:r>
            <a:endParaRPr lang="en-US" sz="1250" dirty="0"/>
          </a:p>
        </p:txBody>
      </p:sp>
      <p:sp>
        <p:nvSpPr>
          <p:cNvPr id="28" name="Text 26"/>
          <p:cNvSpPr/>
          <p:nvPr/>
        </p:nvSpPr>
        <p:spPr>
          <a:xfrm>
            <a:off x="640080" y="5486400"/>
            <a:ext cx="10881360" cy="548640"/>
          </a:xfrm>
          <a:prstGeom prst="rect">
            <a:avLst/>
          </a:prstGeom>
          <a:noFill/>
          <a:ln/>
        </p:spPr>
        <p:txBody>
          <a:bodyPr wrap="square" lIns="0" tIns="0" rIns="0" bIns="0" rtlCol="0" anchor="ctr"/>
          <a:lstStyle/>
          <a:p>
            <a:pPr indent="0" marL="0">
              <a:lnSpc>
                <a:spcPts val="2000"/>
              </a:lnSpc>
              <a:buNone/>
            </a:pPr>
            <a:r>
              <a:rPr lang="en-US" sz="1400" b="1" dirty="0">
                <a:solidFill>
                  <a:srgbClr val="2A1638"/>
                </a:solidFill>
                <a:latin typeface="Calibri" pitchFamily="34" charset="0"/>
                <a:ea typeface="Calibri" pitchFamily="34" charset="-122"/>
                <a:cs typeface="Calibri" pitchFamily="34" charset="-120"/>
              </a:rPr>
              <a:t>El puntaje no podía detectar una palabra mal pronunciada por construcción. Lo que medía era cuánto se parece la voz del estudiante a la del sintetizador.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2A1638"/>
                </a:solidFill>
                <a:latin typeface="Cambria" pitchFamily="34" charset="0"/>
                <a:ea typeface="Cambria" pitchFamily="34" charset="-122"/>
                <a:cs typeface="Cambria" pitchFamily="34" charset="-120"/>
              </a:rPr>
              <a:t>La salida: usar el reconocedor como juez</a:t>
            </a:r>
            <a:endParaRPr lang="en-US" sz="3600" dirty="0"/>
          </a:p>
        </p:txBody>
      </p:sp>
      <p:sp>
        <p:nvSpPr>
          <p:cNvPr id="3" name="Text 1"/>
          <p:cNvSpPr/>
          <p:nvPr/>
        </p:nvSpPr>
        <p:spPr>
          <a:xfrm>
            <a:off x="640080" y="1152144"/>
            <a:ext cx="10881360" cy="365760"/>
          </a:xfrm>
          <a:prstGeom prst="rect">
            <a:avLst/>
          </a:prstGeom>
          <a:noFill/>
          <a:ln/>
        </p:spPr>
        <p:txBody>
          <a:bodyPr wrap="square" lIns="0" tIns="0" rIns="0" bIns="0" rtlCol="0" anchor="ctr"/>
          <a:lstStyle/>
          <a:p>
            <a:pPr indent="0" marL="0">
              <a:buNone/>
            </a:pPr>
            <a:r>
              <a:rPr lang="en-US" sz="1500" dirty="0">
                <a:solidFill>
                  <a:srgbClr val="6E5C7A"/>
                </a:solidFill>
                <a:latin typeface="Calibri" pitchFamily="34" charset="0"/>
                <a:ea typeface="Calibri" pitchFamily="34" charset="-122"/>
                <a:cs typeface="Calibri" pitchFamily="34" charset="-120"/>
              </a:rPr>
              <a:t>La única señal independiente del hablante ya estaba en el proyecto</a:t>
            </a:r>
            <a:endParaRPr lang="en-US" sz="1500" dirty="0"/>
          </a:p>
        </p:txBody>
      </p:sp>
      <p:sp>
        <p:nvSpPr>
          <p:cNvPr id="4" name="Text 2"/>
          <p:cNvSpPr/>
          <p:nvPr/>
        </p:nvSpPr>
        <p:spPr>
          <a:xfrm>
            <a:off x="640080" y="1828800"/>
            <a:ext cx="10881360" cy="594360"/>
          </a:xfrm>
          <a:prstGeom prst="rect">
            <a:avLst/>
          </a:prstGeom>
          <a:noFill/>
          <a:ln/>
        </p:spPr>
        <p:txBody>
          <a:bodyPr wrap="square" lIns="0" tIns="0" rIns="0" bIns="0" rtlCol="0" anchor="ctr"/>
          <a:lstStyle/>
          <a:p>
            <a:pPr indent="0" marL="0">
              <a:lnSpc>
                <a:spcPts val="2100"/>
              </a:lnSpc>
              <a:buNone/>
            </a:pPr>
            <a:r>
              <a:rPr lang="en-US" sz="1450" dirty="0">
                <a:solidFill>
                  <a:srgbClr val="6E5C7A"/>
                </a:solidFill>
                <a:latin typeface="Calibri" pitchFamily="34" charset="0"/>
                <a:ea typeface="Calibri" pitchFamily="34" charset="-122"/>
                <a:cs typeface="Calibri" pitchFamily="34" charset="-120"/>
              </a:rPr>
              <a:t>Si se compara la transcripción contra una frase objetivo, el error aparece en el texto y el timbre deja de influir. El reconocedor está entrenado con miles de voces.</a:t>
            </a:r>
            <a:endParaRPr lang="en-US" sz="14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6949440" cy="914400"/>
        </p:xfrm>
        <a:graphic>
          <a:graphicData uri="http://schemas.openxmlformats.org/drawingml/2006/table">
            <a:tbl>
              <a:tblPr/>
              <a:tblGrid>
                <a:gridCol w="1737360"/>
                <a:gridCol w="3657600"/>
                <a:gridCol w="155448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 pidió</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1A0E2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El reconocedor entendió</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1A0E2E"/>
                    </a:solidFill>
                  </a:tcPr>
                </a:tc>
                <a:tc>
                  <a:txBody>
                    <a:bodyPr/>
                    <a:lstStyle/>
                    <a:p>
                      <a:pPr indent="0" marL="0">
                        <a:buNone/>
                      </a:pP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1A0E2E"/>
                    </a:solidFill>
                  </a:tcPr>
                </a:tc>
              </a:tr>
              <a:tr h="457200">
                <a:tc>
                  <a:txBody>
                    <a:bodyPr/>
                    <a:lstStyle/>
                    <a:p>
                      <a:pPr indent="0" marL="0">
                        <a:buNone/>
                      </a:pPr>
                      <a:r>
                        <a:rPr lang="en-US" sz="1250" b="1" dirty="0">
                          <a:solidFill>
                            <a:srgbClr val="2A1638"/>
                          </a:solidFill>
                          <a:latin typeface="Calibri" pitchFamily="34" charset="0"/>
                          <a:ea typeface="Calibri" pitchFamily="34" charset="-122"/>
                          <a:cs typeface="Calibri" pitchFamily="34" charset="-120"/>
                        </a:rPr>
                        <a:t>ship</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c>
                  <a:txBody>
                    <a:bodyPr/>
                    <a:lstStyle/>
                    <a:p>
                      <a:pPr indent="0" marL="0">
                        <a:buNone/>
                      </a:pPr>
                      <a:r>
                        <a:rPr lang="en-US" sz="1250" dirty="0">
                          <a:solidFill>
                            <a:srgbClr val="6E5C7A"/>
                          </a:solidFill>
                          <a:latin typeface="Calibri" pitchFamily="34" charset="0"/>
                          <a:ea typeface="Calibri" pitchFamily="34" charset="-122"/>
                          <a:cs typeface="Calibri" pitchFamily="34" charset="-120"/>
                        </a:rPr>
                        <a:t>«I need a new sheep»</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c>
                  <a:txBody>
                    <a:bodyPr/>
                    <a:lstStyle/>
                    <a:p>
                      <a:pPr indent="0" marL="0">
                        <a:buNone/>
                      </a:pPr>
                      <a:r>
                        <a:rPr lang="en-US" sz="1250" b="1" dirty="0">
                          <a:solidFill>
                            <a:srgbClr val="8C2F6B"/>
                          </a:solidFill>
                          <a:latin typeface="Calibri" pitchFamily="34" charset="0"/>
                          <a:ea typeface="Calibri" pitchFamily="34" charset="-122"/>
                          <a:cs typeface="Calibri" pitchFamily="34" charset="-120"/>
                        </a:rPr>
                        <a:t>detecta</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r>
              <a:tr h="457200">
                <a:tc>
                  <a:txBody>
                    <a:bodyPr/>
                    <a:lstStyle/>
                    <a:p>
                      <a:pPr indent="0" marL="0">
                        <a:buNone/>
                      </a:pPr>
                      <a:r>
                        <a:rPr lang="en-US" sz="1250" b="1" dirty="0">
                          <a:solidFill>
                            <a:srgbClr val="2A1638"/>
                          </a:solidFill>
                          <a:latin typeface="Calibri" pitchFamily="34" charset="0"/>
                          <a:ea typeface="Calibri" pitchFamily="34" charset="-122"/>
                          <a:cs typeface="Calibri" pitchFamily="34" charset="-120"/>
                        </a:rPr>
                        <a:t>bed</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c>
                  <a:txBody>
                    <a:bodyPr/>
                    <a:lstStyle/>
                    <a:p>
                      <a:pPr indent="0" marL="0">
                        <a:buNone/>
                      </a:pPr>
                      <a:r>
                        <a:rPr lang="en-US" sz="1250" dirty="0">
                          <a:solidFill>
                            <a:srgbClr val="6E5C7A"/>
                          </a:solidFill>
                          <a:latin typeface="Calibri" pitchFamily="34" charset="0"/>
                          <a:ea typeface="Calibri" pitchFamily="34" charset="-122"/>
                          <a:cs typeface="Calibri" pitchFamily="34" charset="-120"/>
                        </a:rPr>
                        <a:t>«She had a bit late»</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c>
                  <a:txBody>
                    <a:bodyPr/>
                    <a:lstStyle/>
                    <a:p>
                      <a:pPr indent="0" marL="0">
                        <a:buNone/>
                      </a:pPr>
                      <a:r>
                        <a:rPr lang="en-US" sz="1250" b="1" dirty="0">
                          <a:solidFill>
                            <a:srgbClr val="8C2F6B"/>
                          </a:solidFill>
                          <a:latin typeface="Calibri" pitchFamily="34" charset="0"/>
                          <a:ea typeface="Calibri" pitchFamily="34" charset="-122"/>
                          <a:cs typeface="Calibri" pitchFamily="34" charset="-120"/>
                        </a:rPr>
                        <a:t>detecta</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r>
              <a:tr h="457200">
                <a:tc>
                  <a:txBody>
                    <a:bodyPr/>
                    <a:lstStyle/>
                    <a:p>
                      <a:pPr indent="0" marL="0">
                        <a:buNone/>
                      </a:pPr>
                      <a:r>
                        <a:rPr lang="en-US" sz="1250" b="1" dirty="0">
                          <a:solidFill>
                            <a:srgbClr val="2A1638"/>
                          </a:solidFill>
                          <a:latin typeface="Calibri" pitchFamily="34" charset="0"/>
                          <a:ea typeface="Calibri" pitchFamily="34" charset="-122"/>
                          <a:cs typeface="Calibri" pitchFamily="34" charset="-120"/>
                        </a:rPr>
                        <a:t>seat</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c>
                  <a:txBody>
                    <a:bodyPr/>
                    <a:lstStyle/>
                    <a:p>
                      <a:pPr indent="0" marL="0">
                        <a:buNone/>
                      </a:pPr>
                      <a:r>
                        <a:rPr lang="en-US" sz="1250" dirty="0">
                          <a:solidFill>
                            <a:srgbClr val="6E5C7A"/>
                          </a:solidFill>
                          <a:latin typeface="Calibri" pitchFamily="34" charset="0"/>
                          <a:ea typeface="Calibri" pitchFamily="34" charset="-122"/>
                          <a:cs typeface="Calibri" pitchFamily="34" charset="-120"/>
                        </a:rPr>
                        <a:t>«Please see it down here»</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c>
                  <a:txBody>
                    <a:bodyPr/>
                    <a:lstStyle/>
                    <a:p>
                      <a:pPr indent="0" marL="0">
                        <a:buNone/>
                      </a:pPr>
                      <a:r>
                        <a:rPr lang="en-US" sz="1250" b="1" dirty="0">
                          <a:solidFill>
                            <a:srgbClr val="8C2F6B"/>
                          </a:solidFill>
                          <a:latin typeface="Calibri" pitchFamily="34" charset="0"/>
                          <a:ea typeface="Calibri" pitchFamily="34" charset="-122"/>
                          <a:cs typeface="Calibri" pitchFamily="34" charset="-120"/>
                        </a:rPr>
                        <a:t>detecta</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r>
              <a:tr h="457200">
                <a:tc>
                  <a:txBody>
                    <a:bodyPr/>
                    <a:lstStyle/>
                    <a:p>
                      <a:pPr indent="0" marL="0">
                        <a:buNone/>
                      </a:pPr>
                      <a:r>
                        <a:rPr lang="en-US" sz="1250" b="1" dirty="0">
                          <a:solidFill>
                            <a:srgbClr val="2A1638"/>
                          </a:solidFill>
                          <a:latin typeface="Calibri" pitchFamily="34" charset="0"/>
                          <a:ea typeface="Calibri" pitchFamily="34" charset="-122"/>
                          <a:cs typeface="Calibri" pitchFamily="34" charset="-120"/>
                        </a:rPr>
                        <a:t>ship (bien dicho)</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c>
                  <a:txBody>
                    <a:bodyPr/>
                    <a:lstStyle/>
                    <a:p>
                      <a:pPr indent="0" marL="0">
                        <a:buNone/>
                      </a:pPr>
                      <a:r>
                        <a:rPr lang="en-US" sz="1250" dirty="0">
                          <a:solidFill>
                            <a:srgbClr val="6E5C7A"/>
                          </a:solidFill>
                          <a:latin typeface="Calibri" pitchFamily="34" charset="0"/>
                          <a:ea typeface="Calibri" pitchFamily="34" charset="-122"/>
                          <a:cs typeface="Calibri" pitchFamily="34" charset="-120"/>
                        </a:rPr>
                        <a:t>«I need a new chip»</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c>
                  <a:txBody>
                    <a:bodyPr/>
                    <a:lstStyle/>
                    <a:p>
                      <a:pPr indent="0" marL="0">
                        <a:buNone/>
                      </a:pPr>
                      <a:r>
                        <a:rPr lang="en-US" sz="1250" b="1" dirty="0">
                          <a:solidFill>
                            <a:srgbClr val="C24E22"/>
                          </a:solidFill>
                          <a:latin typeface="Calibri" pitchFamily="34" charset="0"/>
                          <a:ea typeface="Calibri" pitchFamily="34" charset="-122"/>
                          <a:cs typeface="Calibri" pitchFamily="34" charset="-120"/>
                        </a:rPr>
                        <a:t>falsa alarma</a:t>
                      </a:r>
                      <a:endParaRPr lang="en-US" sz="125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r>
            </a:tbl>
          </a:graphicData>
        </a:graphic>
      </p:graphicFrame>
      <p:sp>
        <p:nvSpPr>
          <p:cNvPr id="6" name="Shape 3"/>
          <p:cNvSpPr/>
          <p:nvPr/>
        </p:nvSpPr>
        <p:spPr>
          <a:xfrm>
            <a:off x="7863840" y="2606040"/>
            <a:ext cx="3657600" cy="2286000"/>
          </a:xfrm>
          <a:prstGeom prst="roundRect">
            <a:avLst>
              <a:gd name="adj" fmla="val 4800"/>
            </a:avLst>
          </a:prstGeom>
          <a:solidFill>
            <a:srgbClr val="F8F4F7"/>
          </a:solidFill>
          <a:ln/>
          <a:effectLst>
            <a:outerShdw sx="100000" sy="100000" kx="0" ky="0" algn="bl" rotWithShape="0" blurRad="114300" dist="25400" dir="5400000">
              <a:srgbClr val="2A1638">
                <a:alpha val="12000"/>
              </a:srgbClr>
            </a:outerShdw>
          </a:effectLst>
        </p:spPr>
      </p:sp>
      <p:sp>
        <p:nvSpPr>
          <p:cNvPr id="7" name="Text 4"/>
          <p:cNvSpPr/>
          <p:nvPr/>
        </p:nvSpPr>
        <p:spPr>
          <a:xfrm>
            <a:off x="8138160" y="2834640"/>
            <a:ext cx="3108960" cy="731520"/>
          </a:xfrm>
          <a:prstGeom prst="rect">
            <a:avLst/>
          </a:prstGeom>
          <a:noFill/>
          <a:ln/>
        </p:spPr>
        <p:txBody>
          <a:bodyPr wrap="square" lIns="0" tIns="0" rIns="0" bIns="0" rtlCol="0" anchor="ctr"/>
          <a:lstStyle/>
          <a:p>
            <a:pPr indent="0" marL="0">
              <a:buNone/>
            </a:pPr>
            <a:r>
              <a:rPr lang="en-US" sz="4400" b="1" dirty="0">
                <a:solidFill>
                  <a:srgbClr val="8C2F6B"/>
                </a:solidFill>
                <a:latin typeface="Cambria" pitchFamily="34" charset="0"/>
                <a:ea typeface="Cambria" pitchFamily="34" charset="-122"/>
                <a:cs typeface="Cambria" pitchFamily="34" charset="-120"/>
              </a:rPr>
              <a:t>6 de 10</a:t>
            </a:r>
            <a:endParaRPr lang="en-US" sz="4400" dirty="0"/>
          </a:p>
        </p:txBody>
      </p:sp>
      <p:sp>
        <p:nvSpPr>
          <p:cNvPr id="8" name="Text 5"/>
          <p:cNvSpPr/>
          <p:nvPr/>
        </p:nvSpPr>
        <p:spPr>
          <a:xfrm>
            <a:off x="8138160" y="3566160"/>
            <a:ext cx="3108960" cy="320040"/>
          </a:xfrm>
          <a:prstGeom prst="rect">
            <a:avLst/>
          </a:prstGeom>
          <a:noFill/>
          <a:ln/>
        </p:spPr>
        <p:txBody>
          <a:bodyPr wrap="square" lIns="0" tIns="0" rIns="0" bIns="0" rtlCol="0" anchor="ctr"/>
          <a:lstStyle/>
          <a:p>
            <a:pPr indent="0" marL="0">
              <a:buNone/>
            </a:pPr>
            <a:r>
              <a:rPr lang="en-US" sz="1300" b="1" dirty="0">
                <a:solidFill>
                  <a:srgbClr val="2A1638"/>
                </a:solidFill>
                <a:latin typeface="Calibri" pitchFamily="34" charset="0"/>
                <a:ea typeface="Calibri" pitchFamily="34" charset="-122"/>
                <a:cs typeface="Calibri" pitchFamily="34" charset="-120"/>
              </a:rPr>
              <a:t>errores detectados</a:t>
            </a:r>
            <a:endParaRPr lang="en-US" sz="1300" dirty="0"/>
          </a:p>
        </p:txBody>
      </p:sp>
      <p:sp>
        <p:nvSpPr>
          <p:cNvPr id="9" name="Text 6"/>
          <p:cNvSpPr/>
          <p:nvPr/>
        </p:nvSpPr>
        <p:spPr>
          <a:xfrm>
            <a:off x="8138160" y="3931920"/>
            <a:ext cx="3108960" cy="822960"/>
          </a:xfrm>
          <a:prstGeom prst="rect">
            <a:avLst/>
          </a:prstGeom>
          <a:noFill/>
          <a:ln/>
        </p:spPr>
        <p:txBody>
          <a:bodyPr wrap="square" lIns="0" tIns="0" rIns="0" bIns="0" rtlCol="0" anchor="ctr"/>
          <a:lstStyle/>
          <a:p>
            <a:pPr indent="0" marL="0">
              <a:lnSpc>
                <a:spcPts val="1700"/>
              </a:lnSpc>
              <a:buNone/>
            </a:pPr>
            <a:r>
              <a:rPr lang="en-US" sz="1200" dirty="0">
                <a:solidFill>
                  <a:srgbClr val="6E5C7A"/>
                </a:solidFill>
                <a:latin typeface="Calibri" pitchFamily="34" charset="0"/>
                <a:ea typeface="Calibri" pitchFamily="34" charset="-122"/>
                <a:cs typeface="Calibri" pitchFamily="34" charset="-120"/>
              </a:rPr>
              <a:t>con 4 falsas alarmas.</a:t>
            </a:r>
            <a:endParaRPr lang="en-US" sz="1200" dirty="0"/>
          </a:p>
          <a:p>
            <a:pPr indent="0" marL="0">
              <a:lnSpc>
                <a:spcPts val="1700"/>
              </a:lnSpc>
              <a:buNone/>
            </a:pPr>
            <a:r>
              <a:rPr lang="en-US" sz="1200" dirty="0">
                <a:solidFill>
                  <a:srgbClr val="6E5C7A"/>
                </a:solidFill>
                <a:latin typeface="Calibri" pitchFamily="34" charset="0"/>
                <a:ea typeface="Calibri" pitchFamily="34" charset="-122"/>
                <a:cs typeface="Calibri" pitchFamily="34" charset="-120"/>
              </a:rPr>
              <a:t>No basta sola: se combina</a:t>
            </a:r>
            <a:endParaRPr lang="en-US" sz="1200" dirty="0"/>
          </a:p>
          <a:p>
            <a:pPr indent="0" marL="0">
              <a:lnSpc>
                <a:spcPts val="1700"/>
              </a:lnSpc>
              <a:buNone/>
            </a:pPr>
            <a:r>
              <a:rPr lang="en-US" sz="1200" dirty="0">
                <a:solidFill>
                  <a:srgbClr val="6E5C7A"/>
                </a:solidFill>
                <a:latin typeface="Calibri" pitchFamily="34" charset="0"/>
                <a:ea typeface="Calibri" pitchFamily="34" charset="-122"/>
                <a:cs typeface="Calibri" pitchFamily="34" charset="-120"/>
              </a:rPr>
              <a:t>con la señal acústica.</a:t>
            </a:r>
            <a:endParaRPr lang="en-US" sz="1200" dirty="0"/>
          </a:p>
        </p:txBody>
      </p:sp>
      <p:sp>
        <p:nvSpPr>
          <p:cNvPr id="10" name="Text 7"/>
          <p:cNvSpPr/>
          <p:nvPr/>
        </p:nvSpPr>
        <p:spPr>
          <a:xfrm>
            <a:off x="640080" y="5166360"/>
            <a:ext cx="10881360" cy="548640"/>
          </a:xfrm>
          <a:prstGeom prst="rect">
            <a:avLst/>
          </a:prstGeom>
          <a:noFill/>
          <a:ln/>
        </p:spPr>
        <p:txBody>
          <a:bodyPr wrap="square" lIns="0" tIns="0" rIns="0" bIns="0" rtlCol="0" anchor="ctr"/>
          <a:lstStyle/>
          <a:p>
            <a:pPr indent="0" marL="0">
              <a:lnSpc>
                <a:spcPts val="2000"/>
              </a:lnSpc>
              <a:buNone/>
            </a:pPr>
            <a:r>
              <a:rPr lang="en-US" sz="1400" b="1" dirty="0">
                <a:solidFill>
                  <a:srgbClr val="2A1638"/>
                </a:solidFill>
                <a:latin typeface="Calibri" pitchFamily="34" charset="0"/>
                <a:ea typeface="Calibri" pitchFamily="34" charset="-122"/>
                <a:cs typeface="Calibri" pitchFamily="34" charset="-120"/>
              </a:rPr>
              <a:t>Eso exige una frase objetivo, y en conversación libre no existe: el sistema no sabe qué quiso decir el estudiante. De ahí el modo práctica.</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4F7"/>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2A1638"/>
                </a:solidFill>
                <a:latin typeface="Cambria" pitchFamily="34" charset="0"/>
                <a:ea typeface="Cambria" pitchFamily="34" charset="-122"/>
                <a:cs typeface="Cambria" pitchFamily="34" charset="-120"/>
              </a:rPr>
              <a:t>Dos modos, y una decisión incómoda</a:t>
            </a:r>
            <a:endParaRPr lang="en-US" sz="3600" dirty="0"/>
          </a:p>
        </p:txBody>
      </p:sp>
      <p:sp>
        <p:nvSpPr>
          <p:cNvPr id="3" name="Text 1"/>
          <p:cNvSpPr/>
          <p:nvPr/>
        </p:nvSpPr>
        <p:spPr>
          <a:xfrm>
            <a:off x="640080" y="1152144"/>
            <a:ext cx="10881360" cy="365760"/>
          </a:xfrm>
          <a:prstGeom prst="rect">
            <a:avLst/>
          </a:prstGeom>
          <a:noFill/>
          <a:ln/>
        </p:spPr>
        <p:txBody>
          <a:bodyPr wrap="square" lIns="0" tIns="0" rIns="0" bIns="0" rtlCol="0" anchor="ctr"/>
          <a:lstStyle/>
          <a:p>
            <a:pPr indent="0" marL="0">
              <a:buNone/>
            </a:pPr>
            <a:r>
              <a:rPr lang="en-US" sz="1500" dirty="0">
                <a:solidFill>
                  <a:srgbClr val="6E5C7A"/>
                </a:solidFill>
                <a:latin typeface="Calibri" pitchFamily="34" charset="0"/>
                <a:ea typeface="Calibri" pitchFamily="34" charset="-122"/>
                <a:cs typeface="Calibri" pitchFamily="34" charset="-120"/>
              </a:rPr>
              <a:t>Preferimos no dar un número a dar uno que mide otra cosa</a:t>
            </a:r>
            <a:endParaRPr lang="en-US" sz="1500" dirty="0"/>
          </a:p>
        </p:txBody>
      </p:sp>
      <p:sp>
        <p:nvSpPr>
          <p:cNvPr id="4" name="Shape 2"/>
          <p:cNvSpPr/>
          <p:nvPr/>
        </p:nvSpPr>
        <p:spPr>
          <a:xfrm>
            <a:off x="640080" y="1874520"/>
            <a:ext cx="5303520" cy="2286000"/>
          </a:xfrm>
          <a:prstGeom prst="roundRect">
            <a:avLst>
              <a:gd name="adj" fmla="val 4800"/>
            </a:avLst>
          </a:prstGeom>
          <a:solidFill>
            <a:srgbClr val="FFFFFF"/>
          </a:solidFill>
          <a:ln/>
          <a:effectLst>
            <a:outerShdw sx="100000" sy="100000" kx="0" ky="0" algn="bl" rotWithShape="0" blurRad="114300" dist="25400" dir="5400000">
              <a:srgbClr val="2A1638">
                <a:alpha val="12000"/>
              </a:srgbClr>
            </a:outerShdw>
          </a:effectLst>
        </p:spPr>
      </p:sp>
      <p:sp>
        <p:nvSpPr>
          <p:cNvPr id="5" name="Text 3"/>
          <p:cNvSpPr/>
          <p:nvPr/>
        </p:nvSpPr>
        <p:spPr>
          <a:xfrm>
            <a:off x="960120" y="2084832"/>
            <a:ext cx="4663440" cy="384048"/>
          </a:xfrm>
          <a:prstGeom prst="rect">
            <a:avLst/>
          </a:prstGeom>
          <a:noFill/>
          <a:ln/>
        </p:spPr>
        <p:txBody>
          <a:bodyPr wrap="square" lIns="0" tIns="0" rIns="0" bIns="0" rtlCol="0" anchor="ctr"/>
          <a:lstStyle/>
          <a:p>
            <a:pPr indent="0" marL="0">
              <a:buNone/>
            </a:pPr>
            <a:r>
              <a:rPr lang="en-US" sz="1800" b="1" dirty="0">
                <a:solidFill>
                  <a:srgbClr val="2A1638"/>
                </a:solidFill>
                <a:latin typeface="Calibri" pitchFamily="34" charset="0"/>
                <a:ea typeface="Calibri" pitchFamily="34" charset="-122"/>
                <a:cs typeface="Calibri" pitchFamily="34" charset="-120"/>
              </a:rPr>
              <a:t>Conversación libre</a:t>
            </a:r>
            <a:endParaRPr lang="en-US" sz="1800" dirty="0"/>
          </a:p>
        </p:txBody>
      </p:sp>
      <p:sp>
        <p:nvSpPr>
          <p:cNvPr id="6" name="Text 4"/>
          <p:cNvSpPr/>
          <p:nvPr/>
        </p:nvSpPr>
        <p:spPr>
          <a:xfrm>
            <a:off x="960120" y="2542032"/>
            <a:ext cx="4663440" cy="640080"/>
          </a:xfrm>
          <a:prstGeom prst="rect">
            <a:avLst/>
          </a:prstGeom>
          <a:noFill/>
          <a:ln/>
        </p:spPr>
        <p:txBody>
          <a:bodyPr wrap="square" lIns="0" tIns="0" rIns="0" bIns="0" rtlCol="0" anchor="ctr"/>
          <a:lstStyle/>
          <a:p>
            <a:pPr indent="0" marL="0">
              <a:lnSpc>
                <a:spcPts val="1800"/>
              </a:lnSpc>
              <a:buNone/>
            </a:pPr>
            <a:r>
              <a:rPr lang="en-US" sz="1250" dirty="0">
                <a:solidFill>
                  <a:srgbClr val="6E5C7A"/>
                </a:solidFill>
                <a:latin typeface="Calibri" pitchFamily="34" charset="0"/>
                <a:ea typeface="Calibri" pitchFamily="34" charset="-122"/>
                <a:cs typeface="Calibri" pitchFamily="34" charset="-120"/>
              </a:rPr>
              <a:t>Transcripción, corrección gramatical resaltada, respuesta del tutor y sugerencias de mejora.</a:t>
            </a:r>
            <a:endParaRPr lang="en-US" sz="1250" dirty="0"/>
          </a:p>
        </p:txBody>
      </p:sp>
      <p:sp>
        <p:nvSpPr>
          <p:cNvPr id="7" name="Shape 5"/>
          <p:cNvSpPr/>
          <p:nvPr/>
        </p:nvSpPr>
        <p:spPr>
          <a:xfrm>
            <a:off x="960120" y="3401568"/>
            <a:ext cx="4663440" cy="502920"/>
          </a:xfrm>
          <a:prstGeom prst="roundRect">
            <a:avLst>
              <a:gd name="adj" fmla="val 14545"/>
            </a:avLst>
          </a:prstGeom>
          <a:solidFill>
            <a:srgbClr val="F7E3D6"/>
          </a:solidFill>
          <a:ln/>
        </p:spPr>
      </p:sp>
      <p:sp>
        <p:nvSpPr>
          <p:cNvPr id="8" name="Text 6"/>
          <p:cNvSpPr/>
          <p:nvPr/>
        </p:nvSpPr>
        <p:spPr>
          <a:xfrm>
            <a:off x="1143000" y="3401568"/>
            <a:ext cx="4297680" cy="502920"/>
          </a:xfrm>
          <a:prstGeom prst="rect">
            <a:avLst/>
          </a:prstGeom>
          <a:noFill/>
          <a:ln/>
        </p:spPr>
        <p:txBody>
          <a:bodyPr wrap="square" lIns="0" tIns="0" rIns="0" bIns="0" rtlCol="0" anchor="ctr"/>
          <a:lstStyle/>
          <a:p>
            <a:pPr indent="0" marL="0">
              <a:buNone/>
            </a:pPr>
            <a:r>
              <a:rPr lang="en-US" sz="1300" b="1" dirty="0">
                <a:solidFill>
                  <a:srgbClr val="C24E22"/>
                </a:solidFill>
                <a:latin typeface="Calibri" pitchFamily="34" charset="0"/>
                <a:ea typeface="Calibri" pitchFamily="34" charset="-122"/>
                <a:cs typeface="Calibri" pitchFamily="34" charset="-120"/>
              </a:rPr>
              <a:t>Sin puntaje de pronunciación</a:t>
            </a:r>
            <a:endParaRPr lang="en-US" sz="1300" dirty="0"/>
          </a:p>
        </p:txBody>
      </p:sp>
      <p:sp>
        <p:nvSpPr>
          <p:cNvPr id="9" name="Shape 7"/>
          <p:cNvSpPr/>
          <p:nvPr/>
        </p:nvSpPr>
        <p:spPr>
          <a:xfrm>
            <a:off x="6217920" y="1874520"/>
            <a:ext cx="5303520" cy="2286000"/>
          </a:xfrm>
          <a:prstGeom prst="roundRect">
            <a:avLst>
              <a:gd name="adj" fmla="val 4800"/>
            </a:avLst>
          </a:prstGeom>
          <a:solidFill>
            <a:srgbClr val="FFFFFF"/>
          </a:solidFill>
          <a:ln/>
          <a:effectLst>
            <a:outerShdw sx="100000" sy="100000" kx="0" ky="0" algn="bl" rotWithShape="0" blurRad="114300" dist="25400" dir="5400000">
              <a:srgbClr val="2A1638">
                <a:alpha val="12000"/>
              </a:srgbClr>
            </a:outerShdw>
          </a:effectLst>
        </p:spPr>
      </p:sp>
      <p:sp>
        <p:nvSpPr>
          <p:cNvPr id="10" name="Text 8"/>
          <p:cNvSpPr/>
          <p:nvPr/>
        </p:nvSpPr>
        <p:spPr>
          <a:xfrm>
            <a:off x="6537960" y="2084832"/>
            <a:ext cx="4663440" cy="384048"/>
          </a:xfrm>
          <a:prstGeom prst="rect">
            <a:avLst/>
          </a:prstGeom>
          <a:noFill/>
          <a:ln/>
        </p:spPr>
        <p:txBody>
          <a:bodyPr wrap="square" lIns="0" tIns="0" rIns="0" bIns="0" rtlCol="0" anchor="ctr"/>
          <a:lstStyle/>
          <a:p>
            <a:pPr indent="0" marL="0">
              <a:buNone/>
            </a:pPr>
            <a:r>
              <a:rPr lang="en-US" sz="1800" b="1" dirty="0">
                <a:solidFill>
                  <a:srgbClr val="2A1638"/>
                </a:solidFill>
                <a:latin typeface="Calibri" pitchFamily="34" charset="0"/>
                <a:ea typeface="Calibri" pitchFamily="34" charset="-122"/>
                <a:cs typeface="Calibri" pitchFamily="34" charset="-120"/>
              </a:rPr>
              <a:t>Modo práctica</a:t>
            </a:r>
            <a:endParaRPr lang="en-US" sz="1800" dirty="0"/>
          </a:p>
        </p:txBody>
      </p:sp>
      <p:sp>
        <p:nvSpPr>
          <p:cNvPr id="11" name="Text 9"/>
          <p:cNvSpPr/>
          <p:nvPr/>
        </p:nvSpPr>
        <p:spPr>
          <a:xfrm>
            <a:off x="6537960" y="2542032"/>
            <a:ext cx="4663440" cy="731520"/>
          </a:xfrm>
          <a:prstGeom prst="rect">
            <a:avLst/>
          </a:prstGeom>
          <a:noFill/>
          <a:ln/>
        </p:spPr>
        <p:txBody>
          <a:bodyPr wrap="square" lIns="0" tIns="0" rIns="0" bIns="0" rtlCol="0" anchor="ctr"/>
          <a:lstStyle/>
          <a:p>
            <a:pPr indent="0" marL="0">
              <a:lnSpc>
                <a:spcPts val="1800"/>
              </a:lnSpc>
              <a:buNone/>
            </a:pPr>
            <a:r>
              <a:rPr lang="en-US" sz="1250" dirty="0">
                <a:solidFill>
                  <a:srgbClr val="6E5C7A"/>
                </a:solidFill>
                <a:latin typeface="Calibri" pitchFamily="34" charset="0"/>
                <a:ea typeface="Calibri" pitchFamily="34" charset="-122"/>
                <a:cs typeface="Calibri" pitchFamily="34" charset="-120"/>
              </a:rPr>
              <a:t>La aplicación propone una frase de un banco cerrado de diez, el estudiante la repite y se compara palabra por palabra.</a:t>
            </a:r>
            <a:endParaRPr lang="en-US" sz="1250" dirty="0"/>
          </a:p>
        </p:txBody>
      </p:sp>
      <p:sp>
        <p:nvSpPr>
          <p:cNvPr id="12" name="Shape 10"/>
          <p:cNvSpPr/>
          <p:nvPr/>
        </p:nvSpPr>
        <p:spPr>
          <a:xfrm>
            <a:off x="6537960" y="3401568"/>
            <a:ext cx="4663440" cy="502920"/>
          </a:xfrm>
          <a:prstGeom prst="roundRect">
            <a:avLst>
              <a:gd name="adj" fmla="val 14545"/>
            </a:avLst>
          </a:prstGeom>
          <a:solidFill>
            <a:srgbClr val="EADCEE"/>
          </a:solidFill>
          <a:ln/>
        </p:spPr>
      </p:sp>
      <p:sp>
        <p:nvSpPr>
          <p:cNvPr id="13" name="Text 11"/>
          <p:cNvSpPr/>
          <p:nvPr/>
        </p:nvSpPr>
        <p:spPr>
          <a:xfrm>
            <a:off x="6720840" y="3401568"/>
            <a:ext cx="4297680" cy="502920"/>
          </a:xfrm>
          <a:prstGeom prst="rect">
            <a:avLst/>
          </a:prstGeom>
          <a:noFill/>
          <a:ln/>
        </p:spPr>
        <p:txBody>
          <a:bodyPr wrap="square" lIns="0" tIns="0" rIns="0" bIns="0" rtlCol="0" anchor="ctr"/>
          <a:lstStyle/>
          <a:p>
            <a:pPr indent="0" marL="0">
              <a:buNone/>
            </a:pPr>
            <a:r>
              <a:rPr lang="en-US" sz="1300" b="1" dirty="0">
                <a:solidFill>
                  <a:srgbClr val="8C2F6B"/>
                </a:solidFill>
                <a:latin typeface="Calibri" pitchFamily="34" charset="0"/>
                <a:ea typeface="Calibri" pitchFamily="34" charset="-122"/>
                <a:cs typeface="Calibri" pitchFamily="34" charset="-120"/>
              </a:rPr>
              <a:t>Aquí sí hay referencia, y por tanto puntaje</a:t>
            </a:r>
            <a:endParaRPr lang="en-US" sz="1300" dirty="0"/>
          </a:p>
        </p:txBody>
      </p:sp>
      <p:sp>
        <p:nvSpPr>
          <p:cNvPr id="14" name="Shape 12"/>
          <p:cNvSpPr/>
          <p:nvPr/>
        </p:nvSpPr>
        <p:spPr>
          <a:xfrm>
            <a:off x="640080" y="4343400"/>
            <a:ext cx="10881360" cy="1371600"/>
          </a:xfrm>
          <a:prstGeom prst="roundRect">
            <a:avLst>
              <a:gd name="adj" fmla="val 8000"/>
            </a:avLst>
          </a:prstGeom>
          <a:solidFill>
            <a:srgbClr val="FFFFFF"/>
          </a:solidFill>
          <a:ln/>
          <a:effectLst>
            <a:outerShdw sx="100000" sy="100000" kx="0" ky="0" algn="bl" rotWithShape="0" blurRad="114300" dist="25400" dir="5400000">
              <a:srgbClr val="2A1638">
                <a:alpha val="12000"/>
              </a:srgbClr>
            </a:outerShdw>
          </a:effectLst>
        </p:spPr>
      </p:sp>
      <p:sp>
        <p:nvSpPr>
          <p:cNvPr id="15" name="Text 13"/>
          <p:cNvSpPr/>
          <p:nvPr/>
        </p:nvSpPr>
        <p:spPr>
          <a:xfrm>
            <a:off x="960120" y="4526280"/>
            <a:ext cx="10241280" cy="347472"/>
          </a:xfrm>
          <a:prstGeom prst="rect">
            <a:avLst/>
          </a:prstGeom>
          <a:noFill/>
          <a:ln/>
        </p:spPr>
        <p:txBody>
          <a:bodyPr wrap="square" lIns="0" tIns="0" rIns="0" bIns="0" rtlCol="0" anchor="ctr"/>
          <a:lstStyle/>
          <a:p>
            <a:pPr indent="0" marL="0">
              <a:buNone/>
            </a:pPr>
            <a:r>
              <a:rPr lang="en-US" sz="1600" b="1" dirty="0">
                <a:solidFill>
                  <a:srgbClr val="2A1638"/>
                </a:solidFill>
                <a:latin typeface="Calibri" pitchFamily="34" charset="0"/>
                <a:ea typeface="Calibri" pitchFamily="34" charset="-122"/>
                <a:cs typeface="Calibri" pitchFamily="34" charset="-120"/>
              </a:rPr>
              <a:t>Y cómo se le dice al estudiante</a:t>
            </a:r>
            <a:endParaRPr lang="en-US" sz="1600" dirty="0"/>
          </a:p>
        </p:txBody>
      </p:sp>
      <p:sp>
        <p:nvSpPr>
          <p:cNvPr id="16" name="Text 14"/>
          <p:cNvSpPr/>
          <p:nvPr/>
        </p:nvSpPr>
        <p:spPr>
          <a:xfrm>
            <a:off x="960120" y="4892040"/>
            <a:ext cx="10241280" cy="731520"/>
          </a:xfrm>
          <a:prstGeom prst="rect">
            <a:avLst/>
          </a:prstGeom>
          <a:noFill/>
          <a:ln/>
        </p:spPr>
        <p:txBody>
          <a:bodyPr wrap="square" lIns="0" tIns="0" rIns="0" bIns="0" rtlCol="0" anchor="ctr"/>
          <a:lstStyle/>
          <a:p>
            <a:pPr indent="0" marL="0">
              <a:lnSpc>
                <a:spcPts val="1800"/>
              </a:lnSpc>
              <a:buNone/>
            </a:pPr>
            <a:r>
              <a:rPr lang="en-US" sz="1250" dirty="0">
                <a:solidFill>
                  <a:srgbClr val="6E5C7A"/>
                </a:solidFill>
                <a:latin typeface="Calibri" pitchFamily="34" charset="0"/>
                <a:ea typeface="Calibri" pitchFamily="34" charset="-122"/>
                <a:cs typeface="Calibri" pitchFamily="34" charset="-120"/>
              </a:rPr>
              <a:t>Con cuatro falsas alarmas de cada diez avisos, «lo dijiste mal» acusaría a quien pronunció bien. El mensaje es «no te entendí bien»: describe lo que ocurrió sin atribuir culpa. La misma regla llega al código — el campo interno se llama noReconocida, no incorrecta.</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2A1638"/>
                </a:solidFill>
                <a:latin typeface="Cambria" pitchFamily="34" charset="0"/>
                <a:ea typeface="Cambria" pitchFamily="34" charset="-122"/>
                <a:cs typeface="Cambria" pitchFamily="34" charset="-120"/>
              </a:rPr>
              <a:t>Latencia por etapa</a:t>
            </a:r>
            <a:endParaRPr lang="en-US" sz="3600" dirty="0"/>
          </a:p>
        </p:txBody>
      </p:sp>
      <p:sp>
        <p:nvSpPr>
          <p:cNvPr id="3" name="Text 1"/>
          <p:cNvSpPr/>
          <p:nvPr/>
        </p:nvSpPr>
        <p:spPr>
          <a:xfrm>
            <a:off x="640080" y="1152144"/>
            <a:ext cx="10881360" cy="365760"/>
          </a:xfrm>
          <a:prstGeom prst="rect">
            <a:avLst/>
          </a:prstGeom>
          <a:noFill/>
          <a:ln/>
        </p:spPr>
        <p:txBody>
          <a:bodyPr wrap="square" lIns="0" tIns="0" rIns="0" bIns="0" rtlCol="0" anchor="ctr"/>
          <a:lstStyle/>
          <a:p>
            <a:pPr indent="0" marL="0">
              <a:buNone/>
            </a:pPr>
            <a:r>
              <a:rPr lang="en-US" sz="1500" dirty="0">
                <a:solidFill>
                  <a:srgbClr val="6E5C7A"/>
                </a:solidFill>
                <a:latin typeface="Calibri" pitchFamily="34" charset="0"/>
                <a:ea typeface="Calibri" pitchFamily="34" charset="-122"/>
                <a:cs typeface="Calibri" pitchFamily="34" charset="-120"/>
              </a:rPr>
              <a:t>Contra el presupuesto de 2 segundos para la retroalimentación</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6949440" cy="914400"/>
        </p:xfrm>
        <a:graphic>
          <a:graphicData uri="http://schemas.openxmlformats.org/drawingml/2006/table">
            <a:tbl>
              <a:tblPr/>
              <a:tblGrid>
                <a:gridCol w="4846320"/>
                <a:gridCol w="2103120"/>
              </a:tblGrid>
              <a:tr h="42976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Etapa</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1A0E2E"/>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Medido</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1A0E2E"/>
                    </a:solidFill>
                  </a:tcPr>
                </a:tc>
              </a:tr>
              <a:tr h="429768">
                <a:tc>
                  <a:txBody>
                    <a:bodyPr/>
                    <a:lstStyle/>
                    <a:p>
                      <a:pPr indent="0" marL="0">
                        <a:buNone/>
                      </a:pPr>
                      <a:r>
                        <a:rPr lang="en-US" sz="1200" dirty="0">
                          <a:solidFill>
                            <a:srgbClr val="2A1638"/>
                          </a:solidFill>
                          <a:latin typeface="Calibri" pitchFamily="34" charset="0"/>
                          <a:ea typeface="Calibri" pitchFamily="34" charset="-122"/>
                          <a:cs typeface="Calibri" pitchFamily="34" charset="-120"/>
                        </a:rPr>
                        <a:t>Análisis DSP  ·  frase de 3 s</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c>
                  <a:txBody>
                    <a:bodyPr/>
                    <a:lstStyle/>
                    <a:p>
                      <a:pPr algn="r" indent="0" marL="0">
                        <a:buNone/>
                      </a:pPr>
                      <a:r>
                        <a:rPr lang="en-US" sz="1200" b="1" dirty="0">
                          <a:solidFill>
                            <a:srgbClr val="8C2F6B"/>
                          </a:solidFill>
                          <a:latin typeface="Calibri" pitchFamily="34" charset="0"/>
                          <a:ea typeface="Calibri" pitchFamily="34" charset="-122"/>
                          <a:cs typeface="Calibri" pitchFamily="34" charset="-120"/>
                        </a:rPr>
                        <a:t>64 ms</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r>
              <a:tr h="429768">
                <a:tc>
                  <a:txBody>
                    <a:bodyPr/>
                    <a:lstStyle/>
                    <a:p>
                      <a:pPr indent="0" marL="0">
                        <a:buNone/>
                      </a:pPr>
                      <a:r>
                        <a:rPr lang="en-US" sz="1200" dirty="0">
                          <a:solidFill>
                            <a:srgbClr val="2A1638"/>
                          </a:solidFill>
                          <a:latin typeface="Calibri" pitchFamily="34" charset="0"/>
                          <a:ea typeface="Calibri" pitchFamily="34" charset="-122"/>
                          <a:cs typeface="Calibri" pitchFamily="34" charset="-120"/>
                        </a:rPr>
                        <a:t>Reconocimiento (Whisper)  ·  audio de 5 s, RTF 0.3</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c>
                  <a:txBody>
                    <a:bodyPr/>
                    <a:lstStyle/>
                    <a:p>
                      <a:pPr algn="r" indent="0" marL="0">
                        <a:buNone/>
                      </a:pPr>
                      <a:r>
                        <a:rPr lang="en-US" sz="1200" b="1" dirty="0">
                          <a:solidFill>
                            <a:srgbClr val="8C2F6B"/>
                          </a:solidFill>
                          <a:latin typeface="Calibri" pitchFamily="34" charset="0"/>
                          <a:ea typeface="Calibri" pitchFamily="34" charset="-122"/>
                          <a:cs typeface="Calibri" pitchFamily="34" charset="-120"/>
                        </a:rPr>
                        <a:t>≈ 1 500 ms</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r>
              <a:tr h="429768">
                <a:tc>
                  <a:txBody>
                    <a:bodyPr/>
                    <a:lstStyle/>
                    <a:p>
                      <a:pPr indent="0" marL="0">
                        <a:buNone/>
                      </a:pPr>
                      <a:r>
                        <a:rPr lang="en-US" sz="1200" dirty="0">
                          <a:solidFill>
                            <a:srgbClr val="2A1638"/>
                          </a:solidFill>
                          <a:latin typeface="Calibri" pitchFamily="34" charset="0"/>
                          <a:ea typeface="Calibri" pitchFamily="34" charset="-122"/>
                          <a:cs typeface="Calibri" pitchFamily="34" charset="-120"/>
                        </a:rPr>
                        <a:t>Corrección gramatical (T5)  ·  media de 8 frases</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c>
                  <a:txBody>
                    <a:bodyPr/>
                    <a:lstStyle/>
                    <a:p>
                      <a:pPr algn="r" indent="0" marL="0">
                        <a:buNone/>
                      </a:pPr>
                      <a:r>
                        <a:rPr lang="en-US" sz="1200" b="1" dirty="0">
                          <a:solidFill>
                            <a:srgbClr val="8C2F6B"/>
                          </a:solidFill>
                          <a:latin typeface="Calibri" pitchFamily="34" charset="0"/>
                          <a:ea typeface="Calibri" pitchFamily="34" charset="-122"/>
                          <a:cs typeface="Calibri" pitchFamily="34" charset="-120"/>
                        </a:rPr>
                        <a:t>320 ms</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r>
              <a:tr h="429768">
                <a:tc>
                  <a:txBody>
                    <a:bodyPr/>
                    <a:lstStyle/>
                    <a:p>
                      <a:pPr indent="0" marL="0">
                        <a:buNone/>
                      </a:pPr>
                      <a:r>
                        <a:rPr lang="en-US" sz="1200" dirty="0">
                          <a:solidFill>
                            <a:srgbClr val="2A1638"/>
                          </a:solidFill>
                          <a:latin typeface="Calibri" pitchFamily="34" charset="0"/>
                          <a:ea typeface="Calibri" pitchFamily="34" charset="-122"/>
                          <a:cs typeface="Calibri" pitchFamily="34" charset="-120"/>
                        </a:rPr>
                        <a:t>Comparador DTW  ·  186 × 186 tramas</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c>
                  <a:txBody>
                    <a:bodyPr/>
                    <a:lstStyle/>
                    <a:p>
                      <a:pPr algn="r" indent="0" marL="0">
                        <a:buNone/>
                      </a:pPr>
                      <a:r>
                        <a:rPr lang="en-US" sz="1200" b="1" dirty="0">
                          <a:solidFill>
                            <a:srgbClr val="8C2F6B"/>
                          </a:solidFill>
                          <a:latin typeface="Calibri" pitchFamily="34" charset="0"/>
                          <a:ea typeface="Calibri" pitchFamily="34" charset="-122"/>
                          <a:cs typeface="Calibri" pitchFamily="34" charset="-120"/>
                        </a:rPr>
                        <a:t>2.45 ms</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r>
              <a:tr h="429768">
                <a:tc>
                  <a:txBody>
                    <a:bodyPr/>
                    <a:lstStyle/>
                    <a:p>
                      <a:pPr indent="0" marL="0">
                        <a:buNone/>
                      </a:pPr>
                      <a:r>
                        <a:rPr lang="en-US" sz="1200" b="1" dirty="0">
                          <a:solidFill>
                            <a:srgbClr val="2A1638"/>
                          </a:solidFill>
                          <a:latin typeface="Calibri" pitchFamily="34" charset="0"/>
                          <a:ea typeface="Calibri" pitchFamily="34" charset="-122"/>
                          <a:cs typeface="Calibri" pitchFamily="34" charset="-120"/>
                        </a:rPr>
                        <a:t>Suma, como cota superior</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EFE4EE"/>
                    </a:solidFill>
                  </a:tcPr>
                </a:tc>
                <a:tc>
                  <a:txBody>
                    <a:bodyPr/>
                    <a:lstStyle/>
                    <a:p>
                      <a:pPr algn="r" indent="0" marL="0">
                        <a:buNone/>
                      </a:pPr>
                      <a:r>
                        <a:rPr lang="en-US" sz="1200" b="1" dirty="0">
                          <a:solidFill>
                            <a:srgbClr val="C24E22"/>
                          </a:solidFill>
                          <a:latin typeface="Calibri" pitchFamily="34" charset="0"/>
                          <a:ea typeface="Calibri" pitchFamily="34" charset="-122"/>
                          <a:cs typeface="Calibri" pitchFamily="34" charset="-120"/>
                        </a:rPr>
                        <a:t>≈ 1 886 ms</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solidFill>
                      <a:srgbClr val="EFE4EE"/>
                    </a:solidFill>
                  </a:tcPr>
                </a:tc>
              </a:tr>
              <a:tr h="429768">
                <a:tc>
                  <a:txBody>
                    <a:bodyPr/>
                    <a:lstStyle/>
                    <a:p>
                      <a:pPr indent="0" marL="0">
                        <a:buNone/>
                      </a:pPr>
                      <a:r>
                        <a:rPr lang="en-US" sz="1200" i="1" dirty="0">
                          <a:solidFill>
                            <a:srgbClr val="6E5C7A"/>
                          </a:solidFill>
                          <a:latin typeface="Calibri" pitchFamily="34" charset="0"/>
                          <a:ea typeface="Calibri" pitchFamily="34" charset="-122"/>
                          <a:cs typeface="Calibri" pitchFamily="34" charset="-120"/>
                        </a:rPr>
                        <a:t>Turno completo, integrado y en vivo</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c>
                  <a:txBody>
                    <a:bodyPr/>
                    <a:lstStyle/>
                    <a:p>
                      <a:pPr algn="r" indent="0" marL="0">
                        <a:buNone/>
                      </a:pPr>
                      <a:r>
                        <a:rPr lang="en-US" sz="1200" b="1" i="1" dirty="0">
                          <a:solidFill>
                            <a:srgbClr val="6E5C7A"/>
                          </a:solidFill>
                          <a:latin typeface="Calibri" pitchFamily="34" charset="0"/>
                          <a:ea typeface="Calibri" pitchFamily="34" charset="-122"/>
                          <a:cs typeface="Calibri" pitchFamily="34" charset="-120"/>
                        </a:rPr>
                        <a:t>pendiente</a:t>
                      </a:r>
                      <a:endParaRPr lang="en-US" sz="1200" dirty="0">
                        <a:latin typeface="Calibri" charset="0"/>
                        <a:ea typeface="Calibri" charset="0"/>
                        <a:cs typeface="Calibri" charset="0"/>
                      </a:endParaRPr>
                    </a:p>
                  </a:txBody>
                  <a:tcPr marL="91440" marR="91440" marT="45720" marB="45720" anchor="ctr">
                    <a:lnL w="12700" cap="flat" cmpd="sng" algn="ctr">
                      <a:solidFill>
                        <a:srgbClr val="E8DEE8"/>
                      </a:solidFill>
                      <a:prstDash val="solid"/>
                      <a:round/>
                      <a:headEnd type="none" w="med" len="med"/>
                      <a:tailEnd type="none" w="med" len="med"/>
                    </a:lnL>
                    <a:lnR w="12700" cap="flat" cmpd="sng" algn="ctr">
                      <a:solidFill>
                        <a:srgbClr val="E8DEE8"/>
                      </a:solidFill>
                      <a:prstDash val="solid"/>
                      <a:round/>
                      <a:headEnd type="none" w="med" len="med"/>
                      <a:tailEnd type="none" w="med" len="med"/>
                    </a:lnR>
                    <a:lnT w="12700" cap="flat" cmpd="sng" algn="ctr">
                      <a:solidFill>
                        <a:srgbClr val="E8DEE8"/>
                      </a:solidFill>
                      <a:prstDash val="solid"/>
                      <a:round/>
                      <a:headEnd type="none" w="med" len="med"/>
                      <a:tailEnd type="none" w="med" len="med"/>
                    </a:lnT>
                    <a:lnB w="12700" cap="flat" cmpd="sng" algn="ctr">
                      <a:solidFill>
                        <a:srgbClr val="E8DEE8"/>
                      </a:solidFill>
                      <a:prstDash val="solid"/>
                      <a:round/>
                      <a:headEnd type="none" w="med" len="med"/>
                      <a:tailEnd type="none" w="med" len="med"/>
                    </a:lnB>
                  </a:tcPr>
                </a:tc>
              </a:tr>
            </a:tbl>
          </a:graphicData>
        </a:graphic>
      </p:graphicFrame>
      <p:sp>
        <p:nvSpPr>
          <p:cNvPr id="5" name="Shape 2"/>
          <p:cNvSpPr/>
          <p:nvPr/>
        </p:nvSpPr>
        <p:spPr>
          <a:xfrm>
            <a:off x="7863840" y="1874520"/>
            <a:ext cx="3657600" cy="2962656"/>
          </a:xfrm>
          <a:prstGeom prst="roundRect">
            <a:avLst>
              <a:gd name="adj" fmla="val 3704"/>
            </a:avLst>
          </a:prstGeom>
          <a:solidFill>
            <a:srgbClr val="F8F4F7"/>
          </a:solidFill>
          <a:ln/>
          <a:effectLst>
            <a:outerShdw sx="100000" sy="100000" kx="0" ky="0" algn="bl" rotWithShape="0" blurRad="114300" dist="25400" dir="5400000">
              <a:srgbClr val="2A1638">
                <a:alpha val="12000"/>
              </a:srgbClr>
            </a:outerShdw>
          </a:effectLst>
        </p:spPr>
      </p:sp>
      <p:sp>
        <p:nvSpPr>
          <p:cNvPr id="6" name="Text 3"/>
          <p:cNvSpPr/>
          <p:nvPr/>
        </p:nvSpPr>
        <p:spPr>
          <a:xfrm>
            <a:off x="8138160" y="2084832"/>
            <a:ext cx="3108960" cy="685800"/>
          </a:xfrm>
          <a:prstGeom prst="rect">
            <a:avLst/>
          </a:prstGeom>
          <a:noFill/>
          <a:ln/>
        </p:spPr>
        <p:txBody>
          <a:bodyPr wrap="square" lIns="0" tIns="0" rIns="0" bIns="0" rtlCol="0" anchor="ctr"/>
          <a:lstStyle/>
          <a:p>
            <a:pPr indent="0" marL="0">
              <a:buNone/>
            </a:pPr>
            <a:r>
              <a:rPr lang="en-US" sz="3800" b="1" dirty="0">
                <a:solidFill>
                  <a:srgbClr val="C24E22"/>
                </a:solidFill>
                <a:latin typeface="Cambria" pitchFamily="34" charset="0"/>
                <a:ea typeface="Cambria" pitchFamily="34" charset="-122"/>
                <a:cs typeface="Cambria" pitchFamily="34" charset="-120"/>
              </a:rPr>
              <a:t>114 ms</a:t>
            </a:r>
            <a:endParaRPr lang="en-US" sz="3800" dirty="0"/>
          </a:p>
        </p:txBody>
      </p:sp>
      <p:sp>
        <p:nvSpPr>
          <p:cNvPr id="7" name="Text 4"/>
          <p:cNvSpPr/>
          <p:nvPr/>
        </p:nvSpPr>
        <p:spPr>
          <a:xfrm>
            <a:off x="8138160" y="2770632"/>
            <a:ext cx="3108960" cy="320040"/>
          </a:xfrm>
          <a:prstGeom prst="rect">
            <a:avLst/>
          </a:prstGeom>
          <a:noFill/>
          <a:ln/>
        </p:spPr>
        <p:txBody>
          <a:bodyPr wrap="square" lIns="0" tIns="0" rIns="0" bIns="0" rtlCol="0" anchor="ctr"/>
          <a:lstStyle/>
          <a:p>
            <a:pPr indent="0" marL="0">
              <a:buNone/>
            </a:pPr>
            <a:r>
              <a:rPr lang="en-US" sz="1300" b="1" dirty="0">
                <a:solidFill>
                  <a:srgbClr val="2A1638"/>
                </a:solidFill>
                <a:latin typeface="Calibri" pitchFamily="34" charset="0"/>
                <a:ea typeface="Calibri" pitchFamily="34" charset="-122"/>
                <a:cs typeface="Calibri" pitchFamily="34" charset="-120"/>
              </a:rPr>
              <a:t>de margen sobre el papel</a:t>
            </a:r>
            <a:endParaRPr lang="en-US" sz="1300" dirty="0"/>
          </a:p>
        </p:txBody>
      </p:sp>
      <p:sp>
        <p:nvSpPr>
          <p:cNvPr id="8" name="Text 5"/>
          <p:cNvSpPr/>
          <p:nvPr/>
        </p:nvSpPr>
        <p:spPr>
          <a:xfrm>
            <a:off x="8138160" y="3182112"/>
            <a:ext cx="3108960" cy="1508760"/>
          </a:xfrm>
          <a:prstGeom prst="rect">
            <a:avLst/>
          </a:prstGeom>
          <a:noFill/>
          <a:ln/>
        </p:spPr>
        <p:txBody>
          <a:bodyPr wrap="square" lIns="0" tIns="0" rIns="0" bIns="0" rtlCol="0" anchor="ctr"/>
          <a:lstStyle/>
          <a:p>
            <a:pPr indent="0" marL="0">
              <a:lnSpc>
                <a:spcPts val="1600"/>
              </a:lnSpc>
              <a:buNone/>
            </a:pPr>
            <a:r>
              <a:rPr lang="en-US" sz="1150" dirty="0">
                <a:solidFill>
                  <a:srgbClr val="6E5C7A"/>
                </a:solidFill>
                <a:latin typeface="Calibri" pitchFamily="34" charset="0"/>
                <a:ea typeface="Calibri" pitchFamily="34" charset="-122"/>
                <a:cs typeface="Calibri" pitchFamily="34" charset="-120"/>
              </a:rPr>
              <a:t>Cada etapa se midió por separado y sobre audios de distinta duración, así que la suma es una cota superior, no la latencia real.</a:t>
            </a:r>
            <a:endParaRPr lang="en-US" sz="1150" dirty="0"/>
          </a:p>
          <a:p>
            <a:pPr indent="0" marL="0">
              <a:lnSpc>
                <a:spcPts val="1600"/>
              </a:lnSpc>
              <a:buNone/>
            </a:pPr>
            <a:endParaRPr lang="en-US" sz="1150" dirty="0"/>
          </a:p>
          <a:p>
            <a:pPr indent="0" marL="0">
              <a:lnSpc>
                <a:spcPts val="1600"/>
              </a:lnSpc>
              <a:buNone/>
            </a:pPr>
            <a:r>
              <a:rPr lang="en-US" sz="1150" dirty="0">
                <a:solidFill>
                  <a:srgbClr val="6E5C7A"/>
                </a:solidFill>
                <a:latin typeface="Calibri" pitchFamily="34" charset="0"/>
                <a:ea typeface="Calibri" pitchFamily="34" charset="-122"/>
                <a:cs typeface="Calibri" pitchFamily="34" charset="-120"/>
              </a:rPr>
              <a:t>Con un margen tan estrecho, la medición integrada no es un trámite: es la que decide.</a:t>
            </a:r>
            <a:endParaRPr lang="en-US" sz="1150" dirty="0"/>
          </a:p>
        </p:txBody>
      </p:sp>
      <p:sp>
        <p:nvSpPr>
          <p:cNvPr id="9" name="Text 6"/>
          <p:cNvSpPr/>
          <p:nvPr/>
        </p:nvSpPr>
        <p:spPr>
          <a:xfrm>
            <a:off x="640080" y="5138928"/>
            <a:ext cx="6949440" cy="320040"/>
          </a:xfrm>
          <a:prstGeom prst="rect">
            <a:avLst/>
          </a:prstGeom>
          <a:noFill/>
          <a:ln/>
        </p:spPr>
        <p:txBody>
          <a:bodyPr wrap="square" lIns="0" tIns="0" rIns="0" bIns="0" rtlCol="0" anchor="ctr"/>
          <a:lstStyle/>
          <a:p>
            <a:pPr indent="0" marL="0">
              <a:buNone/>
            </a:pPr>
            <a:r>
              <a:rPr lang="en-US" sz="1400" b="1" dirty="0">
                <a:solidFill>
                  <a:srgbClr val="2A1638"/>
                </a:solidFill>
                <a:latin typeface="Calibri" pitchFamily="34" charset="0"/>
                <a:ea typeface="Calibri" pitchFamily="34" charset="-122"/>
                <a:cs typeface="Calibri" pitchFamily="34" charset="-120"/>
              </a:rPr>
              <a:t>Dentro del DSP, el reparto por etapa</a:t>
            </a:r>
            <a:endParaRPr lang="en-US" sz="1400" dirty="0"/>
          </a:p>
        </p:txBody>
      </p:sp>
      <p:sp>
        <p:nvSpPr>
          <p:cNvPr id="10" name="Shape 7"/>
          <p:cNvSpPr/>
          <p:nvPr/>
        </p:nvSpPr>
        <p:spPr>
          <a:xfrm>
            <a:off x="640080" y="5559552"/>
            <a:ext cx="1078992" cy="566928"/>
          </a:xfrm>
          <a:prstGeom prst="roundRect">
            <a:avLst>
              <a:gd name="adj" fmla="val 12903"/>
            </a:avLst>
          </a:prstGeom>
          <a:solidFill>
            <a:srgbClr val="EFE4EE"/>
          </a:solidFill>
          <a:ln/>
        </p:spPr>
      </p:sp>
      <p:sp>
        <p:nvSpPr>
          <p:cNvPr id="11" name="Text 8"/>
          <p:cNvSpPr/>
          <p:nvPr/>
        </p:nvSpPr>
        <p:spPr>
          <a:xfrm>
            <a:off x="640080" y="5614416"/>
            <a:ext cx="1078992" cy="274320"/>
          </a:xfrm>
          <a:prstGeom prst="rect">
            <a:avLst/>
          </a:prstGeom>
          <a:noFill/>
          <a:ln/>
        </p:spPr>
        <p:txBody>
          <a:bodyPr wrap="square" lIns="0" tIns="0" rIns="0" bIns="0" rtlCol="0" anchor="ctr"/>
          <a:lstStyle/>
          <a:p>
            <a:pPr algn="ctr" indent="0" marL="0">
              <a:buNone/>
            </a:pPr>
            <a:r>
              <a:rPr lang="en-US" sz="1300" b="1" dirty="0">
                <a:solidFill>
                  <a:srgbClr val="8C2F6B"/>
                </a:solidFill>
                <a:latin typeface="Calibri" pitchFamily="34" charset="0"/>
                <a:ea typeface="Calibri" pitchFamily="34" charset="-122"/>
                <a:cs typeface="Calibri" pitchFamily="34" charset="-120"/>
              </a:rPr>
              <a:t>10.70</a:t>
            </a:r>
            <a:endParaRPr lang="en-US" sz="1300" dirty="0"/>
          </a:p>
        </p:txBody>
      </p:sp>
      <p:sp>
        <p:nvSpPr>
          <p:cNvPr id="12" name="Text 9"/>
          <p:cNvSpPr/>
          <p:nvPr/>
        </p:nvSpPr>
        <p:spPr>
          <a:xfrm>
            <a:off x="640080" y="5870448"/>
            <a:ext cx="1078992" cy="228600"/>
          </a:xfrm>
          <a:prstGeom prst="rect">
            <a:avLst/>
          </a:prstGeom>
          <a:noFill/>
          <a:ln/>
        </p:spPr>
        <p:txBody>
          <a:bodyPr wrap="square" lIns="0" tIns="0" rIns="0" bIns="0" rtlCol="0" anchor="ctr"/>
          <a:lstStyle/>
          <a:p>
            <a:pPr algn="ctr" indent="0" marL="0">
              <a:buNone/>
            </a:pPr>
            <a:r>
              <a:rPr lang="en-US" sz="950" dirty="0">
                <a:solidFill>
                  <a:srgbClr val="6E5C7A"/>
                </a:solidFill>
                <a:latin typeface="Calibri" pitchFamily="34" charset="0"/>
                <a:ea typeface="Calibri" pitchFamily="34" charset="-122"/>
                <a:cs typeface="Calibri" pitchFamily="34" charset="-120"/>
              </a:rPr>
              <a:t>YIN</a:t>
            </a:r>
            <a:endParaRPr lang="en-US" sz="950" dirty="0"/>
          </a:p>
        </p:txBody>
      </p:sp>
      <p:sp>
        <p:nvSpPr>
          <p:cNvPr id="13" name="Shape 10"/>
          <p:cNvSpPr/>
          <p:nvPr/>
        </p:nvSpPr>
        <p:spPr>
          <a:xfrm>
            <a:off x="1801368" y="5559552"/>
            <a:ext cx="1078992" cy="566928"/>
          </a:xfrm>
          <a:prstGeom prst="roundRect">
            <a:avLst>
              <a:gd name="adj" fmla="val 12903"/>
            </a:avLst>
          </a:prstGeom>
          <a:solidFill>
            <a:srgbClr val="EFE4EE"/>
          </a:solidFill>
          <a:ln/>
        </p:spPr>
      </p:sp>
      <p:sp>
        <p:nvSpPr>
          <p:cNvPr id="14" name="Text 11"/>
          <p:cNvSpPr/>
          <p:nvPr/>
        </p:nvSpPr>
        <p:spPr>
          <a:xfrm>
            <a:off x="1801368" y="5614416"/>
            <a:ext cx="1078992" cy="274320"/>
          </a:xfrm>
          <a:prstGeom prst="rect">
            <a:avLst/>
          </a:prstGeom>
          <a:noFill/>
          <a:ln/>
        </p:spPr>
        <p:txBody>
          <a:bodyPr wrap="square" lIns="0" tIns="0" rIns="0" bIns="0" rtlCol="0" anchor="ctr"/>
          <a:lstStyle/>
          <a:p>
            <a:pPr algn="ctr" indent="0" marL="0">
              <a:buNone/>
            </a:pPr>
            <a:r>
              <a:rPr lang="en-US" sz="1300" b="1" dirty="0">
                <a:solidFill>
                  <a:srgbClr val="8C2F6B"/>
                </a:solidFill>
                <a:latin typeface="Calibri" pitchFamily="34" charset="0"/>
                <a:ea typeface="Calibri" pitchFamily="34" charset="-122"/>
                <a:cs typeface="Calibri" pitchFamily="34" charset="-120"/>
              </a:rPr>
              <a:t>4.83</a:t>
            </a:r>
            <a:endParaRPr lang="en-US" sz="1300" dirty="0"/>
          </a:p>
        </p:txBody>
      </p:sp>
      <p:sp>
        <p:nvSpPr>
          <p:cNvPr id="15" name="Text 12"/>
          <p:cNvSpPr/>
          <p:nvPr/>
        </p:nvSpPr>
        <p:spPr>
          <a:xfrm>
            <a:off x="1801368" y="5870448"/>
            <a:ext cx="1078992" cy="228600"/>
          </a:xfrm>
          <a:prstGeom prst="rect">
            <a:avLst/>
          </a:prstGeom>
          <a:noFill/>
          <a:ln/>
        </p:spPr>
        <p:txBody>
          <a:bodyPr wrap="square" lIns="0" tIns="0" rIns="0" bIns="0" rtlCol="0" anchor="ctr"/>
          <a:lstStyle/>
          <a:p>
            <a:pPr algn="ctr" indent="0" marL="0">
              <a:buNone/>
            </a:pPr>
            <a:r>
              <a:rPr lang="en-US" sz="950" dirty="0">
                <a:solidFill>
                  <a:srgbClr val="6E5C7A"/>
                </a:solidFill>
                <a:latin typeface="Calibri" pitchFamily="34" charset="0"/>
                <a:ea typeface="Calibri" pitchFamily="34" charset="-122"/>
                <a:cs typeface="Calibri" pitchFamily="34" charset="-120"/>
              </a:rPr>
              <a:t>Remuestreo</a:t>
            </a:r>
            <a:endParaRPr lang="en-US" sz="950" dirty="0"/>
          </a:p>
        </p:txBody>
      </p:sp>
      <p:sp>
        <p:nvSpPr>
          <p:cNvPr id="16" name="Shape 13"/>
          <p:cNvSpPr/>
          <p:nvPr/>
        </p:nvSpPr>
        <p:spPr>
          <a:xfrm>
            <a:off x="2962656" y="5559552"/>
            <a:ext cx="1078992" cy="566928"/>
          </a:xfrm>
          <a:prstGeom prst="roundRect">
            <a:avLst>
              <a:gd name="adj" fmla="val 12903"/>
            </a:avLst>
          </a:prstGeom>
          <a:solidFill>
            <a:srgbClr val="EFE4EE"/>
          </a:solidFill>
          <a:ln/>
        </p:spPr>
      </p:sp>
      <p:sp>
        <p:nvSpPr>
          <p:cNvPr id="17" name="Text 14"/>
          <p:cNvSpPr/>
          <p:nvPr/>
        </p:nvSpPr>
        <p:spPr>
          <a:xfrm>
            <a:off x="2962656" y="5614416"/>
            <a:ext cx="1078992" cy="274320"/>
          </a:xfrm>
          <a:prstGeom prst="rect">
            <a:avLst/>
          </a:prstGeom>
          <a:noFill/>
          <a:ln/>
        </p:spPr>
        <p:txBody>
          <a:bodyPr wrap="square" lIns="0" tIns="0" rIns="0" bIns="0" rtlCol="0" anchor="ctr"/>
          <a:lstStyle/>
          <a:p>
            <a:pPr algn="ctr" indent="0" marL="0">
              <a:buNone/>
            </a:pPr>
            <a:r>
              <a:rPr lang="en-US" sz="1300" b="1" dirty="0">
                <a:solidFill>
                  <a:srgbClr val="8C2F6B"/>
                </a:solidFill>
                <a:latin typeface="Calibri" pitchFamily="34" charset="0"/>
                <a:ea typeface="Calibri" pitchFamily="34" charset="-122"/>
                <a:cs typeface="Calibri" pitchFamily="34" charset="-120"/>
              </a:rPr>
              <a:t>3.04</a:t>
            </a:r>
            <a:endParaRPr lang="en-US" sz="1300" dirty="0"/>
          </a:p>
        </p:txBody>
      </p:sp>
      <p:sp>
        <p:nvSpPr>
          <p:cNvPr id="18" name="Text 15"/>
          <p:cNvSpPr/>
          <p:nvPr/>
        </p:nvSpPr>
        <p:spPr>
          <a:xfrm>
            <a:off x="2962656" y="5870448"/>
            <a:ext cx="1078992" cy="228600"/>
          </a:xfrm>
          <a:prstGeom prst="rect">
            <a:avLst/>
          </a:prstGeom>
          <a:noFill/>
          <a:ln/>
        </p:spPr>
        <p:txBody>
          <a:bodyPr wrap="square" lIns="0" tIns="0" rIns="0" bIns="0" rtlCol="0" anchor="ctr"/>
          <a:lstStyle/>
          <a:p>
            <a:pPr algn="ctr" indent="0" marL="0">
              <a:buNone/>
            </a:pPr>
            <a:r>
              <a:rPr lang="en-US" sz="950" dirty="0">
                <a:solidFill>
                  <a:srgbClr val="6E5C7A"/>
                </a:solidFill>
                <a:latin typeface="Calibri" pitchFamily="34" charset="0"/>
                <a:ea typeface="Calibri" pitchFamily="34" charset="-122"/>
                <a:cs typeface="Calibri" pitchFamily="34" charset="-120"/>
              </a:rPr>
              <a:t>MFCC</a:t>
            </a:r>
            <a:endParaRPr lang="en-US" sz="950" dirty="0"/>
          </a:p>
        </p:txBody>
      </p:sp>
      <p:sp>
        <p:nvSpPr>
          <p:cNvPr id="19" name="Shape 16"/>
          <p:cNvSpPr/>
          <p:nvPr/>
        </p:nvSpPr>
        <p:spPr>
          <a:xfrm>
            <a:off x="4123944" y="5559552"/>
            <a:ext cx="1078992" cy="566928"/>
          </a:xfrm>
          <a:prstGeom prst="roundRect">
            <a:avLst>
              <a:gd name="adj" fmla="val 12903"/>
            </a:avLst>
          </a:prstGeom>
          <a:solidFill>
            <a:srgbClr val="EFE4EE"/>
          </a:solidFill>
          <a:ln/>
        </p:spPr>
      </p:sp>
      <p:sp>
        <p:nvSpPr>
          <p:cNvPr id="20" name="Text 17"/>
          <p:cNvSpPr/>
          <p:nvPr/>
        </p:nvSpPr>
        <p:spPr>
          <a:xfrm>
            <a:off x="4123944" y="5614416"/>
            <a:ext cx="1078992" cy="274320"/>
          </a:xfrm>
          <a:prstGeom prst="rect">
            <a:avLst/>
          </a:prstGeom>
          <a:noFill/>
          <a:ln/>
        </p:spPr>
        <p:txBody>
          <a:bodyPr wrap="square" lIns="0" tIns="0" rIns="0" bIns="0" rtlCol="0" anchor="ctr"/>
          <a:lstStyle/>
          <a:p>
            <a:pPr algn="ctr" indent="0" marL="0">
              <a:buNone/>
            </a:pPr>
            <a:r>
              <a:rPr lang="en-US" sz="1300" b="1" dirty="0">
                <a:solidFill>
                  <a:srgbClr val="8C2F6B"/>
                </a:solidFill>
                <a:latin typeface="Calibri" pitchFamily="34" charset="0"/>
                <a:ea typeface="Calibri" pitchFamily="34" charset="-122"/>
                <a:cs typeface="Calibri" pitchFamily="34" charset="-120"/>
              </a:rPr>
              <a:t>2.41</a:t>
            </a:r>
            <a:endParaRPr lang="en-US" sz="1300" dirty="0"/>
          </a:p>
        </p:txBody>
      </p:sp>
      <p:sp>
        <p:nvSpPr>
          <p:cNvPr id="21" name="Text 18"/>
          <p:cNvSpPr/>
          <p:nvPr/>
        </p:nvSpPr>
        <p:spPr>
          <a:xfrm>
            <a:off x="4123944" y="5870448"/>
            <a:ext cx="1078992" cy="228600"/>
          </a:xfrm>
          <a:prstGeom prst="rect">
            <a:avLst/>
          </a:prstGeom>
          <a:noFill/>
          <a:ln/>
        </p:spPr>
        <p:txBody>
          <a:bodyPr wrap="square" lIns="0" tIns="0" rIns="0" bIns="0" rtlCol="0" anchor="ctr"/>
          <a:lstStyle/>
          <a:p>
            <a:pPr algn="ctr" indent="0" marL="0">
              <a:buNone/>
            </a:pPr>
            <a:r>
              <a:rPr lang="en-US" sz="950" dirty="0">
                <a:solidFill>
                  <a:srgbClr val="6E5C7A"/>
                </a:solidFill>
                <a:latin typeface="Calibri" pitchFamily="34" charset="0"/>
                <a:ea typeface="Calibri" pitchFamily="34" charset="-122"/>
                <a:cs typeface="Calibri" pitchFamily="34" charset="-120"/>
              </a:rPr>
              <a:t>STFT</a:t>
            </a:r>
            <a:endParaRPr lang="en-US" sz="950" dirty="0"/>
          </a:p>
        </p:txBody>
      </p:sp>
      <p:sp>
        <p:nvSpPr>
          <p:cNvPr id="22" name="Shape 19"/>
          <p:cNvSpPr/>
          <p:nvPr/>
        </p:nvSpPr>
        <p:spPr>
          <a:xfrm>
            <a:off x="5285232" y="5559552"/>
            <a:ext cx="1078992" cy="566928"/>
          </a:xfrm>
          <a:prstGeom prst="roundRect">
            <a:avLst>
              <a:gd name="adj" fmla="val 12903"/>
            </a:avLst>
          </a:prstGeom>
          <a:solidFill>
            <a:srgbClr val="EFE4EE"/>
          </a:solidFill>
          <a:ln/>
        </p:spPr>
      </p:sp>
      <p:sp>
        <p:nvSpPr>
          <p:cNvPr id="23" name="Text 20"/>
          <p:cNvSpPr/>
          <p:nvPr/>
        </p:nvSpPr>
        <p:spPr>
          <a:xfrm>
            <a:off x="5285232" y="5614416"/>
            <a:ext cx="1078992" cy="274320"/>
          </a:xfrm>
          <a:prstGeom prst="rect">
            <a:avLst/>
          </a:prstGeom>
          <a:noFill/>
          <a:ln/>
        </p:spPr>
        <p:txBody>
          <a:bodyPr wrap="square" lIns="0" tIns="0" rIns="0" bIns="0" rtlCol="0" anchor="ctr"/>
          <a:lstStyle/>
          <a:p>
            <a:pPr algn="ctr" indent="0" marL="0">
              <a:buNone/>
            </a:pPr>
            <a:r>
              <a:rPr lang="en-US" sz="1300" b="1" dirty="0">
                <a:solidFill>
                  <a:srgbClr val="8C2F6B"/>
                </a:solidFill>
                <a:latin typeface="Calibri" pitchFamily="34" charset="0"/>
                <a:ea typeface="Calibri" pitchFamily="34" charset="-122"/>
                <a:cs typeface="Calibri" pitchFamily="34" charset="-120"/>
              </a:rPr>
              <a:t>0.32</a:t>
            </a:r>
            <a:endParaRPr lang="en-US" sz="1300" dirty="0"/>
          </a:p>
        </p:txBody>
      </p:sp>
      <p:sp>
        <p:nvSpPr>
          <p:cNvPr id="24" name="Text 21"/>
          <p:cNvSpPr/>
          <p:nvPr/>
        </p:nvSpPr>
        <p:spPr>
          <a:xfrm>
            <a:off x="5285232" y="5870448"/>
            <a:ext cx="1078992" cy="228600"/>
          </a:xfrm>
          <a:prstGeom prst="rect">
            <a:avLst/>
          </a:prstGeom>
          <a:noFill/>
          <a:ln/>
        </p:spPr>
        <p:txBody>
          <a:bodyPr wrap="square" lIns="0" tIns="0" rIns="0" bIns="0" rtlCol="0" anchor="ctr"/>
          <a:lstStyle/>
          <a:p>
            <a:pPr algn="ctr" indent="0" marL="0">
              <a:buNone/>
            </a:pPr>
            <a:r>
              <a:rPr lang="en-US" sz="950" dirty="0">
                <a:solidFill>
                  <a:srgbClr val="6E5C7A"/>
                </a:solidFill>
                <a:latin typeface="Calibri" pitchFamily="34" charset="0"/>
                <a:ea typeface="Calibri" pitchFamily="34" charset="-122"/>
                <a:cs typeface="Calibri" pitchFamily="34" charset="-120"/>
              </a:rPr>
              <a:t>Preproceso</a:t>
            </a:r>
            <a:endParaRPr lang="en-US" sz="950" dirty="0"/>
          </a:p>
        </p:txBody>
      </p:sp>
      <p:sp>
        <p:nvSpPr>
          <p:cNvPr id="25" name="Shape 22"/>
          <p:cNvSpPr/>
          <p:nvPr/>
        </p:nvSpPr>
        <p:spPr>
          <a:xfrm>
            <a:off x="6446520" y="5559552"/>
            <a:ext cx="1078992" cy="566928"/>
          </a:xfrm>
          <a:prstGeom prst="roundRect">
            <a:avLst>
              <a:gd name="adj" fmla="val 12903"/>
            </a:avLst>
          </a:prstGeom>
          <a:solidFill>
            <a:srgbClr val="EFE4EE"/>
          </a:solidFill>
          <a:ln/>
        </p:spPr>
      </p:sp>
      <p:sp>
        <p:nvSpPr>
          <p:cNvPr id="26" name="Text 23"/>
          <p:cNvSpPr/>
          <p:nvPr/>
        </p:nvSpPr>
        <p:spPr>
          <a:xfrm>
            <a:off x="6446520" y="5614416"/>
            <a:ext cx="1078992" cy="274320"/>
          </a:xfrm>
          <a:prstGeom prst="rect">
            <a:avLst/>
          </a:prstGeom>
          <a:noFill/>
          <a:ln/>
        </p:spPr>
        <p:txBody>
          <a:bodyPr wrap="square" lIns="0" tIns="0" rIns="0" bIns="0" rtlCol="0" anchor="ctr"/>
          <a:lstStyle/>
          <a:p>
            <a:pPr algn="ctr" indent="0" marL="0">
              <a:buNone/>
            </a:pPr>
            <a:r>
              <a:rPr lang="en-US" sz="1300" b="1" dirty="0">
                <a:solidFill>
                  <a:srgbClr val="8C2F6B"/>
                </a:solidFill>
                <a:latin typeface="Calibri" pitchFamily="34" charset="0"/>
                <a:ea typeface="Calibri" pitchFamily="34" charset="-122"/>
                <a:cs typeface="Calibri" pitchFamily="34" charset="-120"/>
              </a:rPr>
              <a:t>0.06</a:t>
            </a:r>
            <a:endParaRPr lang="en-US" sz="1300" dirty="0"/>
          </a:p>
        </p:txBody>
      </p:sp>
      <p:sp>
        <p:nvSpPr>
          <p:cNvPr id="27" name="Text 24"/>
          <p:cNvSpPr/>
          <p:nvPr/>
        </p:nvSpPr>
        <p:spPr>
          <a:xfrm>
            <a:off x="6446520" y="5870448"/>
            <a:ext cx="1078992" cy="228600"/>
          </a:xfrm>
          <a:prstGeom prst="rect">
            <a:avLst/>
          </a:prstGeom>
          <a:noFill/>
          <a:ln/>
        </p:spPr>
        <p:txBody>
          <a:bodyPr wrap="square" lIns="0" tIns="0" rIns="0" bIns="0" rtlCol="0" anchor="ctr"/>
          <a:lstStyle/>
          <a:p>
            <a:pPr algn="ctr" indent="0" marL="0">
              <a:buNone/>
            </a:pPr>
            <a:r>
              <a:rPr lang="en-US" sz="950" dirty="0">
                <a:solidFill>
                  <a:srgbClr val="6E5C7A"/>
                </a:solidFill>
                <a:latin typeface="Calibri" pitchFamily="34" charset="0"/>
                <a:ea typeface="Calibri" pitchFamily="34" charset="-122"/>
                <a:cs typeface="Calibri" pitchFamily="34" charset="-120"/>
              </a:rPr>
              <a:t>VAD</a:t>
            </a:r>
            <a:endParaRPr lang="en-US" sz="950" dirty="0"/>
          </a:p>
        </p:txBody>
      </p:sp>
      <p:sp>
        <p:nvSpPr>
          <p:cNvPr id="28" name="Text 25"/>
          <p:cNvSpPr/>
          <p:nvPr/>
        </p:nvSpPr>
        <p:spPr>
          <a:xfrm>
            <a:off x="7726680" y="5559552"/>
            <a:ext cx="3840480" cy="566928"/>
          </a:xfrm>
          <a:prstGeom prst="rect">
            <a:avLst/>
          </a:prstGeom>
          <a:noFill/>
          <a:ln/>
        </p:spPr>
        <p:txBody>
          <a:bodyPr wrap="square" lIns="0" tIns="0" rIns="0" bIns="0" rtlCol="0" anchor="ctr"/>
          <a:lstStyle/>
          <a:p>
            <a:pPr indent="0" marL="0">
              <a:lnSpc>
                <a:spcPts val="1500"/>
              </a:lnSpc>
              <a:buNone/>
            </a:pPr>
            <a:r>
              <a:rPr lang="en-US" sz="1100" i="1" dirty="0">
                <a:solidFill>
                  <a:srgbClr val="6E5C7A"/>
                </a:solidFill>
                <a:latin typeface="Calibri" pitchFamily="34" charset="0"/>
                <a:ea typeface="Calibri" pitchFamily="34" charset="-122"/>
                <a:cs typeface="Calibri" pitchFamily="34" charset="-120"/>
              </a:rPr>
              <a:t>ms por segundo de audio</a:t>
            </a:r>
            <a:endParaRPr lang="en-US" sz="1100" dirty="0"/>
          </a:p>
          <a:p>
            <a:pPr indent="0" marL="0">
              <a:lnSpc>
                <a:spcPts val="1500"/>
              </a:lnSpc>
              <a:buNone/>
            </a:pPr>
            <a:r>
              <a:rPr lang="en-US" sz="1100" i="1" dirty="0">
                <a:solidFill>
                  <a:srgbClr val="6E5C7A"/>
                </a:solidFill>
                <a:latin typeface="Calibri" pitchFamily="34" charset="0"/>
                <a:ea typeface="Calibri" pitchFamily="34" charset="-122"/>
                <a:cs typeface="Calibri" pitchFamily="34" charset="-120"/>
              </a:rPr>
              <a:t>2.14 % de un núcleo en total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4F7"/>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2A1638"/>
                </a:solidFill>
                <a:latin typeface="Cambria" pitchFamily="34" charset="0"/>
                <a:ea typeface="Cambria" pitchFamily="34" charset="-122"/>
                <a:cs typeface="Cambria" pitchFamily="34" charset="-120"/>
              </a:rPr>
              <a:t>Lo que falta para el 8 de septiembre</a:t>
            </a:r>
            <a:endParaRPr lang="en-US" sz="3600" dirty="0"/>
          </a:p>
        </p:txBody>
      </p:sp>
      <p:sp>
        <p:nvSpPr>
          <p:cNvPr id="3" name="Text 1"/>
          <p:cNvSpPr/>
          <p:nvPr/>
        </p:nvSpPr>
        <p:spPr>
          <a:xfrm>
            <a:off x="640080" y="1152144"/>
            <a:ext cx="10881360" cy="365760"/>
          </a:xfrm>
          <a:prstGeom prst="rect">
            <a:avLst/>
          </a:prstGeom>
          <a:noFill/>
          <a:ln/>
        </p:spPr>
        <p:txBody>
          <a:bodyPr wrap="square" lIns="0" tIns="0" rIns="0" bIns="0" rtlCol="0" anchor="ctr"/>
          <a:lstStyle/>
          <a:p>
            <a:pPr indent="0" marL="0">
              <a:buNone/>
            </a:pPr>
            <a:r>
              <a:rPr lang="en-US" sz="1500" dirty="0">
                <a:solidFill>
                  <a:srgbClr val="6E5C7A"/>
                </a:solidFill>
                <a:latin typeface="Calibri" pitchFamily="34" charset="0"/>
                <a:ea typeface="Calibri" pitchFamily="34" charset="-122"/>
                <a:cs typeface="Calibri" pitchFamily="34" charset="-120"/>
              </a:rPr>
              <a:t>Ordenado por lo que decide</a:t>
            </a:r>
            <a:endParaRPr lang="en-US" sz="1500" dirty="0"/>
          </a:p>
        </p:txBody>
      </p:sp>
      <p:sp>
        <p:nvSpPr>
          <p:cNvPr id="4" name="Shape 2"/>
          <p:cNvSpPr/>
          <p:nvPr/>
        </p:nvSpPr>
        <p:spPr>
          <a:xfrm>
            <a:off x="640080" y="1874520"/>
            <a:ext cx="10881360" cy="713232"/>
          </a:xfrm>
          <a:prstGeom prst="roundRect">
            <a:avLst>
              <a:gd name="adj" fmla="val 15385"/>
            </a:avLst>
          </a:prstGeom>
          <a:solidFill>
            <a:srgbClr val="FFFFFF"/>
          </a:solidFill>
          <a:ln/>
          <a:effectLst>
            <a:outerShdw sx="100000" sy="100000" kx="0" ky="0" algn="bl" rotWithShape="0" blurRad="114300" dist="25400" dir="5400000">
              <a:srgbClr val="2A1638">
                <a:alpha val="12000"/>
              </a:srgbClr>
            </a:outerShdw>
          </a:effectLst>
        </p:spPr>
      </p:sp>
      <p:sp>
        <p:nvSpPr>
          <p:cNvPr id="5" name="Shape 3"/>
          <p:cNvSpPr/>
          <p:nvPr/>
        </p:nvSpPr>
        <p:spPr>
          <a:xfrm>
            <a:off x="914400" y="2112264"/>
            <a:ext cx="237744" cy="237744"/>
          </a:xfrm>
          <a:prstGeom prst="ellipse">
            <a:avLst/>
          </a:prstGeom>
          <a:solidFill>
            <a:srgbClr val="C24E22"/>
          </a:solidFill>
          <a:ln/>
        </p:spPr>
      </p:sp>
      <p:sp>
        <p:nvSpPr>
          <p:cNvPr id="6" name="Text 4"/>
          <p:cNvSpPr/>
          <p:nvPr/>
        </p:nvSpPr>
        <p:spPr>
          <a:xfrm>
            <a:off x="1371600" y="1874520"/>
            <a:ext cx="3931920" cy="713232"/>
          </a:xfrm>
          <a:prstGeom prst="rect">
            <a:avLst/>
          </a:prstGeom>
          <a:noFill/>
          <a:ln/>
        </p:spPr>
        <p:txBody>
          <a:bodyPr wrap="square" lIns="0" tIns="0" rIns="0" bIns="0" rtlCol="0" anchor="ctr"/>
          <a:lstStyle/>
          <a:p>
            <a:pPr indent="0" marL="0">
              <a:buNone/>
            </a:pPr>
            <a:r>
              <a:rPr lang="en-US" sz="1350" b="1" dirty="0">
                <a:solidFill>
                  <a:srgbClr val="2A1638"/>
                </a:solidFill>
                <a:latin typeface="Calibri" pitchFamily="34" charset="0"/>
                <a:ea typeface="Calibri" pitchFamily="34" charset="-122"/>
                <a:cs typeface="Calibri" pitchFamily="34" charset="-120"/>
              </a:rPr>
              <a:t>Medir la combinación de las dos señales</a:t>
            </a:r>
            <a:endParaRPr lang="en-US" sz="1350" dirty="0"/>
          </a:p>
        </p:txBody>
      </p:sp>
      <p:sp>
        <p:nvSpPr>
          <p:cNvPr id="7" name="Text 5"/>
          <p:cNvSpPr/>
          <p:nvPr/>
        </p:nvSpPr>
        <p:spPr>
          <a:xfrm>
            <a:off x="5394960" y="1874520"/>
            <a:ext cx="5943600" cy="713232"/>
          </a:xfrm>
          <a:prstGeom prst="rect">
            <a:avLst/>
          </a:prstGeom>
          <a:noFill/>
          <a:ln/>
        </p:spPr>
        <p:txBody>
          <a:bodyPr wrap="square" lIns="0" tIns="0" rIns="0" bIns="0" rtlCol="0" anchor="ctr"/>
          <a:lstStyle/>
          <a:p>
            <a:pPr indent="0" marL="0">
              <a:buNone/>
            </a:pPr>
            <a:r>
              <a:rPr lang="en-US" sz="1200" dirty="0">
                <a:solidFill>
                  <a:srgbClr val="6E5C7A"/>
                </a:solidFill>
                <a:latin typeface="Calibri" pitchFamily="34" charset="0"/>
                <a:ea typeface="Calibri" pitchFamily="34" charset="-122"/>
                <a:cs typeface="Calibri" pitchFamily="34" charset="-120"/>
              </a:rPr>
              <a:t>Decide si el requisito de pronunciación se presenta cumplido con su limitación, o como limitación declarada.</a:t>
            </a:r>
            <a:endParaRPr lang="en-US" sz="1200" dirty="0"/>
          </a:p>
        </p:txBody>
      </p:sp>
      <p:sp>
        <p:nvSpPr>
          <p:cNvPr id="8" name="Shape 6"/>
          <p:cNvSpPr/>
          <p:nvPr/>
        </p:nvSpPr>
        <p:spPr>
          <a:xfrm>
            <a:off x="640080" y="2715768"/>
            <a:ext cx="10881360" cy="713232"/>
          </a:xfrm>
          <a:prstGeom prst="roundRect">
            <a:avLst>
              <a:gd name="adj" fmla="val 15385"/>
            </a:avLst>
          </a:prstGeom>
          <a:solidFill>
            <a:srgbClr val="FFFFFF"/>
          </a:solidFill>
          <a:ln/>
          <a:effectLst>
            <a:outerShdw sx="100000" sy="100000" kx="0" ky="0" algn="bl" rotWithShape="0" blurRad="114300" dist="25400" dir="5400000">
              <a:srgbClr val="2A1638">
                <a:alpha val="12000"/>
              </a:srgbClr>
            </a:outerShdw>
          </a:effectLst>
        </p:spPr>
      </p:sp>
      <p:sp>
        <p:nvSpPr>
          <p:cNvPr id="9" name="Shape 7"/>
          <p:cNvSpPr/>
          <p:nvPr/>
        </p:nvSpPr>
        <p:spPr>
          <a:xfrm>
            <a:off x="914400" y="2953512"/>
            <a:ext cx="237744" cy="237744"/>
          </a:xfrm>
          <a:prstGeom prst="ellipse">
            <a:avLst/>
          </a:prstGeom>
          <a:solidFill>
            <a:srgbClr val="C24E22"/>
          </a:solidFill>
          <a:ln/>
        </p:spPr>
      </p:sp>
      <p:sp>
        <p:nvSpPr>
          <p:cNvPr id="10" name="Text 8"/>
          <p:cNvSpPr/>
          <p:nvPr/>
        </p:nvSpPr>
        <p:spPr>
          <a:xfrm>
            <a:off x="1371600" y="2715768"/>
            <a:ext cx="3931920" cy="713232"/>
          </a:xfrm>
          <a:prstGeom prst="rect">
            <a:avLst/>
          </a:prstGeom>
          <a:noFill/>
          <a:ln/>
        </p:spPr>
        <p:txBody>
          <a:bodyPr wrap="square" lIns="0" tIns="0" rIns="0" bIns="0" rtlCol="0" anchor="ctr"/>
          <a:lstStyle/>
          <a:p>
            <a:pPr indent="0" marL="0">
              <a:buNone/>
            </a:pPr>
            <a:r>
              <a:rPr lang="en-US" sz="1350" b="1" dirty="0">
                <a:solidFill>
                  <a:srgbClr val="2A1638"/>
                </a:solidFill>
                <a:latin typeface="Calibri" pitchFamily="34" charset="0"/>
                <a:ea typeface="Calibri" pitchFamily="34" charset="-122"/>
                <a:cs typeface="Calibri" pitchFamily="34" charset="-120"/>
              </a:rPr>
              <a:t>Medir la latencia del turno integrado</a:t>
            </a:r>
            <a:endParaRPr lang="en-US" sz="1350" dirty="0"/>
          </a:p>
        </p:txBody>
      </p:sp>
      <p:sp>
        <p:nvSpPr>
          <p:cNvPr id="11" name="Text 9"/>
          <p:cNvSpPr/>
          <p:nvPr/>
        </p:nvSpPr>
        <p:spPr>
          <a:xfrm>
            <a:off x="5394960" y="2715768"/>
            <a:ext cx="5943600" cy="713232"/>
          </a:xfrm>
          <a:prstGeom prst="rect">
            <a:avLst/>
          </a:prstGeom>
          <a:noFill/>
          <a:ln/>
        </p:spPr>
        <p:txBody>
          <a:bodyPr wrap="square" lIns="0" tIns="0" rIns="0" bIns="0" rtlCol="0" anchor="ctr"/>
          <a:lstStyle/>
          <a:p>
            <a:pPr indent="0" marL="0">
              <a:buNone/>
            </a:pPr>
            <a:r>
              <a:rPr lang="en-US" sz="1200" dirty="0">
                <a:solidFill>
                  <a:srgbClr val="6E5C7A"/>
                </a:solidFill>
                <a:latin typeface="Calibri" pitchFamily="34" charset="0"/>
                <a:ea typeface="Calibri" pitchFamily="34" charset="-122"/>
                <a:cs typeface="Calibri" pitchFamily="34" charset="-120"/>
              </a:rPr>
              <a:t>Con 114 ms de margen sobre el papel, es la medición que confirma o rompe el presupuesto.</a:t>
            </a:r>
            <a:endParaRPr lang="en-US" sz="1200" dirty="0"/>
          </a:p>
        </p:txBody>
      </p:sp>
      <p:sp>
        <p:nvSpPr>
          <p:cNvPr id="12" name="Shape 10"/>
          <p:cNvSpPr/>
          <p:nvPr/>
        </p:nvSpPr>
        <p:spPr>
          <a:xfrm>
            <a:off x="640080" y="3557016"/>
            <a:ext cx="10881360" cy="713232"/>
          </a:xfrm>
          <a:prstGeom prst="roundRect">
            <a:avLst>
              <a:gd name="adj" fmla="val 15385"/>
            </a:avLst>
          </a:prstGeom>
          <a:solidFill>
            <a:srgbClr val="FFFFFF"/>
          </a:solidFill>
          <a:ln/>
          <a:effectLst>
            <a:outerShdw sx="100000" sy="100000" kx="0" ky="0" algn="bl" rotWithShape="0" blurRad="114300" dist="25400" dir="5400000">
              <a:srgbClr val="2A1638">
                <a:alpha val="12000"/>
              </a:srgbClr>
            </a:outerShdw>
          </a:effectLst>
        </p:spPr>
      </p:sp>
      <p:sp>
        <p:nvSpPr>
          <p:cNvPr id="13" name="Shape 11"/>
          <p:cNvSpPr/>
          <p:nvPr/>
        </p:nvSpPr>
        <p:spPr>
          <a:xfrm>
            <a:off x="914400" y="3794760"/>
            <a:ext cx="237744" cy="237744"/>
          </a:xfrm>
          <a:prstGeom prst="ellipse">
            <a:avLst/>
          </a:prstGeom>
          <a:solidFill>
            <a:srgbClr val="C24E22"/>
          </a:solidFill>
          <a:ln/>
        </p:spPr>
      </p:sp>
      <p:sp>
        <p:nvSpPr>
          <p:cNvPr id="14" name="Text 12"/>
          <p:cNvSpPr/>
          <p:nvPr/>
        </p:nvSpPr>
        <p:spPr>
          <a:xfrm>
            <a:off x="1371600" y="3557016"/>
            <a:ext cx="3931920" cy="713232"/>
          </a:xfrm>
          <a:prstGeom prst="rect">
            <a:avLst/>
          </a:prstGeom>
          <a:noFill/>
          <a:ln/>
        </p:spPr>
        <p:txBody>
          <a:bodyPr wrap="square" lIns="0" tIns="0" rIns="0" bIns="0" rtlCol="0" anchor="ctr"/>
          <a:lstStyle/>
          <a:p>
            <a:pPr indent="0" marL="0">
              <a:buNone/>
            </a:pPr>
            <a:r>
              <a:rPr lang="en-US" sz="1350" b="1" dirty="0">
                <a:solidFill>
                  <a:srgbClr val="2A1638"/>
                </a:solidFill>
                <a:latin typeface="Calibri" pitchFamily="34" charset="0"/>
                <a:ea typeface="Calibri" pitchFamily="34" charset="-122"/>
                <a:cs typeface="Calibri" pitchFamily="34" charset="-120"/>
              </a:rPr>
              <a:t>Verificar el arranque sin conexión</a:t>
            </a:r>
            <a:endParaRPr lang="en-US" sz="1350" dirty="0"/>
          </a:p>
        </p:txBody>
      </p:sp>
      <p:sp>
        <p:nvSpPr>
          <p:cNvPr id="15" name="Text 13"/>
          <p:cNvSpPr/>
          <p:nvPr/>
        </p:nvSpPr>
        <p:spPr>
          <a:xfrm>
            <a:off x="5394960" y="3557016"/>
            <a:ext cx="5943600" cy="713232"/>
          </a:xfrm>
          <a:prstGeom prst="rect">
            <a:avLst/>
          </a:prstGeom>
          <a:noFill/>
          <a:ln/>
        </p:spPr>
        <p:txBody>
          <a:bodyPr wrap="square" lIns="0" tIns="0" rIns="0" bIns="0" rtlCol="0" anchor="ctr"/>
          <a:lstStyle/>
          <a:p>
            <a:pPr indent="0" marL="0">
              <a:buNone/>
            </a:pPr>
            <a:r>
              <a:rPr lang="en-US" sz="1200" dirty="0">
                <a:solidFill>
                  <a:srgbClr val="6E5C7A"/>
                </a:solidFill>
                <a:latin typeface="Calibri" pitchFamily="34" charset="0"/>
                <a:ea typeface="Calibri" pitchFamily="34" charset="-122"/>
                <a:cs typeface="Calibri" pitchFamily="34" charset="-120"/>
              </a:rPr>
              <a:t>Sostiene el argumento de accesibilidad: está implementado, pero no se ha ejercido en modo avión.</a:t>
            </a:r>
            <a:endParaRPr lang="en-US" sz="1200" dirty="0"/>
          </a:p>
        </p:txBody>
      </p:sp>
      <p:sp>
        <p:nvSpPr>
          <p:cNvPr id="16" name="Shape 14"/>
          <p:cNvSpPr/>
          <p:nvPr/>
        </p:nvSpPr>
        <p:spPr>
          <a:xfrm>
            <a:off x="640080" y="4398264"/>
            <a:ext cx="10881360" cy="713232"/>
          </a:xfrm>
          <a:prstGeom prst="roundRect">
            <a:avLst>
              <a:gd name="adj" fmla="val 15385"/>
            </a:avLst>
          </a:prstGeom>
          <a:solidFill>
            <a:srgbClr val="FFFFFF"/>
          </a:solidFill>
          <a:ln/>
          <a:effectLst>
            <a:outerShdw sx="100000" sy="100000" kx="0" ky="0" algn="bl" rotWithShape="0" blurRad="114300" dist="25400" dir="5400000">
              <a:srgbClr val="2A1638">
                <a:alpha val="12000"/>
              </a:srgbClr>
            </a:outerShdw>
          </a:effectLst>
        </p:spPr>
      </p:sp>
      <p:sp>
        <p:nvSpPr>
          <p:cNvPr id="17" name="Shape 15"/>
          <p:cNvSpPr/>
          <p:nvPr/>
        </p:nvSpPr>
        <p:spPr>
          <a:xfrm>
            <a:off x="914400" y="4636008"/>
            <a:ext cx="237744" cy="237744"/>
          </a:xfrm>
          <a:prstGeom prst="ellipse">
            <a:avLst/>
          </a:prstGeom>
          <a:solidFill>
            <a:srgbClr val="8C2F6B"/>
          </a:solidFill>
          <a:ln/>
        </p:spPr>
      </p:sp>
      <p:sp>
        <p:nvSpPr>
          <p:cNvPr id="18" name="Text 16"/>
          <p:cNvSpPr/>
          <p:nvPr/>
        </p:nvSpPr>
        <p:spPr>
          <a:xfrm>
            <a:off x="1371600" y="4398264"/>
            <a:ext cx="3931920" cy="713232"/>
          </a:xfrm>
          <a:prstGeom prst="rect">
            <a:avLst/>
          </a:prstGeom>
          <a:noFill/>
          <a:ln/>
        </p:spPr>
        <p:txBody>
          <a:bodyPr wrap="square" lIns="0" tIns="0" rIns="0" bIns="0" rtlCol="0" anchor="ctr"/>
          <a:lstStyle/>
          <a:p>
            <a:pPr indent="0" marL="0">
              <a:buNone/>
            </a:pPr>
            <a:r>
              <a:rPr lang="en-US" sz="1350" b="1" dirty="0">
                <a:solidFill>
                  <a:srgbClr val="2A1638"/>
                </a:solidFill>
                <a:latin typeface="Calibri" pitchFamily="34" charset="0"/>
                <a:ea typeface="Calibri" pitchFamily="34" charset="-122"/>
                <a:cs typeface="Calibri" pitchFamily="34" charset="-120"/>
              </a:rPr>
              <a:t>Normalizar cifras antes de sintetizar</a:t>
            </a:r>
            <a:endParaRPr lang="en-US" sz="1350" dirty="0"/>
          </a:p>
        </p:txBody>
      </p:sp>
      <p:sp>
        <p:nvSpPr>
          <p:cNvPr id="19" name="Text 17"/>
          <p:cNvSpPr/>
          <p:nvPr/>
        </p:nvSpPr>
        <p:spPr>
          <a:xfrm>
            <a:off x="5394960" y="4398264"/>
            <a:ext cx="5943600" cy="713232"/>
          </a:xfrm>
          <a:prstGeom prst="rect">
            <a:avLst/>
          </a:prstGeom>
          <a:noFill/>
          <a:ln/>
        </p:spPr>
        <p:txBody>
          <a:bodyPr wrap="square" lIns="0" tIns="0" rIns="0" bIns="0" rtlCol="0" anchor="ctr"/>
          <a:lstStyle/>
          <a:p>
            <a:pPr indent="0" marL="0">
              <a:buNone/>
            </a:pPr>
            <a:r>
              <a:rPr lang="en-US" sz="1200" dirty="0">
                <a:solidFill>
                  <a:srgbClr val="6E5C7A"/>
                </a:solidFill>
                <a:latin typeface="Calibri" pitchFamily="34" charset="0"/>
                <a:ea typeface="Calibri" pitchFamily="34" charset="-122"/>
                <a:cs typeface="Calibri" pitchFamily="34" charset="-120"/>
              </a:rPr>
              <a:t>Un tutor de conversación que enmudece ante un precio falla en el uso más común del idioma.</a:t>
            </a:r>
            <a:endParaRPr lang="en-US" sz="1200" dirty="0"/>
          </a:p>
        </p:txBody>
      </p:sp>
      <p:sp>
        <p:nvSpPr>
          <p:cNvPr id="20" name="Shape 18"/>
          <p:cNvSpPr/>
          <p:nvPr/>
        </p:nvSpPr>
        <p:spPr>
          <a:xfrm>
            <a:off x="640080" y="5239512"/>
            <a:ext cx="10881360" cy="713232"/>
          </a:xfrm>
          <a:prstGeom prst="roundRect">
            <a:avLst>
              <a:gd name="adj" fmla="val 15385"/>
            </a:avLst>
          </a:prstGeom>
          <a:solidFill>
            <a:srgbClr val="FFFFFF"/>
          </a:solidFill>
          <a:ln/>
          <a:effectLst>
            <a:outerShdw sx="100000" sy="100000" kx="0" ky="0" algn="bl" rotWithShape="0" blurRad="114300" dist="25400" dir="5400000">
              <a:srgbClr val="2A1638">
                <a:alpha val="12000"/>
              </a:srgbClr>
            </a:outerShdw>
          </a:effectLst>
        </p:spPr>
      </p:sp>
      <p:sp>
        <p:nvSpPr>
          <p:cNvPr id="21" name="Shape 19"/>
          <p:cNvSpPr/>
          <p:nvPr/>
        </p:nvSpPr>
        <p:spPr>
          <a:xfrm>
            <a:off x="914400" y="5477256"/>
            <a:ext cx="237744" cy="237744"/>
          </a:xfrm>
          <a:prstGeom prst="ellipse">
            <a:avLst/>
          </a:prstGeom>
          <a:solidFill>
            <a:srgbClr val="6E5C7A"/>
          </a:solidFill>
          <a:ln/>
        </p:spPr>
      </p:sp>
      <p:sp>
        <p:nvSpPr>
          <p:cNvPr id="22" name="Text 20"/>
          <p:cNvSpPr/>
          <p:nvPr/>
        </p:nvSpPr>
        <p:spPr>
          <a:xfrm>
            <a:off x="1371600" y="5239512"/>
            <a:ext cx="3931920" cy="713232"/>
          </a:xfrm>
          <a:prstGeom prst="rect">
            <a:avLst/>
          </a:prstGeom>
          <a:noFill/>
          <a:ln/>
        </p:spPr>
        <p:txBody>
          <a:bodyPr wrap="square" lIns="0" tIns="0" rIns="0" bIns="0" rtlCol="0" anchor="ctr"/>
          <a:lstStyle/>
          <a:p>
            <a:pPr indent="0" marL="0">
              <a:buNone/>
            </a:pPr>
            <a:r>
              <a:rPr lang="en-US" sz="1350" b="1" dirty="0">
                <a:solidFill>
                  <a:srgbClr val="2A1638"/>
                </a:solidFill>
                <a:latin typeface="Calibri" pitchFamily="34" charset="0"/>
                <a:ea typeface="Calibri" pitchFamily="34" charset="-122"/>
                <a:cs typeface="Calibri" pitchFamily="34" charset="-120"/>
              </a:rPr>
              <a:t>Aligerar el corrector gramatical</a:t>
            </a:r>
            <a:endParaRPr lang="en-US" sz="1350" dirty="0"/>
          </a:p>
        </p:txBody>
      </p:sp>
      <p:sp>
        <p:nvSpPr>
          <p:cNvPr id="23" name="Text 21"/>
          <p:cNvSpPr/>
          <p:nvPr/>
        </p:nvSpPr>
        <p:spPr>
          <a:xfrm>
            <a:off x="5394960" y="5239512"/>
            <a:ext cx="5943600" cy="713232"/>
          </a:xfrm>
          <a:prstGeom prst="rect">
            <a:avLst/>
          </a:prstGeom>
          <a:noFill/>
          <a:ln/>
        </p:spPr>
        <p:txBody>
          <a:bodyPr wrap="square" lIns="0" tIns="0" rIns="0" bIns="0" rtlCol="0" anchor="ctr"/>
          <a:lstStyle/>
          <a:p>
            <a:pPr indent="0" marL="0">
              <a:buNone/>
            </a:pPr>
            <a:r>
              <a:rPr lang="en-US" sz="1200" dirty="0">
                <a:solidFill>
                  <a:srgbClr val="6E5C7A"/>
                </a:solidFill>
                <a:latin typeface="Calibri" pitchFamily="34" charset="0"/>
                <a:ea typeface="Calibri" pitchFamily="34" charset="-122"/>
                <a:cs typeface="Calibri" pitchFamily="34" charset="-120"/>
              </a:rPr>
              <a:t>Es el único de los cuatro modelos que nunca se comparó contra alternativas más livianas.</a:t>
            </a:r>
            <a:endParaRPr lang="en-US" sz="1200" dirty="0"/>
          </a:p>
        </p:txBody>
      </p:sp>
      <p:sp>
        <p:nvSpPr>
          <p:cNvPr id="24" name="Text 22"/>
          <p:cNvSpPr/>
          <p:nvPr/>
        </p:nvSpPr>
        <p:spPr>
          <a:xfrm>
            <a:off x="640080" y="6144768"/>
            <a:ext cx="10881360" cy="365760"/>
          </a:xfrm>
          <a:prstGeom prst="rect">
            <a:avLst/>
          </a:prstGeom>
          <a:noFill/>
          <a:ln/>
        </p:spPr>
        <p:txBody>
          <a:bodyPr wrap="square" lIns="0" tIns="0" rIns="0" bIns="0" rtlCol="0" anchor="ctr"/>
          <a:lstStyle/>
          <a:p>
            <a:pPr indent="0" marL="0">
              <a:buNone/>
            </a:pPr>
            <a:r>
              <a:rPr lang="en-US" sz="1250" i="1" dirty="0">
                <a:solidFill>
                  <a:srgbClr val="2A1638"/>
                </a:solidFill>
                <a:latin typeface="Calibri" pitchFamily="34" charset="0"/>
                <a:ea typeface="Calibri" pitchFamily="34" charset="-122"/>
                <a:cs typeface="Calibri" pitchFamily="34" charset="-120"/>
              </a:rPr>
              <a:t>Ninguna es de código nuevo: las tres primeras son mediciones sobre lo que ya está construido.</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0E2E"/>
        </a:solidFill>
      </p:bgPr>
    </p:bg>
    <p:spTree>
      <p:nvGrpSpPr>
        <p:cNvPr id="1" name=""/>
        <p:cNvGrpSpPr/>
        <p:nvPr/>
      </p:nvGrpSpPr>
      <p:grpSpPr>
        <a:xfrm>
          <a:off x="0" y="0"/>
          <a:ext cx="0" cy="0"/>
          <a:chOff x="0" y="0"/>
          <a:chExt cx="0" cy="0"/>
        </a:xfrm>
      </p:grpSpPr>
      <p:sp>
        <p:nvSpPr>
          <p:cNvPr id="2" name="Shape 0"/>
          <p:cNvSpPr/>
          <p:nvPr/>
        </p:nvSpPr>
        <p:spPr>
          <a:xfrm>
            <a:off x="-1828800" y="3840480"/>
            <a:ext cx="5486400" cy="5486400"/>
          </a:xfrm>
          <a:prstGeom prst="ellipse">
            <a:avLst/>
          </a:prstGeom>
          <a:solidFill>
            <a:srgbClr val="32194F"/>
          </a:solidFill>
          <a:ln/>
        </p:spPr>
      </p:sp>
      <p:sp>
        <p:nvSpPr>
          <p:cNvPr id="3" name="Shape 1"/>
          <p:cNvSpPr/>
          <p:nvPr/>
        </p:nvSpPr>
        <p:spPr>
          <a:xfrm>
            <a:off x="10058400" y="-1097280"/>
            <a:ext cx="3657600" cy="3657600"/>
          </a:xfrm>
          <a:prstGeom prst="ellipse">
            <a:avLst/>
          </a:prstGeom>
          <a:solidFill>
            <a:srgbClr val="8C2F6B"/>
          </a:solidFill>
          <a:ln/>
        </p:spPr>
      </p:sp>
      <p:sp>
        <p:nvSpPr>
          <p:cNvPr id="4" name="Text 2"/>
          <p:cNvSpPr/>
          <p:nvPr/>
        </p:nvSpPr>
        <p:spPr>
          <a:xfrm>
            <a:off x="822960" y="1280160"/>
            <a:ext cx="1033272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Dónde queda el proyecto</a:t>
            </a:r>
            <a:endParaRPr lang="en-US" sz="3800" dirty="0"/>
          </a:p>
        </p:txBody>
      </p:sp>
      <p:sp>
        <p:nvSpPr>
          <p:cNvPr id="5" name="Text 3"/>
          <p:cNvSpPr/>
          <p:nvPr/>
        </p:nvSpPr>
        <p:spPr>
          <a:xfrm>
            <a:off x="822960" y="2240280"/>
            <a:ext cx="10332720" cy="731520"/>
          </a:xfrm>
          <a:prstGeom prst="rect">
            <a:avLst/>
          </a:prstGeom>
          <a:noFill/>
          <a:ln/>
        </p:spPr>
        <p:txBody>
          <a:bodyPr wrap="square" lIns="0" tIns="0" rIns="0" bIns="0" rtlCol="0" anchor="ctr"/>
          <a:lstStyle/>
          <a:p>
            <a:pPr indent="0" marL="0">
              <a:lnSpc>
                <a:spcPts val="2600"/>
              </a:lnSpc>
              <a:buNone/>
            </a:pPr>
            <a:r>
              <a:rPr lang="en-US" sz="1600" dirty="0">
                <a:solidFill>
                  <a:srgbClr val="CFC0D8"/>
                </a:solidFill>
                <a:latin typeface="Calibri" pitchFamily="34" charset="0"/>
                <a:ea typeface="Calibri" pitchFamily="34" charset="-122"/>
                <a:cs typeface="Calibri" pitchFamily="34" charset="-120"/>
              </a:rPr>
              <a:t>La conversación completa funciona de punta a punta, y cada etapa de señal está verificada contra su definición matemática.</a:t>
            </a:r>
            <a:endParaRPr lang="en-US" sz="1600" dirty="0"/>
          </a:p>
        </p:txBody>
      </p:sp>
      <p:sp>
        <p:nvSpPr>
          <p:cNvPr id="6" name="Text 4"/>
          <p:cNvSpPr/>
          <p:nvPr/>
        </p:nvSpPr>
        <p:spPr>
          <a:xfrm>
            <a:off x="822960" y="3108960"/>
            <a:ext cx="10332720" cy="1371600"/>
          </a:xfrm>
          <a:prstGeom prst="rect">
            <a:avLst/>
          </a:prstGeom>
          <a:noFill/>
          <a:ln/>
        </p:spPr>
        <p:txBody>
          <a:bodyPr wrap="square" lIns="0" tIns="0" rIns="0" bIns="0" rtlCol="0" anchor="ctr"/>
          <a:lstStyle/>
          <a:p>
            <a:pPr indent="0" marL="0">
              <a:lnSpc>
                <a:spcPts val="2600"/>
              </a:lnSpc>
              <a:buNone/>
            </a:pPr>
            <a:r>
              <a:rPr lang="en-US" sz="1600" dirty="0">
                <a:solidFill>
                  <a:srgbClr val="CFC0D8"/>
                </a:solidFill>
                <a:latin typeface="Calibri" pitchFamily="34" charset="0"/>
                <a:ea typeface="Calibri" pitchFamily="34" charset="-122"/>
                <a:cs typeface="Calibri" pitchFamily="34" charset="-120"/>
              </a:rPr>
              <a:t>Al medir la evaluación de pronunciación con voz real determinamos que el método no puede cumplir el objetivo: el efecto del hablante pesa seis veces más que el error que queríamos medir. Ese resultado está cuantificado, con la causa explicada, ocho alternativas descartadas con medición y una vía distinta ya implementada.</a:t>
            </a:r>
            <a:endParaRPr lang="en-US" sz="1600" dirty="0"/>
          </a:p>
        </p:txBody>
      </p:sp>
      <p:sp>
        <p:nvSpPr>
          <p:cNvPr id="7" name="Text 5"/>
          <p:cNvSpPr/>
          <p:nvPr/>
        </p:nvSpPr>
        <p:spPr>
          <a:xfrm>
            <a:off x="822960" y="4892040"/>
            <a:ext cx="10332720" cy="914400"/>
          </a:xfrm>
          <a:prstGeom prst="rect">
            <a:avLst/>
          </a:prstGeom>
          <a:noFill/>
          <a:ln/>
        </p:spPr>
        <p:txBody>
          <a:bodyPr wrap="square" lIns="0" tIns="0" rIns="0" bIns="0" rtlCol="0" anchor="ctr"/>
          <a:lstStyle/>
          <a:p>
            <a:pPr indent="0" marL="0">
              <a:lnSpc>
                <a:spcPts val="3000"/>
              </a:lnSpc>
              <a:buNone/>
            </a:pPr>
            <a:r>
              <a:rPr lang="en-US" sz="1900" b="1" i="1" dirty="0">
                <a:solidFill>
                  <a:srgbClr val="F0A63C"/>
                </a:solidFill>
                <a:latin typeface="Cambria" pitchFamily="34" charset="0"/>
                <a:ea typeface="Cambria" pitchFamily="34" charset="-122"/>
                <a:cs typeface="Cambria" pitchFamily="34" charset="-120"/>
              </a:rPr>
              <a:t>Un requisito que se declara cumplido sin comprobarlo es una afirmación.</a:t>
            </a:r>
            <a:endParaRPr lang="en-US" sz="1900" dirty="0"/>
          </a:p>
          <a:p>
            <a:pPr indent="0" marL="0">
              <a:lnSpc>
                <a:spcPts val="3000"/>
              </a:lnSpc>
              <a:buNone/>
            </a:pPr>
            <a:r>
              <a:rPr lang="en-US" sz="1900" b="1" i="1" dirty="0">
                <a:solidFill>
                  <a:srgbClr val="F0A63C"/>
                </a:solidFill>
                <a:latin typeface="Cambria" pitchFamily="34" charset="0"/>
                <a:ea typeface="Cambria" pitchFamily="34" charset="-122"/>
                <a:cs typeface="Cambria" pitchFamily="34" charset="-120"/>
              </a:rPr>
              <a:t>Uno que se declara incumplido con las cifras que lo demuestran es un resultado.</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2026-08-11T18:56:14Z</dcterms:created>
  <dcterms:modified xsi:type="dcterms:W3CDTF">2026-08-11T18:56:14Z</dcterms:modified>
</cp:coreProperties>
</file>