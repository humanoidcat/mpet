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Errores detectados de 10</c:v>
                </c:pt>
              </c:strCache>
            </c:strRef>
          </c:tx>
          <c:spPr>
            <a:solidFill>
              <a:srgbClr val="16233F"/>
            </a:solidFill>
            <a:effectLst/>
          </c:spPr>
          <c:invertIfNegative val="0"/>
          <c:dLbls>
            <c:numFmt formatCode="#,##0" sourceLinked="0"/>
            <c:txPr>
              <a:bodyPr/>
              <a:lstStyle/>
              <a:p>
                <a:pPr>
                  <a:defRPr b="0" i="0" strike="noStrike" sz="1300" u="none">
                    <a:solidFill>
                      <a:srgbClr val="1E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16233F"/>
              </a:solidFill>
              <a:effectLst/>
            </c:spPr>
          </c:dPt>
          <c:dPt>
            <c:idx val="1"/>
            <c:invertIfNegative val="0"/>
            <c:bubble3D val="0"/>
            <c:spPr>
              <a:solidFill>
                <a:srgbClr val="17A398"/>
              </a:solidFill>
              <a:effectLst/>
            </c:spPr>
          </c:dPt>
          <c:cat>
            <c:multiLvlStrRef>
              <c:f>Sheet1!$A$2:$A$3</c:f>
              <c:multiLvlStrCache>
                <c:ptCount val="2"/>
                <c:lvl>
                  <c:pt idx="0">
                    <c:v>Vía acústica</c:v>
                  </c:pt>
                  <c:pt idx="1">
                    <c:v>Transcripción contra frase objetivo</c:v>
                  </c:pt>
                </c:lvl>
              </c:multiLvlStrCache>
            </c:multiLvlStrRef>
          </c:cat>
          <c:val>
            <c:numRef>
              <c:f>Sheet1!$B$2:$B$3</c:f>
              <c:numCache>
                <c:formatCode>General</c:formatCode>
                <c:ptCount val="2"/>
                <c:pt idx="0">
                  <c:v>6</c:v>
                </c:pt>
                <c:pt idx="1">
                  <c:v>8</c:v>
                </c:pt>
              </c:numCache>
            </c:numRef>
          </c:val>
        </c:ser>
        <c:dLbls>
          <c:numFmt formatCode="#,##0" sourceLinked="0"/>
          <c:txPr>
            <a:bodyPr/>
            <a:lstStyle/>
            <a:p>
              <a:pPr>
                <a:defRPr b="0" i="0" strike="noStrike" sz="1300" u="none">
                  <a:solidFill>
                    <a:srgbClr val="1E24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478"/>
                </a:solidFill>
                <a:latin typeface="Calibri"/>
              </a:defRPr>
            </a:pPr>
            <a:endParaRPr lang="en-US"/>
          </a:p>
        </c:txPr>
        <c:crossAx val="2094734552"/>
        <c:crosses val="autoZero"/>
        <c:auto val="1"/>
        <c:lblAlgn val="ctr"/>
        <c:noMultiLvlLbl val="1"/>
      </c:catAx>
      <c:valAx>
        <c:axId val="2094734552"/>
        <c:scaling>
          <c:orientation val="minMax"/>
          <c:max val="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A64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MiB de la primera carga</c:v>
                </c:pt>
              </c:strCache>
            </c:strRef>
          </c:tx>
          <c:spPr>
            <a:solidFill>
              <a:srgbClr val="16233F"/>
            </a:solidFill>
            <a:effectLst/>
          </c:spPr>
          <c:invertIfNegative val="0"/>
          <c:dLbls>
            <c:numFmt formatCode="#,##0" sourceLinked="0"/>
            <c:txPr>
              <a:bodyPr/>
              <a:lstStyle/>
              <a:p>
                <a:pPr>
                  <a:defRPr b="0" i="0" strike="noStrike" sz="1300" u="none">
                    <a:solidFill>
                      <a:srgbClr val="1E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16233F"/>
              </a:solidFill>
              <a:effectLst/>
            </c:spPr>
          </c:dPt>
          <c:dPt>
            <c:idx val="1"/>
            <c:invertIfNegative val="0"/>
            <c:bubble3D val="0"/>
            <c:spPr>
              <a:solidFill>
                <a:srgbClr val="17A398"/>
              </a:solidFill>
              <a:effectLst/>
            </c:spPr>
          </c:dPt>
          <c:cat>
            <c:multiLvlStrRef>
              <c:f>Sheet1!$A$2:$A$3</c:f>
              <c:multiLvlStrCache>
                <c:ptCount val="2"/>
                <c:lvl>
                  <c:pt idx="0">
                    <c:v>Antes</c:v>
                  </c:pt>
                  <c:pt idx="1">
                    <c:v>Ahora</c:v>
                  </c:pt>
                </c:lvl>
              </c:multiLvlStrCache>
            </c:multiLvlStrRef>
          </c:cat>
          <c:val>
            <c:numRef>
              <c:f>Sheet1!$B$2:$B$3</c:f>
              <c:numCache>
                <c:formatCode>General</c:formatCode>
                <c:ptCount val="2"/>
                <c:pt idx="0">
                  <c:v>411.5</c:v>
                </c:pt>
                <c:pt idx="1">
                  <c:v>302.6</c:v>
                </c:pt>
              </c:numCache>
            </c:numRef>
          </c:val>
        </c:ser>
        <c:dLbls>
          <c:numFmt formatCode="#,##0" sourceLinked="0"/>
          <c:txPr>
            <a:bodyPr/>
            <a:lstStyle/>
            <a:p>
              <a:pPr>
                <a:defRPr b="0" i="0" strike="noStrike" sz="1300" u="none">
                  <a:solidFill>
                    <a:srgbClr val="1E2430"/>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8"/>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Retroalimentación, ms</c:v>
                </c:pt>
              </c:strCache>
            </c:strRef>
          </c:tx>
          <c:spPr>
            <a:solidFill>
              <a:srgbClr val="17A398"/>
            </a:solidFill>
            <a:effectLst/>
          </c:spPr>
          <c:invertIfNegative val="0"/>
          <c:dLbls>
            <c:numFmt formatCode="#,##0" sourceLinked="0"/>
            <c:txPr>
              <a:bodyPr/>
              <a:lstStyle/>
              <a:p>
                <a:pPr>
                  <a:defRPr b="0" i="0" strike="noStrike" sz="1200" u="none">
                    <a:solidFill>
                      <a:srgbClr val="1E243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Turno 1</c:v>
                  </c:pt>
                  <c:pt idx="1">
                    <c:v>Turno 2</c:v>
                  </c:pt>
                  <c:pt idx="2">
                    <c:v>Turno 3</c:v>
                  </c:pt>
                  <c:pt idx="3">
                    <c:v>Turno 4</c:v>
                  </c:pt>
                </c:lvl>
              </c:multiLvlStrCache>
            </c:multiLvlStrRef>
          </c:cat>
          <c:val>
            <c:numRef>
              <c:f>Sheet1!$B$2:$B$5</c:f>
              <c:numCache>
                <c:formatCode>General</c:formatCode>
                <c:ptCount val="4"/>
                <c:pt idx="0">
                  <c:v>397</c:v>
                </c:pt>
                <c:pt idx="1">
                  <c:v>749</c:v>
                </c:pt>
                <c:pt idx="2">
                  <c:v>777</c:v>
                </c:pt>
                <c:pt idx="3">
                  <c:v>1282</c:v>
                </c:pt>
              </c:numCache>
            </c:numRef>
          </c:val>
        </c:ser>
        <c:dLbls>
          <c:numFmt formatCode="#,##0" sourceLinked="0"/>
          <c:txPr>
            <a:bodyPr/>
            <a:lstStyle/>
            <a:p>
              <a:pPr>
                <a:defRPr b="0" i="0" strike="noStrike" sz="1200" u="none">
                  <a:solidFill>
                    <a:srgbClr val="1E2430"/>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8"/>
                </a:solidFill>
                <a:latin typeface="Calibri"/>
              </a:defRPr>
            </a:pPr>
            <a:endParaRPr lang="en-US"/>
          </a:p>
        </c:txPr>
        <c:crossAx val="2094734552"/>
        <c:crosses val="autoZero"/>
        <c:auto val="1"/>
        <c:lblAlgn val="ctr"/>
        <c:noMultiLvlLbl val="1"/>
      </c:catAx>
      <c:valAx>
        <c:axId val="2094734552"/>
        <c:scaling>
          <c:orientation val="minMax"/>
          <c:max val="200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4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técnica del proyecto final. 10 a 15 minutos con demostración en vivo al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causas identificables. La tercera es la que abre el hueco que el proyecto ocupa: nadie explica qué falló.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dificultad tiene una etapa responsable. Esta diapositiva es el índice de la cadena que viene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modificación de los contratos compartidos pasa por una solicitud marcada shared-change, revisada por los cuatro.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cifras del centro son los criterios formales del plan, todos superados por dos ordenes de magnitud.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que justifica por que se implemento todo a mano: permite verificar contra la definición.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argumento de por que se conservo el quinto nivel de verificación pese a su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Unidades de distancia del alineamiento. La identidad del hablante pesa casi seis veces más que el error de pronunciación.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tercio más de errores detectados. El costo es que marca 14 de 30 tomas correctas, y eso se explica en la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esta diapositiva: una medición negativa produjo un diseno mejor, no un parrafo de disculpa.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sintetizador son 88.1 MiB adicionales que se descargan la primera vez que se pulsa escuchar.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banco, misma frase portadora, mismo criterio y el mismo reconocedor para juzgar. Solo así los números significan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sumar un modelo conviene inventariar lo que los que ya están saben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turnos consecutivos cronometrados en la aplicación desplegada, con reconocimiento y gramática incluidos.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Declarar el límite medido vale más que ocultarlo: es lo que permite decir con precisión hasta dónde llega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demo: un turno hablado en inglés y uno en español para mostrar la traducción, y un turno de modo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685800" y="1417320"/>
            <a:ext cx="1051560" cy="1051560"/>
          </a:xfrm>
          <a:prstGeom prst="roundRect">
            <a:avLst>
              <a:gd name="adj" fmla="val 24348"/>
            </a:avLst>
          </a:prstGeom>
          <a:solidFill>
            <a:srgbClr val="17A398"/>
          </a:solidFill>
          <a:ln w="12700">
            <a:solidFill>
              <a:srgbClr val="17A398"/>
            </a:solidFill>
            <a:prstDash val="solid"/>
          </a:ln>
        </p:spPr>
      </p:sp>
      <p:sp>
        <p:nvSpPr>
          <p:cNvPr id="3" name="Text 1"/>
          <p:cNvSpPr/>
          <p:nvPr/>
        </p:nvSpPr>
        <p:spPr>
          <a:xfrm>
            <a:off x="685800" y="1417320"/>
            <a:ext cx="105156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MPET</a:t>
            </a:r>
            <a:endParaRPr lang="en-US" sz="1700" dirty="0"/>
          </a:p>
        </p:txBody>
      </p:sp>
      <p:sp>
        <p:nvSpPr>
          <p:cNvPr id="4" name="Text 2"/>
          <p:cNvSpPr/>
          <p:nvPr/>
        </p:nvSpPr>
        <p:spPr>
          <a:xfrm>
            <a:off x="685800" y="2697480"/>
            <a:ext cx="96012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My Personal English Teacher</a:t>
            </a:r>
            <a:endParaRPr lang="en-US" sz="4600" dirty="0"/>
          </a:p>
        </p:txBody>
      </p:sp>
      <p:sp>
        <p:nvSpPr>
          <p:cNvPr id="5" name="Text 3"/>
          <p:cNvSpPr/>
          <p:nvPr/>
        </p:nvSpPr>
        <p:spPr>
          <a:xfrm>
            <a:off x="685800" y="3611880"/>
            <a:ext cx="8778240" cy="731520"/>
          </a:xfrm>
          <a:prstGeom prst="rect">
            <a:avLst/>
          </a:prstGeom>
          <a:noFill/>
          <a:ln/>
        </p:spPr>
        <p:txBody>
          <a:bodyPr wrap="square" lIns="0" tIns="0" rIns="0" bIns="0" rtlCol="0" anchor="ctr"/>
          <a:lstStyle/>
          <a:p>
            <a:pPr indent="0" marL="0">
              <a:buNone/>
            </a:pPr>
            <a:r>
              <a:rPr lang="en-US" sz="1700" dirty="0">
                <a:solidFill>
                  <a:srgbClr val="DCE7F5"/>
                </a:solidFill>
                <a:latin typeface="Calibri" pitchFamily="34" charset="0"/>
                <a:ea typeface="Calibri" pitchFamily="34" charset="-122"/>
                <a:cs typeface="Calibri" pitchFamily="34" charset="-120"/>
              </a:rPr>
              <a:t>Práctica de inglés conversacional con análisis de señales, ejecutada por completo en el navegador</a:t>
            </a:r>
            <a:endParaRPr lang="en-US" sz="1700" dirty="0"/>
          </a:p>
        </p:txBody>
      </p:sp>
      <p:sp>
        <p:nvSpPr>
          <p:cNvPr id="6" name="Text 4"/>
          <p:cNvSpPr/>
          <p:nvPr/>
        </p:nvSpPr>
        <p:spPr>
          <a:xfrm>
            <a:off x="685800" y="4892040"/>
            <a:ext cx="7315200" cy="292608"/>
          </a:xfrm>
          <a:prstGeom prst="rect">
            <a:avLst/>
          </a:prstGeom>
          <a:noFill/>
          <a:ln/>
        </p:spPr>
        <p:txBody>
          <a:bodyPr wrap="square" lIns="0" tIns="0" rIns="0" bIns="0" rtlCol="0" anchor="ctr"/>
          <a:lstStyle/>
          <a:p>
            <a:pPr indent="0" marL="0">
              <a:buNone/>
            </a:pPr>
            <a:r>
              <a:rPr lang="en-US" sz="1300" b="1" dirty="0">
                <a:solidFill>
                  <a:srgbClr val="17A398"/>
                </a:solidFill>
                <a:latin typeface="Calibri" pitchFamily="34" charset="0"/>
                <a:ea typeface="Calibri" pitchFamily="34" charset="-122"/>
                <a:cs typeface="Calibri" pitchFamily="34" charset="-120"/>
              </a:rPr>
              <a:t>Presentación técnica  ·  Señales y Sistemas</a:t>
            </a:r>
            <a:endParaRPr lang="en-US" sz="1300" dirty="0"/>
          </a:p>
        </p:txBody>
      </p:sp>
      <p:sp>
        <p:nvSpPr>
          <p:cNvPr id="7" name="Text 5"/>
          <p:cNvSpPr/>
          <p:nvPr/>
        </p:nvSpPr>
        <p:spPr>
          <a:xfrm>
            <a:off x="685800" y="5230368"/>
            <a:ext cx="10058400" cy="292608"/>
          </a:xfrm>
          <a:prstGeom prst="rect">
            <a:avLst/>
          </a:prstGeom>
          <a:noFill/>
          <a:ln/>
        </p:spPr>
        <p:txBody>
          <a:bodyPr wrap="square" lIns="0" tIns="0" rIns="0" bIns="0" rtlCol="0" anchor="ctr"/>
          <a:lstStyle/>
          <a:p>
            <a:pPr indent="0" marL="0">
              <a:buNone/>
            </a:pPr>
            <a:r>
              <a:rPr lang="en-US" sz="1300" dirty="0">
                <a:solidFill>
                  <a:srgbClr val="DCE7F5"/>
                </a:solidFill>
                <a:latin typeface="Calibri" pitchFamily="34" charset="0"/>
                <a:ea typeface="Calibri" pitchFamily="34" charset="-122"/>
                <a:cs typeface="Calibri" pitchFamily="34" charset="-120"/>
              </a:rPr>
              <a:t>Alejandro Zamora  ·  Fabrizio Espinoza  ·  Isaac Morum  ·  José Pablo Monestel</a:t>
            </a:r>
            <a:endParaRPr lang="en-US" sz="1300" dirty="0"/>
          </a:p>
        </p:txBody>
      </p:sp>
      <p:sp>
        <p:nvSpPr>
          <p:cNvPr id="8" name="Text 6"/>
          <p:cNvSpPr/>
          <p:nvPr/>
        </p:nvSpPr>
        <p:spPr>
          <a:xfrm>
            <a:off x="685800" y="5623560"/>
            <a:ext cx="7315200" cy="292608"/>
          </a:xfrm>
          <a:prstGeom prst="rect">
            <a:avLst/>
          </a:prstGeom>
          <a:noFill/>
          <a:ln/>
        </p:spPr>
        <p:txBody>
          <a:bodyPr wrap="square" lIns="0" tIns="0" rIns="0" bIns="0" rtlCol="0" anchor="ctr"/>
          <a:lstStyle/>
          <a:p>
            <a:pPr indent="0" marL="0">
              <a:buNone/>
            </a:pPr>
            <a:r>
              <a:rPr lang="en-US" sz="1200" dirty="0">
                <a:solidFill>
                  <a:srgbClr val="8FA6C4"/>
                </a:solidFill>
                <a:latin typeface="Calibri" pitchFamily="34" charset="0"/>
                <a:ea typeface="Calibri" pitchFamily="34" charset="-122"/>
                <a:cs typeface="Calibri" pitchFamily="34" charset="-120"/>
              </a:rPr>
              <a:t>humanoidcat.github.io/mpet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EL PROBLEMA</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La dificultad no es de conocimiento, es de producción oral</a:t>
            </a:r>
            <a:endParaRPr lang="en-US" sz="3200" dirty="0"/>
          </a:p>
        </p:txBody>
      </p:sp>
      <p:sp>
        <p:nvSpPr>
          <p:cNvPr id="4" name="Shape 2"/>
          <p:cNvSpPr/>
          <p:nvPr/>
        </p:nvSpPr>
        <p:spPr>
          <a:xfrm>
            <a:off x="685800" y="1828800"/>
            <a:ext cx="3413760" cy="2880360"/>
          </a:xfrm>
          <a:prstGeom prst="roundRect">
            <a:avLst>
              <a:gd name="adj" fmla="val 3810"/>
            </a:avLst>
          </a:prstGeom>
          <a:solidFill>
            <a:srgbClr val="EEF4FB"/>
          </a:solidFill>
          <a:ln w="12700">
            <a:solidFill>
              <a:srgbClr val="EEF4FB"/>
            </a:solidFill>
            <a:prstDash val="solid"/>
          </a:ln>
        </p:spPr>
      </p:sp>
      <p:sp>
        <p:nvSpPr>
          <p:cNvPr id="5" name="Shape 3"/>
          <p:cNvSpPr/>
          <p:nvPr/>
        </p:nvSpPr>
        <p:spPr>
          <a:xfrm>
            <a:off x="1005840" y="2148840"/>
            <a:ext cx="457200" cy="457200"/>
          </a:xfrm>
          <a:prstGeom prst="ellipse">
            <a:avLst/>
          </a:prstGeom>
          <a:solidFill>
            <a:srgbClr val="16233F"/>
          </a:solidFill>
          <a:ln w="12700">
            <a:solidFill>
              <a:srgbClr val="16233F"/>
            </a:solidFill>
            <a:prstDash val="solid"/>
          </a:ln>
        </p:spPr>
      </p:sp>
      <p:sp>
        <p:nvSpPr>
          <p:cNvPr id="6" name="Text 4"/>
          <p:cNvSpPr/>
          <p:nvPr/>
        </p:nvSpPr>
        <p:spPr>
          <a:xfrm>
            <a:off x="1005840"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005840" y="2743200"/>
            <a:ext cx="2773680" cy="384048"/>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Barrera fonética</a:t>
            </a:r>
            <a:endParaRPr lang="en-US" sz="1800" dirty="0"/>
          </a:p>
        </p:txBody>
      </p:sp>
      <p:sp>
        <p:nvSpPr>
          <p:cNvPr id="8" name="Text 6"/>
          <p:cNvSpPr/>
          <p:nvPr/>
        </p:nvSpPr>
        <p:spPr>
          <a:xfrm>
            <a:off x="1005840" y="3200400"/>
            <a:ext cx="2773680" cy="1371600"/>
          </a:xfrm>
          <a:prstGeom prst="rect">
            <a:avLst/>
          </a:prstGeom>
          <a:noFill/>
          <a:ln/>
        </p:spPr>
        <p:txBody>
          <a:bodyPr wrap="square" lIns="0" tIns="0" rIns="0" bIns="0" rtlCol="0" anchor="t"/>
          <a:lstStyle/>
          <a:p>
            <a:pPr indent="0" marL="0">
              <a:buNone/>
            </a:pPr>
            <a:r>
              <a:rPr lang="en-US" sz="1300" dirty="0">
                <a:solidFill>
                  <a:srgbClr val="1E2430"/>
                </a:solidFill>
                <a:latin typeface="Calibri" pitchFamily="34" charset="0"/>
                <a:ea typeface="Calibri" pitchFamily="34" charset="-122"/>
                <a:cs typeface="Calibri" pitchFamily="34" charset="-120"/>
              </a:rPr>
              <a:t>El español tiene cinco vocales; el inglés supera las once. Pares mínimos como ship / sheep se colapsan en un mismo sonido para el oído no entrenado.</a:t>
            </a:r>
            <a:endParaRPr lang="en-US" sz="1300" dirty="0"/>
          </a:p>
        </p:txBody>
      </p:sp>
      <p:sp>
        <p:nvSpPr>
          <p:cNvPr id="9" name="Shape 7"/>
          <p:cNvSpPr/>
          <p:nvPr/>
        </p:nvSpPr>
        <p:spPr>
          <a:xfrm>
            <a:off x="4373880" y="1828800"/>
            <a:ext cx="3413760" cy="2880360"/>
          </a:xfrm>
          <a:prstGeom prst="roundRect">
            <a:avLst>
              <a:gd name="adj" fmla="val 3810"/>
            </a:avLst>
          </a:prstGeom>
          <a:solidFill>
            <a:srgbClr val="EEF4FB"/>
          </a:solidFill>
          <a:ln w="12700">
            <a:solidFill>
              <a:srgbClr val="EEF4FB"/>
            </a:solidFill>
            <a:prstDash val="solid"/>
          </a:ln>
        </p:spPr>
      </p:sp>
      <p:sp>
        <p:nvSpPr>
          <p:cNvPr id="10" name="Shape 8"/>
          <p:cNvSpPr/>
          <p:nvPr/>
        </p:nvSpPr>
        <p:spPr>
          <a:xfrm>
            <a:off x="4693920" y="2148840"/>
            <a:ext cx="457200" cy="457200"/>
          </a:xfrm>
          <a:prstGeom prst="ellipse">
            <a:avLst/>
          </a:prstGeom>
          <a:solidFill>
            <a:srgbClr val="16233F"/>
          </a:solidFill>
          <a:ln w="12700">
            <a:solidFill>
              <a:srgbClr val="16233F"/>
            </a:solidFill>
            <a:prstDash val="solid"/>
          </a:ln>
        </p:spPr>
      </p:sp>
      <p:sp>
        <p:nvSpPr>
          <p:cNvPr id="11" name="Text 9"/>
          <p:cNvSpPr/>
          <p:nvPr/>
        </p:nvSpPr>
        <p:spPr>
          <a:xfrm>
            <a:off x="4693920"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4693920" y="2743200"/>
            <a:ext cx="2773680" cy="384048"/>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Práctica inaccesible</a:t>
            </a:r>
            <a:endParaRPr lang="en-US" sz="1800" dirty="0"/>
          </a:p>
        </p:txBody>
      </p:sp>
      <p:sp>
        <p:nvSpPr>
          <p:cNvPr id="13" name="Text 11"/>
          <p:cNvSpPr/>
          <p:nvPr/>
        </p:nvSpPr>
        <p:spPr>
          <a:xfrm>
            <a:off x="4693920" y="3200400"/>
            <a:ext cx="2773680" cy="1371600"/>
          </a:xfrm>
          <a:prstGeom prst="rect">
            <a:avLst/>
          </a:prstGeom>
          <a:noFill/>
          <a:ln/>
        </p:spPr>
        <p:txBody>
          <a:bodyPr wrap="square" lIns="0" tIns="0" rIns="0" bIns="0" rtlCol="0" anchor="t"/>
          <a:lstStyle/>
          <a:p>
            <a:pPr indent="0" marL="0">
              <a:buNone/>
            </a:pPr>
            <a:r>
              <a:rPr lang="en-US" sz="1300" dirty="0">
                <a:solidFill>
                  <a:srgbClr val="1E2430"/>
                </a:solidFill>
                <a:latin typeface="Calibri" pitchFamily="34" charset="0"/>
                <a:ea typeface="Calibri" pitchFamily="34" charset="-122"/>
                <a:cs typeface="Calibri" pitchFamily="34" charset="-120"/>
              </a:rPr>
              <a:t>La práctica oral efectiva exige un interlocutor que corrija en el momento. Tutorías e intercambios son costosos, dependen de horarios y de conexión estable.</a:t>
            </a:r>
            <a:endParaRPr lang="en-US" sz="1300" dirty="0"/>
          </a:p>
        </p:txBody>
      </p:sp>
      <p:sp>
        <p:nvSpPr>
          <p:cNvPr id="14" name="Shape 12"/>
          <p:cNvSpPr/>
          <p:nvPr/>
        </p:nvSpPr>
        <p:spPr>
          <a:xfrm>
            <a:off x="8061960" y="1828800"/>
            <a:ext cx="3413760" cy="2880360"/>
          </a:xfrm>
          <a:prstGeom prst="roundRect">
            <a:avLst>
              <a:gd name="adj" fmla="val 3810"/>
            </a:avLst>
          </a:prstGeom>
          <a:solidFill>
            <a:srgbClr val="EEF4FB"/>
          </a:solidFill>
          <a:ln w="12700">
            <a:solidFill>
              <a:srgbClr val="EEF4FB"/>
            </a:solidFill>
            <a:prstDash val="solid"/>
          </a:ln>
        </p:spPr>
      </p:sp>
      <p:sp>
        <p:nvSpPr>
          <p:cNvPr id="15" name="Shape 13"/>
          <p:cNvSpPr/>
          <p:nvPr/>
        </p:nvSpPr>
        <p:spPr>
          <a:xfrm>
            <a:off x="8382000" y="2148840"/>
            <a:ext cx="457200" cy="457200"/>
          </a:xfrm>
          <a:prstGeom prst="ellipse">
            <a:avLst/>
          </a:prstGeom>
          <a:solidFill>
            <a:srgbClr val="16233F"/>
          </a:solidFill>
          <a:ln w="12700">
            <a:solidFill>
              <a:srgbClr val="16233F"/>
            </a:solidFill>
            <a:prstDash val="solid"/>
          </a:ln>
        </p:spPr>
      </p:sp>
      <p:sp>
        <p:nvSpPr>
          <p:cNvPr id="16" name="Text 14"/>
          <p:cNvSpPr/>
          <p:nvPr/>
        </p:nvSpPr>
        <p:spPr>
          <a:xfrm>
            <a:off x="8382000"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382000" y="2743200"/>
            <a:ext cx="2773680" cy="384048"/>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Retroalimentación opaca</a:t>
            </a:r>
            <a:endParaRPr lang="en-US" sz="1800" dirty="0"/>
          </a:p>
        </p:txBody>
      </p:sp>
      <p:sp>
        <p:nvSpPr>
          <p:cNvPr id="18" name="Text 16"/>
          <p:cNvSpPr/>
          <p:nvPr/>
        </p:nvSpPr>
        <p:spPr>
          <a:xfrm>
            <a:off x="8382000" y="3200400"/>
            <a:ext cx="2773680" cy="1371600"/>
          </a:xfrm>
          <a:prstGeom prst="rect">
            <a:avLst/>
          </a:prstGeom>
          <a:noFill/>
          <a:ln/>
        </p:spPr>
        <p:txBody>
          <a:bodyPr wrap="square" lIns="0" tIns="0" rIns="0" bIns="0" rtlCol="0" anchor="t"/>
          <a:lstStyle/>
          <a:p>
            <a:pPr indent="0" marL="0">
              <a:buNone/>
            </a:pPr>
            <a:r>
              <a:rPr lang="en-US" sz="1300" dirty="0">
                <a:solidFill>
                  <a:srgbClr val="1E2430"/>
                </a:solidFill>
                <a:latin typeface="Calibri" pitchFamily="34" charset="0"/>
                <a:ea typeface="Calibri" pitchFamily="34" charset="-122"/>
                <a:cs typeface="Calibri" pitchFamily="34" charset="-120"/>
              </a:rPr>
              <a:t>Las aplicaciones masivas devuelven un veredicto binario, correcto o incorrecto, sin explicar QUÉ falló: qué vocal, qué consonante, qué entonación.</a:t>
            </a:r>
            <a:endParaRPr lang="en-US" sz="1300" dirty="0"/>
          </a:p>
        </p:txBody>
      </p:sp>
      <p:sp>
        <p:nvSpPr>
          <p:cNvPr id="19" name="Text 17"/>
          <p:cNvSpPr/>
          <p:nvPr/>
        </p:nvSpPr>
        <p:spPr>
          <a:xfrm>
            <a:off x="685800" y="5029200"/>
            <a:ext cx="10789920" cy="457200"/>
          </a:xfrm>
          <a:prstGeom prst="rect">
            <a:avLst/>
          </a:prstGeom>
          <a:noFill/>
          <a:ln/>
        </p:spPr>
        <p:txBody>
          <a:bodyPr wrap="square" lIns="0" tIns="0" rIns="0" bIns="0" rtlCol="0" anchor="ctr"/>
          <a:lstStyle/>
          <a:p>
            <a:pPr indent="0" marL="0">
              <a:buNone/>
            </a:pPr>
            <a:r>
              <a:rPr lang="en-US" sz="1500" i="1" dirty="0">
                <a:solidFill>
                  <a:srgbClr val="16233F"/>
                </a:solidFill>
                <a:latin typeface="Calibri" pitchFamily="34" charset="0"/>
                <a:ea typeface="Calibri" pitchFamily="34" charset="-122"/>
                <a:cs typeface="Calibri" pitchFamily="34" charset="-120"/>
              </a:rPr>
              <a:t>El estudiante no puede corregir lo que no distingue: sin retroalimentación externa, el error se fosiliza.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EL PROBLEMA COMO SEÑALES</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Evaluar pronunciación es un problema de análisis de señales</a:t>
            </a:r>
            <a:endParaRPr lang="en-US" sz="3200" dirty="0"/>
          </a:p>
        </p:txBody>
      </p:sp>
      <p:sp>
        <p:nvSpPr>
          <p:cNvPr id="4" name="Shape 2"/>
          <p:cNvSpPr/>
          <p:nvPr/>
        </p:nvSpPr>
        <p:spPr>
          <a:xfrm>
            <a:off x="685800" y="1874520"/>
            <a:ext cx="10789920" cy="749808"/>
          </a:xfrm>
          <a:prstGeom prst="roundRect">
            <a:avLst>
              <a:gd name="adj" fmla="val 14634"/>
            </a:avLst>
          </a:prstGeom>
          <a:solidFill>
            <a:srgbClr val="EEF4FB"/>
          </a:solidFill>
          <a:ln w="12700">
            <a:solidFill>
              <a:srgbClr val="EEF4FB"/>
            </a:solidFill>
            <a:prstDash val="solid"/>
          </a:ln>
        </p:spPr>
      </p:sp>
      <p:sp>
        <p:nvSpPr>
          <p:cNvPr id="5" name="Text 3"/>
          <p:cNvSpPr/>
          <p:nvPr/>
        </p:nvSpPr>
        <p:spPr>
          <a:xfrm>
            <a:off x="960120" y="1874520"/>
            <a:ext cx="3017520" cy="74980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Ruido ambiental y del canal</a:t>
            </a:r>
            <a:endParaRPr lang="en-US" sz="1500" dirty="0"/>
          </a:p>
        </p:txBody>
      </p:sp>
      <p:sp>
        <p:nvSpPr>
          <p:cNvPr id="6" name="Text 4"/>
          <p:cNvSpPr/>
          <p:nvPr/>
        </p:nvSpPr>
        <p:spPr>
          <a:xfrm>
            <a:off x="4069080" y="1874520"/>
            <a:ext cx="3657600" cy="7498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Contamina toda medición posterior</a:t>
            </a:r>
            <a:endParaRPr lang="en-US" sz="1300" dirty="0"/>
          </a:p>
        </p:txBody>
      </p:sp>
      <p:sp>
        <p:nvSpPr>
          <p:cNvPr id="7" name="Text 5"/>
          <p:cNvSpPr/>
          <p:nvPr/>
        </p:nvSpPr>
        <p:spPr>
          <a:xfrm>
            <a:off x="7909560" y="1874520"/>
            <a:ext cx="3291840" cy="749808"/>
          </a:xfrm>
          <a:prstGeom prst="rect">
            <a:avLst/>
          </a:prstGeom>
          <a:noFill/>
          <a:ln/>
        </p:spPr>
        <p:txBody>
          <a:bodyPr wrap="square" lIns="0" tIns="0" rIns="0" bIns="0" rtlCol="0" anchor="ctr"/>
          <a:lstStyle/>
          <a:p>
            <a:pPr indent="0" marL="0">
              <a:buNone/>
            </a:pPr>
            <a:r>
              <a:rPr lang="en-US" sz="1300" b="1" dirty="0">
                <a:solidFill>
                  <a:srgbClr val="17A398"/>
                </a:solidFill>
                <a:latin typeface="Calibri" pitchFamily="34" charset="0"/>
                <a:ea typeface="Calibri" pitchFamily="34" charset="-122"/>
                <a:cs typeface="Calibri" pitchFamily="34" charset="-120"/>
              </a:rPr>
              <a:t>Filtro pasa-banda 80 - 8 000 Hz, normalización por valor eficaz</a:t>
            </a:r>
            <a:endParaRPr lang="en-US" sz="1300" dirty="0"/>
          </a:p>
        </p:txBody>
      </p:sp>
      <p:sp>
        <p:nvSpPr>
          <p:cNvPr id="8" name="Shape 6"/>
          <p:cNvSpPr/>
          <p:nvPr/>
        </p:nvSpPr>
        <p:spPr>
          <a:xfrm>
            <a:off x="685800" y="2743200"/>
            <a:ext cx="10789920" cy="749808"/>
          </a:xfrm>
          <a:prstGeom prst="roundRect">
            <a:avLst>
              <a:gd name="adj" fmla="val 14634"/>
            </a:avLst>
          </a:prstGeom>
          <a:solidFill>
            <a:srgbClr val="EEF4FB"/>
          </a:solidFill>
          <a:ln w="12700">
            <a:solidFill>
              <a:srgbClr val="EEF4FB"/>
            </a:solidFill>
            <a:prstDash val="solid"/>
          </a:ln>
        </p:spPr>
      </p:sp>
      <p:sp>
        <p:nvSpPr>
          <p:cNvPr id="9" name="Text 7"/>
          <p:cNvSpPr/>
          <p:nvPr/>
        </p:nvSpPr>
        <p:spPr>
          <a:xfrm>
            <a:off x="960120" y="2743200"/>
            <a:ext cx="3017520" cy="74980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Variabilidad entre hablantes</a:t>
            </a:r>
            <a:endParaRPr lang="en-US" sz="1500" dirty="0"/>
          </a:p>
        </p:txBody>
      </p:sp>
      <p:sp>
        <p:nvSpPr>
          <p:cNvPr id="10" name="Text 8"/>
          <p:cNvSpPr/>
          <p:nvPr/>
        </p:nvSpPr>
        <p:spPr>
          <a:xfrm>
            <a:off x="4069080" y="2743200"/>
            <a:ext cx="3657600" cy="7498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La misma palabra produce señales muy distintas</a:t>
            </a:r>
            <a:endParaRPr lang="en-US" sz="1300" dirty="0"/>
          </a:p>
        </p:txBody>
      </p:sp>
      <p:sp>
        <p:nvSpPr>
          <p:cNvPr id="11" name="Text 9"/>
          <p:cNvSpPr/>
          <p:nvPr/>
        </p:nvSpPr>
        <p:spPr>
          <a:xfrm>
            <a:off x="7909560" y="2743200"/>
            <a:ext cx="3291840" cy="749808"/>
          </a:xfrm>
          <a:prstGeom prst="rect">
            <a:avLst/>
          </a:prstGeom>
          <a:noFill/>
          <a:ln/>
        </p:spPr>
        <p:txBody>
          <a:bodyPr wrap="square" lIns="0" tIns="0" rIns="0" bIns="0" rtlCol="0" anchor="ctr"/>
          <a:lstStyle/>
          <a:p>
            <a:pPr indent="0" marL="0">
              <a:buNone/>
            </a:pPr>
            <a:r>
              <a:rPr lang="en-US" sz="1300" b="1" dirty="0">
                <a:solidFill>
                  <a:srgbClr val="17A398"/>
                </a:solidFill>
                <a:latin typeface="Calibri" pitchFamily="34" charset="0"/>
                <a:ea typeface="Calibri" pitchFamily="34" charset="-122"/>
                <a:cs typeface="Calibri" pitchFamily="34" charset="-120"/>
              </a:rPr>
              <a:t>Coeficientes cepstrales en escala mel, normalización cepstral</a:t>
            </a:r>
            <a:endParaRPr lang="en-US" sz="1300" dirty="0"/>
          </a:p>
        </p:txBody>
      </p:sp>
      <p:sp>
        <p:nvSpPr>
          <p:cNvPr id="12" name="Shape 10"/>
          <p:cNvSpPr/>
          <p:nvPr/>
        </p:nvSpPr>
        <p:spPr>
          <a:xfrm>
            <a:off x="685800" y="3611880"/>
            <a:ext cx="10789920" cy="749808"/>
          </a:xfrm>
          <a:prstGeom prst="roundRect">
            <a:avLst>
              <a:gd name="adj" fmla="val 14634"/>
            </a:avLst>
          </a:prstGeom>
          <a:solidFill>
            <a:srgbClr val="EEF4FB"/>
          </a:solidFill>
          <a:ln w="12700">
            <a:solidFill>
              <a:srgbClr val="EEF4FB"/>
            </a:solidFill>
            <a:prstDash val="solid"/>
          </a:ln>
        </p:spPr>
      </p:sp>
      <p:sp>
        <p:nvSpPr>
          <p:cNvPr id="13" name="Text 11"/>
          <p:cNvSpPr/>
          <p:nvPr/>
        </p:nvSpPr>
        <p:spPr>
          <a:xfrm>
            <a:off x="960120" y="3611880"/>
            <a:ext cx="3017520" cy="74980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Diferencias de velocidad</a:t>
            </a:r>
            <a:endParaRPr lang="en-US" sz="1500" dirty="0"/>
          </a:p>
        </p:txBody>
      </p:sp>
      <p:sp>
        <p:nvSpPr>
          <p:cNvPr id="14" name="Text 12"/>
          <p:cNvSpPr/>
          <p:nvPr/>
        </p:nvSpPr>
        <p:spPr>
          <a:xfrm>
            <a:off x="4069080" y="3611880"/>
            <a:ext cx="3657600" cy="7498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Nadie dice la frase al mismo ritmo</a:t>
            </a:r>
            <a:endParaRPr lang="en-US" sz="1300" dirty="0"/>
          </a:p>
        </p:txBody>
      </p:sp>
      <p:sp>
        <p:nvSpPr>
          <p:cNvPr id="15" name="Text 13"/>
          <p:cNvSpPr/>
          <p:nvPr/>
        </p:nvSpPr>
        <p:spPr>
          <a:xfrm>
            <a:off x="7909560" y="3611880"/>
            <a:ext cx="3291840" cy="749808"/>
          </a:xfrm>
          <a:prstGeom prst="rect">
            <a:avLst/>
          </a:prstGeom>
          <a:noFill/>
          <a:ln/>
        </p:spPr>
        <p:txBody>
          <a:bodyPr wrap="square" lIns="0" tIns="0" rIns="0" bIns="0" rtlCol="0" anchor="ctr"/>
          <a:lstStyle/>
          <a:p>
            <a:pPr indent="0" marL="0">
              <a:buNone/>
            </a:pPr>
            <a:r>
              <a:rPr lang="en-US" sz="1300" b="1" dirty="0">
                <a:solidFill>
                  <a:srgbClr val="17A398"/>
                </a:solidFill>
                <a:latin typeface="Calibri" pitchFamily="34" charset="0"/>
                <a:ea typeface="Calibri" pitchFamily="34" charset="-122"/>
                <a:cs typeface="Calibri" pitchFamily="34" charset="-120"/>
              </a:rPr>
              <a:t>Alineamiento temporal dinámico</a:t>
            </a:r>
            <a:endParaRPr lang="en-US" sz="1300" dirty="0"/>
          </a:p>
        </p:txBody>
      </p:sp>
      <p:sp>
        <p:nvSpPr>
          <p:cNvPr id="16" name="Shape 14"/>
          <p:cNvSpPr/>
          <p:nvPr/>
        </p:nvSpPr>
        <p:spPr>
          <a:xfrm>
            <a:off x="685800" y="4480560"/>
            <a:ext cx="10789920" cy="749808"/>
          </a:xfrm>
          <a:prstGeom prst="roundRect">
            <a:avLst>
              <a:gd name="adj" fmla="val 14634"/>
            </a:avLst>
          </a:prstGeom>
          <a:solidFill>
            <a:srgbClr val="EEF4FB"/>
          </a:solidFill>
          <a:ln w="12700">
            <a:solidFill>
              <a:srgbClr val="EEF4FB"/>
            </a:solidFill>
            <a:prstDash val="solid"/>
          </a:ln>
        </p:spPr>
      </p:sp>
      <p:sp>
        <p:nvSpPr>
          <p:cNvPr id="17" name="Text 15"/>
          <p:cNvSpPr/>
          <p:nvPr/>
        </p:nvSpPr>
        <p:spPr>
          <a:xfrm>
            <a:off x="960120" y="4480560"/>
            <a:ext cx="3017520" cy="74980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Restricción de tiempo real</a:t>
            </a:r>
            <a:endParaRPr lang="en-US" sz="1500" dirty="0"/>
          </a:p>
        </p:txBody>
      </p:sp>
      <p:sp>
        <p:nvSpPr>
          <p:cNvPr id="18" name="Text 16"/>
          <p:cNvSpPr/>
          <p:nvPr/>
        </p:nvSpPr>
        <p:spPr>
          <a:xfrm>
            <a:off x="4069080" y="4480560"/>
            <a:ext cx="3657600" cy="7498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La corrección debe llegar en menos de 2 s</a:t>
            </a:r>
            <a:endParaRPr lang="en-US" sz="1300" dirty="0"/>
          </a:p>
        </p:txBody>
      </p:sp>
      <p:sp>
        <p:nvSpPr>
          <p:cNvPr id="19" name="Text 17"/>
          <p:cNvSpPr/>
          <p:nvPr/>
        </p:nvSpPr>
        <p:spPr>
          <a:xfrm>
            <a:off x="7909560" y="4480560"/>
            <a:ext cx="3291840" cy="749808"/>
          </a:xfrm>
          <a:prstGeom prst="rect">
            <a:avLst/>
          </a:prstGeom>
          <a:noFill/>
          <a:ln/>
        </p:spPr>
        <p:txBody>
          <a:bodyPr wrap="square" lIns="0" tIns="0" rIns="0" bIns="0" rtlCol="0" anchor="ctr"/>
          <a:lstStyle/>
          <a:p>
            <a:pPr indent="0" marL="0">
              <a:buNone/>
            </a:pPr>
            <a:r>
              <a:rPr lang="en-US" sz="1300" b="1" dirty="0">
                <a:solidFill>
                  <a:srgbClr val="17A398"/>
                </a:solidFill>
                <a:latin typeface="Calibri" pitchFamily="34" charset="0"/>
                <a:ea typeface="Calibri" pitchFamily="34" charset="-122"/>
                <a:cs typeface="Calibri" pitchFamily="34" charset="-120"/>
              </a:rPr>
              <a:t>Análisis fuera del hilo principal: 2.14 % de un núcleo</a:t>
            </a:r>
            <a:endParaRPr lang="en-US" sz="1300" dirty="0"/>
          </a:p>
        </p:txBody>
      </p:sp>
      <p:sp>
        <p:nvSpPr>
          <p:cNvPr id="20" name="Text 18"/>
          <p:cNvSpPr/>
          <p:nvPr/>
        </p:nvSpPr>
        <p:spPr>
          <a:xfrm>
            <a:off x="685800" y="5532120"/>
            <a:ext cx="7315200" cy="27432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Dificultad  ·  Consecuencia  ·  Etapa que la atiende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ARQUITECTURA</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Cuatro módulos desacoplados por contrato</a:t>
            </a:r>
            <a:endParaRPr lang="en-US" sz="3200" dirty="0"/>
          </a:p>
        </p:txBody>
      </p:sp>
      <p:pic>
        <p:nvPicPr>
          <p:cNvPr id="4" name="Image 0" descr="/sessions/wonderful-admiring-planck/mnt/mpet/docs/img/arquitectura-final.png">    </p:cNvPr>
          <p:cNvPicPr>
            <a:picLocks noChangeAspect="1"/>
          </p:cNvPicPr>
          <p:nvPr/>
        </p:nvPicPr>
        <p:blipFill>
          <a:blip r:embed="rId1"/>
          <a:stretch>
            <a:fillRect/>
          </a:stretch>
        </p:blipFill>
        <p:spPr>
          <a:xfrm>
            <a:off x="1051560" y="1600200"/>
            <a:ext cx="10058400" cy="3977640"/>
          </a:xfrm>
          <a:prstGeom prst="rect">
            <a:avLst/>
          </a:prstGeom>
        </p:spPr>
      </p:pic>
      <p:sp>
        <p:nvSpPr>
          <p:cNvPr id="5" name="Text 2"/>
          <p:cNvSpPr/>
          <p:nvPr/>
        </p:nvSpPr>
        <p:spPr>
          <a:xfrm>
            <a:off x="685800" y="5715000"/>
            <a:ext cx="10789920" cy="54864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Los contratos se congelaron en la primera semana. Cada módulo trae un simulacro de sus dependencias: la interfaz se desarrolló contra datos simulados desde el día uno.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LA CADENA DE SEÑALES</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De la presión acústica a una distancia comparable</a:t>
            </a:r>
            <a:endParaRPr lang="en-US" sz="3200" dirty="0"/>
          </a:p>
        </p:txBody>
      </p:sp>
      <p:sp>
        <p:nvSpPr>
          <p:cNvPr id="4" name="Shape 2"/>
          <p:cNvSpPr/>
          <p:nvPr/>
        </p:nvSpPr>
        <p:spPr>
          <a:xfrm>
            <a:off x="685800" y="1874520"/>
            <a:ext cx="1267097" cy="1234440"/>
          </a:xfrm>
          <a:prstGeom prst="roundRect">
            <a:avLst>
              <a:gd name="adj" fmla="val 8889"/>
            </a:avLst>
          </a:prstGeom>
          <a:solidFill>
            <a:srgbClr val="EEF4FB"/>
          </a:solidFill>
          <a:ln w="12700">
            <a:solidFill>
              <a:srgbClr val="EEF4FB"/>
            </a:solidFill>
            <a:prstDash val="solid"/>
          </a:ln>
        </p:spPr>
      </p:sp>
      <p:sp>
        <p:nvSpPr>
          <p:cNvPr id="5" name="Text 3"/>
          <p:cNvSpPr/>
          <p:nvPr/>
        </p:nvSpPr>
        <p:spPr>
          <a:xfrm>
            <a:off x="758952" y="2011680"/>
            <a:ext cx="1120793" cy="54864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Captura</a:t>
            </a:r>
            <a:endParaRPr lang="en-US" sz="1350" dirty="0"/>
          </a:p>
        </p:txBody>
      </p:sp>
      <p:sp>
        <p:nvSpPr>
          <p:cNvPr id="6" name="Text 4"/>
          <p:cNvSpPr/>
          <p:nvPr/>
        </p:nvSpPr>
        <p:spPr>
          <a:xfrm>
            <a:off x="758952" y="2514600"/>
            <a:ext cx="1120793" cy="457200"/>
          </a:xfrm>
          <a:prstGeom prst="rect">
            <a:avLst/>
          </a:prstGeom>
          <a:noFill/>
          <a:ln/>
        </p:spPr>
        <p:txBody>
          <a:bodyPr wrap="square" lIns="0" tIns="0" rIns="0" bIns="0" rtlCol="0" anchor="t"/>
          <a:lstStyle/>
          <a:p>
            <a:pPr algn="ctr" indent="0" marL="0">
              <a:buNone/>
            </a:pPr>
            <a:r>
              <a:rPr lang="en-US" sz="1100" dirty="0">
                <a:solidFill>
                  <a:srgbClr val="5A6478"/>
                </a:solidFill>
                <a:latin typeface="Calibri" pitchFamily="34" charset="0"/>
                <a:ea typeface="Calibri" pitchFamily="34" charset="-122"/>
                <a:cs typeface="Calibri" pitchFamily="34" charset="-120"/>
              </a:rPr>
              <a:t>48 kHz</a:t>
            </a:r>
            <a:endParaRPr lang="en-US" sz="1100" dirty="0"/>
          </a:p>
        </p:txBody>
      </p:sp>
      <p:sp>
        <p:nvSpPr>
          <p:cNvPr id="7" name="Shape 5"/>
          <p:cNvSpPr/>
          <p:nvPr/>
        </p:nvSpPr>
        <p:spPr>
          <a:xfrm>
            <a:off x="2272937" y="1874520"/>
            <a:ext cx="1267097" cy="1234440"/>
          </a:xfrm>
          <a:prstGeom prst="roundRect">
            <a:avLst>
              <a:gd name="adj" fmla="val 8889"/>
            </a:avLst>
          </a:prstGeom>
          <a:solidFill>
            <a:srgbClr val="EEF4FB"/>
          </a:solidFill>
          <a:ln w="12700">
            <a:solidFill>
              <a:srgbClr val="EEF4FB"/>
            </a:solidFill>
            <a:prstDash val="solid"/>
          </a:ln>
        </p:spPr>
      </p:sp>
      <p:sp>
        <p:nvSpPr>
          <p:cNvPr id="8" name="Text 6"/>
          <p:cNvSpPr/>
          <p:nvPr/>
        </p:nvSpPr>
        <p:spPr>
          <a:xfrm>
            <a:off x="2346089" y="2011680"/>
            <a:ext cx="1120793" cy="54864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Decimación</a:t>
            </a:r>
            <a:endParaRPr lang="en-US" sz="1350" dirty="0"/>
          </a:p>
        </p:txBody>
      </p:sp>
      <p:sp>
        <p:nvSpPr>
          <p:cNvPr id="9" name="Text 7"/>
          <p:cNvSpPr/>
          <p:nvPr/>
        </p:nvSpPr>
        <p:spPr>
          <a:xfrm>
            <a:off x="2346089" y="2514600"/>
            <a:ext cx="1120793" cy="457200"/>
          </a:xfrm>
          <a:prstGeom prst="rect">
            <a:avLst/>
          </a:prstGeom>
          <a:noFill/>
          <a:ln/>
        </p:spPr>
        <p:txBody>
          <a:bodyPr wrap="square" lIns="0" tIns="0" rIns="0" bIns="0" rtlCol="0" anchor="t"/>
          <a:lstStyle/>
          <a:p>
            <a:pPr algn="ctr" indent="0" marL="0">
              <a:buNone/>
            </a:pPr>
            <a:r>
              <a:rPr lang="en-US" sz="1100" dirty="0">
                <a:solidFill>
                  <a:srgbClr val="5A6478"/>
                </a:solidFill>
                <a:latin typeface="Calibri" pitchFamily="34" charset="0"/>
                <a:ea typeface="Calibri" pitchFamily="34" charset="-122"/>
                <a:cs typeface="Calibri" pitchFamily="34" charset="-120"/>
              </a:rPr>
              <a:t>x3, FIR 127</a:t>
            </a:r>
            <a:endParaRPr lang="en-US" sz="1100" dirty="0"/>
          </a:p>
        </p:txBody>
      </p:sp>
      <p:sp>
        <p:nvSpPr>
          <p:cNvPr id="10" name="Shape 8"/>
          <p:cNvSpPr/>
          <p:nvPr/>
        </p:nvSpPr>
        <p:spPr>
          <a:xfrm>
            <a:off x="3860074" y="1874520"/>
            <a:ext cx="1267097" cy="1234440"/>
          </a:xfrm>
          <a:prstGeom prst="roundRect">
            <a:avLst>
              <a:gd name="adj" fmla="val 8889"/>
            </a:avLst>
          </a:prstGeom>
          <a:solidFill>
            <a:srgbClr val="EEF4FB"/>
          </a:solidFill>
          <a:ln w="12700">
            <a:solidFill>
              <a:srgbClr val="EEF4FB"/>
            </a:solidFill>
            <a:prstDash val="solid"/>
          </a:ln>
        </p:spPr>
      </p:sp>
      <p:sp>
        <p:nvSpPr>
          <p:cNvPr id="11" name="Text 9"/>
          <p:cNvSpPr/>
          <p:nvPr/>
        </p:nvSpPr>
        <p:spPr>
          <a:xfrm>
            <a:off x="3933226" y="2011680"/>
            <a:ext cx="1120793" cy="54864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Pasa-banda</a:t>
            </a:r>
            <a:endParaRPr lang="en-US" sz="1350" dirty="0"/>
          </a:p>
        </p:txBody>
      </p:sp>
      <p:sp>
        <p:nvSpPr>
          <p:cNvPr id="12" name="Text 10"/>
          <p:cNvSpPr/>
          <p:nvPr/>
        </p:nvSpPr>
        <p:spPr>
          <a:xfrm>
            <a:off x="3933226" y="2514600"/>
            <a:ext cx="1120793" cy="457200"/>
          </a:xfrm>
          <a:prstGeom prst="rect">
            <a:avLst/>
          </a:prstGeom>
          <a:noFill/>
          <a:ln/>
        </p:spPr>
        <p:txBody>
          <a:bodyPr wrap="square" lIns="0" tIns="0" rIns="0" bIns="0" rtlCol="0" anchor="t"/>
          <a:lstStyle/>
          <a:p>
            <a:pPr algn="ctr" indent="0" marL="0">
              <a:buNone/>
            </a:pPr>
            <a:r>
              <a:rPr lang="en-US" sz="1100" dirty="0">
                <a:solidFill>
                  <a:srgbClr val="5A6478"/>
                </a:solidFill>
                <a:latin typeface="Calibri" pitchFamily="34" charset="0"/>
                <a:ea typeface="Calibri" pitchFamily="34" charset="-122"/>
                <a:cs typeface="Calibri" pitchFamily="34" charset="-120"/>
              </a:rPr>
              <a:t>80 - 8 000 Hz</a:t>
            </a:r>
            <a:endParaRPr lang="en-US" sz="1100" dirty="0"/>
          </a:p>
        </p:txBody>
      </p:sp>
      <p:sp>
        <p:nvSpPr>
          <p:cNvPr id="13" name="Shape 11"/>
          <p:cNvSpPr/>
          <p:nvPr/>
        </p:nvSpPr>
        <p:spPr>
          <a:xfrm>
            <a:off x="5447211" y="1874520"/>
            <a:ext cx="1267097" cy="1234440"/>
          </a:xfrm>
          <a:prstGeom prst="roundRect">
            <a:avLst>
              <a:gd name="adj" fmla="val 8889"/>
            </a:avLst>
          </a:prstGeom>
          <a:solidFill>
            <a:srgbClr val="EEF4FB"/>
          </a:solidFill>
          <a:ln w="12700">
            <a:solidFill>
              <a:srgbClr val="EEF4FB"/>
            </a:solidFill>
            <a:prstDash val="solid"/>
          </a:ln>
        </p:spPr>
      </p:sp>
      <p:sp>
        <p:nvSpPr>
          <p:cNvPr id="14" name="Text 12"/>
          <p:cNvSpPr/>
          <p:nvPr/>
        </p:nvSpPr>
        <p:spPr>
          <a:xfrm>
            <a:off x="5520363" y="2011680"/>
            <a:ext cx="1120793" cy="54864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Detección de voz</a:t>
            </a:r>
            <a:endParaRPr lang="en-US" sz="1350" dirty="0"/>
          </a:p>
        </p:txBody>
      </p:sp>
      <p:sp>
        <p:nvSpPr>
          <p:cNvPr id="15" name="Text 13"/>
          <p:cNvSpPr/>
          <p:nvPr/>
        </p:nvSpPr>
        <p:spPr>
          <a:xfrm>
            <a:off x="5520363" y="2514600"/>
            <a:ext cx="1120793" cy="457200"/>
          </a:xfrm>
          <a:prstGeom prst="rect">
            <a:avLst/>
          </a:prstGeom>
          <a:noFill/>
          <a:ln/>
        </p:spPr>
        <p:txBody>
          <a:bodyPr wrap="square" lIns="0" tIns="0" rIns="0" bIns="0" rtlCol="0" anchor="t"/>
          <a:lstStyle/>
          <a:p>
            <a:pPr algn="ctr" indent="0" marL="0">
              <a:buNone/>
            </a:pPr>
            <a:r>
              <a:rPr lang="en-US" sz="1100" dirty="0">
                <a:solidFill>
                  <a:srgbClr val="5A6478"/>
                </a:solidFill>
                <a:latin typeface="Calibri" pitchFamily="34" charset="0"/>
                <a:ea typeface="Calibri" pitchFamily="34" charset="-122"/>
                <a:cs typeface="Calibri" pitchFamily="34" charset="-120"/>
              </a:rPr>
              <a:t>energía + periodicidad</a:t>
            </a:r>
            <a:endParaRPr lang="en-US" sz="1100" dirty="0"/>
          </a:p>
        </p:txBody>
      </p:sp>
      <p:sp>
        <p:nvSpPr>
          <p:cNvPr id="16" name="Shape 14"/>
          <p:cNvSpPr/>
          <p:nvPr/>
        </p:nvSpPr>
        <p:spPr>
          <a:xfrm>
            <a:off x="7034349" y="1874520"/>
            <a:ext cx="1267097" cy="1234440"/>
          </a:xfrm>
          <a:prstGeom prst="roundRect">
            <a:avLst>
              <a:gd name="adj" fmla="val 8889"/>
            </a:avLst>
          </a:prstGeom>
          <a:solidFill>
            <a:srgbClr val="EEF4FB"/>
          </a:solidFill>
          <a:ln w="12700">
            <a:solidFill>
              <a:srgbClr val="EEF4FB"/>
            </a:solidFill>
            <a:prstDash val="solid"/>
          </a:ln>
        </p:spPr>
      </p:sp>
      <p:sp>
        <p:nvSpPr>
          <p:cNvPr id="17" name="Text 15"/>
          <p:cNvSpPr/>
          <p:nvPr/>
        </p:nvSpPr>
        <p:spPr>
          <a:xfrm>
            <a:off x="7107501" y="2011680"/>
            <a:ext cx="1120793" cy="54864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STFT</a:t>
            </a:r>
            <a:endParaRPr lang="en-US" sz="1350" dirty="0"/>
          </a:p>
        </p:txBody>
      </p:sp>
      <p:sp>
        <p:nvSpPr>
          <p:cNvPr id="18" name="Text 16"/>
          <p:cNvSpPr/>
          <p:nvPr/>
        </p:nvSpPr>
        <p:spPr>
          <a:xfrm>
            <a:off x="7107501" y="2514600"/>
            <a:ext cx="1120793" cy="457200"/>
          </a:xfrm>
          <a:prstGeom prst="rect">
            <a:avLst/>
          </a:prstGeom>
          <a:noFill/>
          <a:ln/>
        </p:spPr>
        <p:txBody>
          <a:bodyPr wrap="square" lIns="0" tIns="0" rIns="0" bIns="0" rtlCol="0" anchor="t"/>
          <a:lstStyle/>
          <a:p>
            <a:pPr algn="ctr" indent="0" marL="0">
              <a:buNone/>
            </a:pPr>
            <a:r>
              <a:rPr lang="en-US" sz="1100" dirty="0">
                <a:solidFill>
                  <a:srgbClr val="5A6478"/>
                </a:solidFill>
                <a:latin typeface="Calibri" pitchFamily="34" charset="0"/>
                <a:ea typeface="Calibri" pitchFamily="34" charset="-122"/>
                <a:cs typeface="Calibri" pitchFamily="34" charset="-120"/>
              </a:rPr>
              <a:t>512 / 256</a:t>
            </a:r>
            <a:endParaRPr lang="en-US" sz="1100" dirty="0"/>
          </a:p>
        </p:txBody>
      </p:sp>
      <p:sp>
        <p:nvSpPr>
          <p:cNvPr id="19" name="Shape 17"/>
          <p:cNvSpPr/>
          <p:nvPr/>
        </p:nvSpPr>
        <p:spPr>
          <a:xfrm>
            <a:off x="8621486" y="1874520"/>
            <a:ext cx="1267097" cy="1234440"/>
          </a:xfrm>
          <a:prstGeom prst="roundRect">
            <a:avLst>
              <a:gd name="adj" fmla="val 8889"/>
            </a:avLst>
          </a:prstGeom>
          <a:solidFill>
            <a:srgbClr val="EEF4FB"/>
          </a:solidFill>
          <a:ln w="12700">
            <a:solidFill>
              <a:srgbClr val="EEF4FB"/>
            </a:solidFill>
            <a:prstDash val="solid"/>
          </a:ln>
        </p:spPr>
      </p:sp>
      <p:sp>
        <p:nvSpPr>
          <p:cNvPr id="20" name="Text 18"/>
          <p:cNvSpPr/>
          <p:nvPr/>
        </p:nvSpPr>
        <p:spPr>
          <a:xfrm>
            <a:off x="8694638" y="2011680"/>
            <a:ext cx="1120793" cy="54864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MFCC + YIN</a:t>
            </a:r>
            <a:endParaRPr lang="en-US" sz="1350" dirty="0"/>
          </a:p>
        </p:txBody>
      </p:sp>
      <p:sp>
        <p:nvSpPr>
          <p:cNvPr id="21" name="Text 19"/>
          <p:cNvSpPr/>
          <p:nvPr/>
        </p:nvSpPr>
        <p:spPr>
          <a:xfrm>
            <a:off x="8694638" y="2514600"/>
            <a:ext cx="1120793" cy="457200"/>
          </a:xfrm>
          <a:prstGeom prst="rect">
            <a:avLst/>
          </a:prstGeom>
          <a:noFill/>
          <a:ln/>
        </p:spPr>
        <p:txBody>
          <a:bodyPr wrap="square" lIns="0" tIns="0" rIns="0" bIns="0" rtlCol="0" anchor="t"/>
          <a:lstStyle/>
          <a:p>
            <a:pPr algn="ctr" indent="0" marL="0">
              <a:buNone/>
            </a:pPr>
            <a:r>
              <a:rPr lang="en-US" sz="1100" dirty="0">
                <a:solidFill>
                  <a:srgbClr val="5A6478"/>
                </a:solidFill>
                <a:latin typeface="Calibri" pitchFamily="34" charset="0"/>
                <a:ea typeface="Calibri" pitchFamily="34" charset="-122"/>
                <a:cs typeface="Calibri" pitchFamily="34" charset="-120"/>
              </a:rPr>
              <a:t>13 coef.</a:t>
            </a:r>
            <a:endParaRPr lang="en-US" sz="1100" dirty="0"/>
          </a:p>
        </p:txBody>
      </p:sp>
      <p:sp>
        <p:nvSpPr>
          <p:cNvPr id="22" name="Shape 20"/>
          <p:cNvSpPr/>
          <p:nvPr/>
        </p:nvSpPr>
        <p:spPr>
          <a:xfrm>
            <a:off x="10208623" y="1874520"/>
            <a:ext cx="1267097" cy="1234440"/>
          </a:xfrm>
          <a:prstGeom prst="roundRect">
            <a:avLst>
              <a:gd name="adj" fmla="val 8889"/>
            </a:avLst>
          </a:prstGeom>
          <a:solidFill>
            <a:srgbClr val="16233F"/>
          </a:solidFill>
          <a:ln w="12700">
            <a:solidFill>
              <a:srgbClr val="16233F"/>
            </a:solidFill>
            <a:prstDash val="solid"/>
          </a:ln>
        </p:spPr>
      </p:sp>
      <p:sp>
        <p:nvSpPr>
          <p:cNvPr id="23" name="Text 21"/>
          <p:cNvSpPr/>
          <p:nvPr/>
        </p:nvSpPr>
        <p:spPr>
          <a:xfrm>
            <a:off x="10281775" y="2011680"/>
            <a:ext cx="1120793"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DTW</a:t>
            </a:r>
            <a:endParaRPr lang="en-US" sz="1350" dirty="0"/>
          </a:p>
        </p:txBody>
      </p:sp>
      <p:sp>
        <p:nvSpPr>
          <p:cNvPr id="24" name="Text 22"/>
          <p:cNvSpPr/>
          <p:nvPr/>
        </p:nvSpPr>
        <p:spPr>
          <a:xfrm>
            <a:off x="10281775" y="2514600"/>
            <a:ext cx="1120793" cy="457200"/>
          </a:xfrm>
          <a:prstGeom prst="rect">
            <a:avLst/>
          </a:prstGeom>
          <a:noFill/>
          <a:ln/>
        </p:spPr>
        <p:txBody>
          <a:bodyPr wrap="square" lIns="0" tIns="0" rIns="0" bIns="0" rtlCol="0" anchor="t"/>
          <a:lstStyle/>
          <a:p>
            <a:pPr algn="ctr" indent="0" marL="0">
              <a:buNone/>
            </a:pPr>
            <a:r>
              <a:rPr lang="en-US" sz="1100" dirty="0">
                <a:solidFill>
                  <a:srgbClr val="DCE7F5"/>
                </a:solidFill>
                <a:latin typeface="Calibri" pitchFamily="34" charset="0"/>
                <a:ea typeface="Calibri" pitchFamily="34" charset="-122"/>
                <a:cs typeface="Calibri" pitchFamily="34" charset="-120"/>
              </a:rPr>
              <a:t>Sakoe-Chiba 15 %</a:t>
            </a:r>
            <a:endParaRPr lang="en-US" sz="1100" dirty="0"/>
          </a:p>
        </p:txBody>
      </p:sp>
      <p:sp>
        <p:nvSpPr>
          <p:cNvPr id="25" name="Text 23"/>
          <p:cNvSpPr/>
          <p:nvPr/>
        </p:nvSpPr>
        <p:spPr>
          <a:xfrm>
            <a:off x="685800" y="3291840"/>
            <a:ext cx="10789920" cy="365760"/>
          </a:xfrm>
          <a:prstGeom prst="rect">
            <a:avLst/>
          </a:prstGeom>
          <a:noFill/>
          <a:ln/>
        </p:spPr>
        <p:txBody>
          <a:bodyPr wrap="square" lIns="0" tIns="0" rIns="0" bIns="0" rtlCol="0" anchor="ctr"/>
          <a:lstStyle/>
          <a:p>
            <a:pPr algn="ctr" indent="0" marL="0">
              <a:buNone/>
            </a:pPr>
            <a:r>
              <a:rPr lang="en-US" sz="1400" i="1" dirty="0">
                <a:solidFill>
                  <a:srgbClr val="5A6478"/>
                </a:solidFill>
                <a:latin typeface="Calibri" pitchFamily="34" charset="0"/>
                <a:ea typeface="Calibri" pitchFamily="34" charset="-122"/>
                <a:cs typeface="Calibri" pitchFamily="34" charset="-120"/>
              </a:rPr>
              <a:t>Cada etapa descarta deliberadamente algo que no debe influir en la comparación</a:t>
            </a:r>
            <a:endParaRPr lang="en-US" sz="1400" dirty="0"/>
          </a:p>
        </p:txBody>
      </p:sp>
      <p:sp>
        <p:nvSpPr>
          <p:cNvPr id="26" name="Text 24"/>
          <p:cNvSpPr/>
          <p:nvPr/>
        </p:nvSpPr>
        <p:spPr>
          <a:xfrm>
            <a:off x="685800" y="3977640"/>
            <a:ext cx="2743200" cy="777240"/>
          </a:xfrm>
          <a:prstGeom prst="rect">
            <a:avLst/>
          </a:prstGeom>
          <a:noFill/>
          <a:ln/>
        </p:spPr>
        <p:txBody>
          <a:bodyPr wrap="square" lIns="0" tIns="0" rIns="0" bIns="0" rtlCol="0" anchor="ctr"/>
          <a:lstStyle/>
          <a:p>
            <a:pPr algn="l" indent="0" marL="0">
              <a:buNone/>
            </a:pPr>
            <a:r>
              <a:rPr lang="en-US" sz="4400" b="1" dirty="0">
                <a:solidFill>
                  <a:srgbClr val="16233F"/>
                </a:solidFill>
                <a:latin typeface="Cambria" pitchFamily="34" charset="0"/>
                <a:ea typeface="Cambria" pitchFamily="34" charset="-122"/>
                <a:cs typeface="Cambria" pitchFamily="34" charset="-120"/>
              </a:rPr>
              <a:t>73.8 dB</a:t>
            </a:r>
            <a:endParaRPr lang="en-US" sz="4400" dirty="0"/>
          </a:p>
        </p:txBody>
      </p:sp>
      <p:sp>
        <p:nvSpPr>
          <p:cNvPr id="27" name="Text 25"/>
          <p:cNvSpPr/>
          <p:nvPr/>
        </p:nvSpPr>
        <p:spPr>
          <a:xfrm>
            <a:off x="685800" y="4754880"/>
            <a:ext cx="2743200" cy="685800"/>
          </a:xfrm>
          <a:prstGeom prst="rect">
            <a:avLst/>
          </a:prstGeom>
          <a:noFill/>
          <a:ln/>
        </p:spPr>
        <p:txBody>
          <a:bodyPr wrap="square" lIns="0" tIns="0" rIns="0" bIns="0" rtlCol="0" anchor="t"/>
          <a:lstStyle/>
          <a:p>
            <a:pPr algn="l" indent="0" marL="0">
              <a:buNone/>
            </a:pPr>
            <a:r>
              <a:rPr lang="en-US" sz="1250" dirty="0">
                <a:solidFill>
                  <a:srgbClr val="5A6478"/>
                </a:solidFill>
                <a:latin typeface="Calibri" pitchFamily="34" charset="0"/>
                <a:ea typeface="Calibri" pitchFamily="34" charset="-122"/>
                <a:cs typeface="Calibri" pitchFamily="34" charset="-120"/>
              </a:rPr>
              <a:t>Atenuación de alias del filtro de decimación, 127 coeficientes</a:t>
            </a:r>
            <a:endParaRPr lang="en-US" sz="1250" dirty="0"/>
          </a:p>
        </p:txBody>
      </p:sp>
      <p:sp>
        <p:nvSpPr>
          <p:cNvPr id="28" name="Text 26"/>
          <p:cNvSpPr/>
          <p:nvPr/>
        </p:nvSpPr>
        <p:spPr>
          <a:xfrm>
            <a:off x="3611880" y="3977640"/>
            <a:ext cx="2743200" cy="777240"/>
          </a:xfrm>
          <a:prstGeom prst="rect">
            <a:avLst/>
          </a:prstGeom>
          <a:noFill/>
          <a:ln/>
        </p:spPr>
        <p:txBody>
          <a:bodyPr wrap="square" lIns="0" tIns="0" rIns="0" bIns="0" rtlCol="0" anchor="ctr"/>
          <a:lstStyle/>
          <a:p>
            <a:pPr algn="l" indent="0" marL="0">
              <a:buNone/>
            </a:pPr>
            <a:r>
              <a:rPr lang="en-US" sz="4400" b="1" dirty="0">
                <a:solidFill>
                  <a:srgbClr val="17A398"/>
                </a:solidFill>
                <a:latin typeface="Cambria" pitchFamily="34" charset="0"/>
                <a:ea typeface="Cambria" pitchFamily="34" charset="-122"/>
                <a:cs typeface="Cambria" pitchFamily="34" charset="-120"/>
              </a:rPr>
              <a:t>0.115 Hz</a:t>
            </a:r>
            <a:endParaRPr lang="en-US" sz="4400" dirty="0"/>
          </a:p>
        </p:txBody>
      </p:sp>
      <p:sp>
        <p:nvSpPr>
          <p:cNvPr id="29" name="Text 27"/>
          <p:cNvSpPr/>
          <p:nvPr/>
        </p:nvSpPr>
        <p:spPr>
          <a:xfrm>
            <a:off x="3611880" y="4754880"/>
            <a:ext cx="2743200" cy="685800"/>
          </a:xfrm>
          <a:prstGeom prst="rect">
            <a:avLst/>
          </a:prstGeom>
          <a:noFill/>
          <a:ln/>
        </p:spPr>
        <p:txBody>
          <a:bodyPr wrap="square" lIns="0" tIns="0" rIns="0" bIns="0" rtlCol="0" anchor="t"/>
          <a:lstStyle/>
          <a:p>
            <a:pPr algn="l" indent="0" marL="0">
              <a:buNone/>
            </a:pPr>
            <a:r>
              <a:rPr lang="en-US" sz="1250" dirty="0">
                <a:solidFill>
                  <a:srgbClr val="5A6478"/>
                </a:solidFill>
                <a:latin typeface="Calibri" pitchFamily="34" charset="0"/>
                <a:ea typeface="Calibri" pitchFamily="34" charset="-122"/>
                <a:cs typeface="Calibri" pitchFamily="34" charset="-120"/>
              </a:rPr>
              <a:t>Error de frecuencia fundamental. El criterio del plan era 3 Hz</a:t>
            </a:r>
            <a:endParaRPr lang="en-US" sz="1250" dirty="0"/>
          </a:p>
        </p:txBody>
      </p:sp>
      <p:sp>
        <p:nvSpPr>
          <p:cNvPr id="30" name="Text 28"/>
          <p:cNvSpPr/>
          <p:nvPr/>
        </p:nvSpPr>
        <p:spPr>
          <a:xfrm>
            <a:off x="6537960" y="3977640"/>
            <a:ext cx="2743200" cy="777240"/>
          </a:xfrm>
          <a:prstGeom prst="rect">
            <a:avLst/>
          </a:prstGeom>
          <a:noFill/>
          <a:ln/>
        </p:spPr>
        <p:txBody>
          <a:bodyPr wrap="square" lIns="0" tIns="0" rIns="0" bIns="0" rtlCol="0" anchor="ctr"/>
          <a:lstStyle/>
          <a:p>
            <a:pPr algn="l" indent="0" marL="0">
              <a:buNone/>
            </a:pPr>
            <a:r>
              <a:rPr lang="en-US" sz="4400" b="1" dirty="0">
                <a:solidFill>
                  <a:srgbClr val="17A398"/>
                </a:solidFill>
                <a:latin typeface="Cambria" pitchFamily="34" charset="0"/>
                <a:ea typeface="Cambria" pitchFamily="34" charset="-122"/>
                <a:cs typeface="Cambria" pitchFamily="34" charset="-120"/>
              </a:rPr>
              <a:t>0.009 %</a:t>
            </a:r>
            <a:endParaRPr lang="en-US" sz="4400" dirty="0"/>
          </a:p>
        </p:txBody>
      </p:sp>
      <p:sp>
        <p:nvSpPr>
          <p:cNvPr id="31" name="Text 29"/>
          <p:cNvSpPr/>
          <p:nvPr/>
        </p:nvSpPr>
        <p:spPr>
          <a:xfrm>
            <a:off x="6537960" y="4754880"/>
            <a:ext cx="2743200" cy="685800"/>
          </a:xfrm>
          <a:prstGeom prst="rect">
            <a:avLst/>
          </a:prstGeom>
          <a:noFill/>
          <a:ln/>
        </p:spPr>
        <p:txBody>
          <a:bodyPr wrap="square" lIns="0" tIns="0" rIns="0" bIns="0" rtlCol="0" anchor="t"/>
          <a:lstStyle/>
          <a:p>
            <a:pPr algn="l" indent="0" marL="0">
              <a:buNone/>
            </a:pPr>
            <a:r>
              <a:rPr lang="en-US" sz="1250" dirty="0">
                <a:solidFill>
                  <a:srgbClr val="5A6478"/>
                </a:solidFill>
                <a:latin typeface="Calibri" pitchFamily="34" charset="0"/>
                <a:ea typeface="Calibri" pitchFamily="34" charset="-122"/>
                <a:cs typeface="Calibri" pitchFamily="34" charset="-120"/>
              </a:rPr>
              <a:t>Error de los coeficientes cepstrales frente a librosa. El criterio era 5 %</a:t>
            </a:r>
            <a:endParaRPr lang="en-US" sz="1250" dirty="0"/>
          </a:p>
        </p:txBody>
      </p:sp>
      <p:sp>
        <p:nvSpPr>
          <p:cNvPr id="32" name="Text 30"/>
          <p:cNvSpPr/>
          <p:nvPr/>
        </p:nvSpPr>
        <p:spPr>
          <a:xfrm>
            <a:off x="9464040" y="3977640"/>
            <a:ext cx="2011680" cy="777240"/>
          </a:xfrm>
          <a:prstGeom prst="rect">
            <a:avLst/>
          </a:prstGeom>
          <a:noFill/>
          <a:ln/>
        </p:spPr>
        <p:txBody>
          <a:bodyPr wrap="square" lIns="0" tIns="0" rIns="0" bIns="0" rtlCol="0" anchor="ctr"/>
          <a:lstStyle/>
          <a:p>
            <a:pPr algn="l" indent="0" marL="0">
              <a:buNone/>
            </a:pPr>
            <a:r>
              <a:rPr lang="en-US" sz="4400" b="1" dirty="0">
                <a:solidFill>
                  <a:srgbClr val="16233F"/>
                </a:solidFill>
                <a:latin typeface="Cambria" pitchFamily="34" charset="0"/>
                <a:ea typeface="Cambria" pitchFamily="34" charset="-122"/>
                <a:cs typeface="Cambria" pitchFamily="34" charset="-120"/>
              </a:rPr>
              <a:t>21.4 ms</a:t>
            </a:r>
            <a:endParaRPr lang="en-US" sz="4400" dirty="0"/>
          </a:p>
        </p:txBody>
      </p:sp>
      <p:sp>
        <p:nvSpPr>
          <p:cNvPr id="33" name="Text 31"/>
          <p:cNvSpPr/>
          <p:nvPr/>
        </p:nvSpPr>
        <p:spPr>
          <a:xfrm>
            <a:off x="9464040" y="4754880"/>
            <a:ext cx="2011680" cy="685800"/>
          </a:xfrm>
          <a:prstGeom prst="rect">
            <a:avLst/>
          </a:prstGeom>
          <a:noFill/>
          <a:ln/>
        </p:spPr>
        <p:txBody>
          <a:bodyPr wrap="square" lIns="0" tIns="0" rIns="0" bIns="0" rtlCol="0" anchor="t"/>
          <a:lstStyle/>
          <a:p>
            <a:pPr algn="l" indent="0" marL="0">
              <a:buNone/>
            </a:pPr>
            <a:r>
              <a:rPr lang="en-US" sz="1250" dirty="0">
                <a:solidFill>
                  <a:srgbClr val="5A6478"/>
                </a:solidFill>
                <a:latin typeface="Calibri" pitchFamily="34" charset="0"/>
                <a:ea typeface="Calibri" pitchFamily="34" charset="-122"/>
                <a:cs typeface="Calibri" pitchFamily="34" charset="-120"/>
              </a:rPr>
              <a:t>Costo del análisis por segundo de audio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VERIFICACIÓN</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Contra la teoría, no contra otra biblioteca</a:t>
            </a:r>
            <a:endParaRPr lang="en-US" sz="3200" dirty="0"/>
          </a:p>
        </p:txBody>
      </p:sp>
      <p:sp>
        <p:nvSpPr>
          <p:cNvPr id="4" name="Shape 2"/>
          <p:cNvSpPr/>
          <p:nvPr/>
        </p:nvSpPr>
        <p:spPr>
          <a:xfrm>
            <a:off x="685800" y="1828800"/>
            <a:ext cx="5669280" cy="3657600"/>
          </a:xfrm>
          <a:prstGeom prst="roundRect">
            <a:avLst>
              <a:gd name="adj" fmla="val 3000"/>
            </a:avLst>
          </a:prstGeom>
          <a:solidFill>
            <a:srgbClr val="EEF4FB"/>
          </a:solidFill>
          <a:ln w="12700">
            <a:solidFill>
              <a:srgbClr val="EEF4FB"/>
            </a:solidFill>
            <a:prstDash val="solid"/>
          </a:ln>
        </p:spPr>
      </p:sp>
      <p:sp>
        <p:nvSpPr>
          <p:cNvPr id="5" name="Text 3"/>
          <p:cNvSpPr/>
          <p:nvPr/>
        </p:nvSpPr>
        <p:spPr>
          <a:xfrm>
            <a:off x="1005840" y="2011680"/>
            <a:ext cx="5029200" cy="365760"/>
          </a:xfrm>
          <a:prstGeom prst="rect">
            <a:avLst/>
          </a:prstGeom>
          <a:noFill/>
          <a:ln/>
        </p:spPr>
        <p:txBody>
          <a:bodyPr wrap="square" lIns="0" tIns="0" rIns="0" bIns="0" rtlCol="0" anchor="ctr"/>
          <a:lstStyle/>
          <a:p>
            <a:pPr indent="0" marL="0">
              <a:buNone/>
            </a:pPr>
            <a:r>
              <a:rPr lang="en-US" sz="1700" b="1" dirty="0">
                <a:solidFill>
                  <a:srgbClr val="16233F"/>
                </a:solidFill>
                <a:latin typeface="Cambria" pitchFamily="34" charset="0"/>
                <a:ea typeface="Cambria" pitchFamily="34" charset="-122"/>
                <a:cs typeface="Cambria" pitchFamily="34" charset="-120"/>
              </a:rPr>
              <a:t>Cinco niveles, en orden de solidez</a:t>
            </a:r>
            <a:endParaRPr lang="en-US" sz="1700" dirty="0"/>
          </a:p>
        </p:txBody>
      </p:sp>
      <p:sp>
        <p:nvSpPr>
          <p:cNvPr id="6" name="Text 4"/>
          <p:cNvSpPr/>
          <p:nvPr/>
        </p:nvSpPr>
        <p:spPr>
          <a:xfrm>
            <a:off x="1005840" y="2468880"/>
            <a:ext cx="5029200" cy="3291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Casos de solución analítica cerrada: una senoide centrada debe dar magnitud N/2 exacta</a:t>
            </a:r>
            <a:endParaRPr lang="en-US" sz="1300" dirty="0"/>
          </a:p>
          <a:p>
            <a:pPr marL="342900" indent="-342900">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La definición como referencia: la DFT directa se implementa dentro de la prueba</a:t>
            </a:r>
            <a:endParaRPr lang="en-US" sz="1300" dirty="0"/>
          </a:p>
          <a:p>
            <a:pPr marL="342900" indent="-342900">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Propiedades estructurales: linealidad, Parseval, simetría conjugada</a:t>
            </a:r>
            <a:endParaRPr lang="en-US" sz="1300" dirty="0"/>
          </a:p>
          <a:p>
            <a:pPr marL="342900" indent="-342900">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Señales sintéticas de parámetros conocidos</a:t>
            </a:r>
            <a:endParaRPr lang="en-US" sz="1300" dirty="0"/>
          </a:p>
          <a:p>
            <a:pPr marL="342900" indent="-342900">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Grabaciones reales, solo para calibración</a:t>
            </a:r>
            <a:endParaRPr lang="en-US" sz="1300" dirty="0"/>
          </a:p>
        </p:txBody>
      </p:sp>
      <p:sp>
        <p:nvSpPr>
          <p:cNvPr id="7" name="Shape 5"/>
          <p:cNvSpPr/>
          <p:nvPr/>
        </p:nvSpPr>
        <p:spPr>
          <a:xfrm>
            <a:off x="6720840" y="1828800"/>
            <a:ext cx="4754880" cy="3657600"/>
          </a:xfrm>
          <a:prstGeom prst="roundRect">
            <a:avLst>
              <a:gd name="adj" fmla="val 3000"/>
            </a:avLst>
          </a:prstGeom>
          <a:solidFill>
            <a:srgbClr val="16233F"/>
          </a:solidFill>
          <a:ln w="12700">
            <a:solidFill>
              <a:srgbClr val="16233F"/>
            </a:solidFill>
            <a:prstDash val="solid"/>
          </a:ln>
        </p:spPr>
      </p:sp>
      <p:sp>
        <p:nvSpPr>
          <p:cNvPr id="8" name="Text 6"/>
          <p:cNvSpPr/>
          <p:nvPr/>
        </p:nvSpPr>
        <p:spPr>
          <a:xfrm>
            <a:off x="7040880" y="201168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Lo que esa estrategia no cubre</a:t>
            </a:r>
            <a:endParaRPr lang="en-US" sz="1700" dirty="0"/>
          </a:p>
        </p:txBody>
      </p:sp>
      <p:sp>
        <p:nvSpPr>
          <p:cNvPr id="9" name="Text 7"/>
          <p:cNvSpPr/>
          <p:nvPr/>
        </p:nvSpPr>
        <p:spPr>
          <a:xfrm>
            <a:off x="7040880" y="2468880"/>
            <a:ext cx="4206240" cy="914400"/>
          </a:xfrm>
          <a:prstGeom prst="rect">
            <a:avLst/>
          </a:prstGeom>
          <a:noFill/>
          <a:ln/>
        </p:spPr>
        <p:txBody>
          <a:bodyPr wrap="square" lIns="0" tIns="0" rIns="0" bIns="0" rtlCol="0" anchor="t"/>
          <a:lstStyle/>
          <a:p>
            <a:pPr indent="0" marL="0">
              <a:buNone/>
            </a:pPr>
            <a:r>
              <a:rPr lang="en-US" sz="1350" dirty="0">
                <a:solidFill>
                  <a:srgbClr val="DCE7F5"/>
                </a:solidFill>
                <a:latin typeface="Calibri" pitchFamily="34" charset="0"/>
                <a:ea typeface="Calibri" pitchFamily="34" charset="-122"/>
                <a:cs typeface="Calibri" pitchFamily="34" charset="-120"/>
              </a:rPr>
              <a:t>Los cuatro primeros niveles verifican que cada etapa cumple su definición. No verifican que el sistema sirva a su propósito.</a:t>
            </a:r>
            <a:endParaRPr lang="en-US" sz="1350" dirty="0"/>
          </a:p>
        </p:txBody>
      </p:sp>
      <p:sp>
        <p:nvSpPr>
          <p:cNvPr id="10" name="Text 8"/>
          <p:cNvSpPr/>
          <p:nvPr/>
        </p:nvSpPr>
        <p:spPr>
          <a:xfrm>
            <a:off x="7040880" y="3429000"/>
            <a:ext cx="4206240" cy="914400"/>
          </a:xfrm>
          <a:prstGeom prst="rect">
            <a:avLst/>
          </a:prstGeom>
          <a:noFill/>
          <a:ln/>
        </p:spPr>
        <p:txBody>
          <a:bodyPr wrap="square" lIns="0" tIns="0" rIns="0" bIns="0" rtlCol="0" anchor="t"/>
          <a:lstStyle/>
          <a:p>
            <a:pPr indent="0" marL="0">
              <a:buNone/>
            </a:pPr>
            <a:r>
              <a:rPr lang="en-US" sz="1350" b="1" dirty="0">
                <a:solidFill>
                  <a:srgbClr val="17A398"/>
                </a:solidFill>
                <a:latin typeface="Calibri" pitchFamily="34" charset="0"/>
                <a:ea typeface="Calibri" pitchFamily="34" charset="-122"/>
                <a:cs typeface="Calibri" pitchFamily="34" charset="-120"/>
              </a:rPr>
              <a:t>Los dos hallazgos de fondo del proyecto aparecieron al contrastar contra una referencia externa y contra voz real.</a:t>
            </a:r>
            <a:endParaRPr lang="en-US" sz="1350" dirty="0"/>
          </a:p>
        </p:txBody>
      </p:sp>
      <p:sp>
        <p:nvSpPr>
          <p:cNvPr id="11" name="Text 9"/>
          <p:cNvSpPr/>
          <p:nvPr/>
        </p:nvSpPr>
        <p:spPr>
          <a:xfrm>
            <a:off x="7040880" y="4709160"/>
            <a:ext cx="420624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655 pruebas  ·  46 archivos  ·  integración continua en cada solicitud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HALLAZGO 1</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Cuatro niveles de prueba en verde, con un defecto vivo</a:t>
            </a:r>
            <a:endParaRPr lang="en-US" sz="3200" dirty="0"/>
          </a:p>
        </p:txBody>
      </p:sp>
      <p:sp>
        <p:nvSpPr>
          <p:cNvPr id="4" name="Text 2"/>
          <p:cNvSpPr/>
          <p:nvPr/>
        </p:nvSpPr>
        <p:spPr>
          <a:xfrm>
            <a:off x="685800" y="1828800"/>
            <a:ext cx="6766560" cy="1463040"/>
          </a:xfrm>
          <a:prstGeom prst="rect">
            <a:avLst/>
          </a:prstGeom>
          <a:noFill/>
          <a:ln/>
        </p:spPr>
        <p:txBody>
          <a:bodyPr wrap="square" lIns="0" tIns="0" rIns="0" bIns="0" rtlCol="0" anchor="t"/>
          <a:lstStyle/>
          <a:p>
            <a:pPr indent="0" marL="0">
              <a:buNone/>
            </a:pPr>
            <a:r>
              <a:rPr lang="en-US" sz="1500" dirty="0">
                <a:solidFill>
                  <a:srgbClr val="1E2430"/>
                </a:solidFill>
                <a:latin typeface="Calibri" pitchFamily="34" charset="0"/>
                <a:ea typeface="Calibri" pitchFamily="34" charset="-122"/>
                <a:cs typeface="Calibri" pitchFamily="34" charset="-120"/>
              </a:rPr>
              <a:t>La verificación cruzada contra librosa 0.11.0 encontró que la cadena aplicaba al espectro de potencia una corrección de amplitud que hundía veinticuatro de las veintiséis bandas mel por debajo del valor mínimo del logaritmo. Dejaban de responder a la señal.</a:t>
            </a:r>
            <a:endParaRPr lang="en-US" sz="1500" dirty="0"/>
          </a:p>
        </p:txBody>
      </p:sp>
      <p:sp>
        <p:nvSpPr>
          <p:cNvPr id="5" name="Text 3"/>
          <p:cNvSpPr/>
          <p:nvPr/>
        </p:nvSpPr>
        <p:spPr>
          <a:xfrm>
            <a:off x="685800" y="3383280"/>
            <a:ext cx="6766560" cy="1097280"/>
          </a:xfrm>
          <a:prstGeom prst="rect">
            <a:avLst/>
          </a:prstGeom>
          <a:noFill/>
          <a:ln/>
        </p:spPr>
        <p:txBody>
          <a:bodyPr wrap="square" lIns="0" tIns="0" rIns="0" bIns="0" rtlCol="0" anchor="t"/>
          <a:lstStyle/>
          <a:p>
            <a:pPr indent="0" marL="0">
              <a:buNone/>
            </a:pPr>
            <a:r>
              <a:rPr lang="en-US" sz="1500" b="1" dirty="0">
                <a:solidFill>
                  <a:srgbClr val="16233F"/>
                </a:solidFill>
                <a:latin typeface="Calibri" pitchFamily="34" charset="0"/>
                <a:ea typeface="Calibri" pitchFamily="34" charset="-122"/>
                <a:cs typeface="Calibri" pitchFamily="34" charset="-120"/>
              </a:rPr>
              <a:t>Cada etapa era correcta por separado. El defecto estaba en la escala con que se encadenaban, y por eso ningún nivel deducible lo detectó.</a:t>
            </a:r>
            <a:endParaRPr lang="en-US" sz="1500" dirty="0"/>
          </a:p>
        </p:txBody>
      </p:sp>
      <p:sp>
        <p:nvSpPr>
          <p:cNvPr id="6" name="Shape 4"/>
          <p:cNvSpPr/>
          <p:nvPr/>
        </p:nvSpPr>
        <p:spPr>
          <a:xfrm>
            <a:off x="7909560" y="1828800"/>
            <a:ext cx="3520440" cy="3017520"/>
          </a:xfrm>
          <a:prstGeom prst="roundRect">
            <a:avLst>
              <a:gd name="adj" fmla="val 3636"/>
            </a:avLst>
          </a:prstGeom>
          <a:solidFill>
            <a:srgbClr val="EEF4FB"/>
          </a:solidFill>
          <a:ln w="12700">
            <a:solidFill>
              <a:srgbClr val="EEF4FB"/>
            </a:solidFill>
            <a:prstDash val="solid"/>
          </a:ln>
        </p:spPr>
      </p:sp>
      <p:sp>
        <p:nvSpPr>
          <p:cNvPr id="7" name="Text 5"/>
          <p:cNvSpPr/>
          <p:nvPr/>
        </p:nvSpPr>
        <p:spPr>
          <a:xfrm>
            <a:off x="8183880" y="2057400"/>
            <a:ext cx="2926080" cy="365760"/>
          </a:xfrm>
          <a:prstGeom prst="rect">
            <a:avLst/>
          </a:prstGeom>
          <a:noFill/>
          <a:ln/>
        </p:spPr>
        <p:txBody>
          <a:bodyPr wrap="square" lIns="0" tIns="0" rIns="0" bIns="0" rtlCol="0" anchor="ctr"/>
          <a:lstStyle/>
          <a:p>
            <a:pPr indent="0" marL="0">
              <a:buNone/>
            </a:pPr>
            <a:r>
              <a:rPr lang="en-US" sz="1200" b="1" dirty="0">
                <a:solidFill>
                  <a:srgbClr val="5A6478"/>
                </a:solidFill>
                <a:latin typeface="Calibri" pitchFamily="34" charset="0"/>
                <a:ea typeface="Calibri" pitchFamily="34" charset="-122"/>
                <a:cs typeface="Calibri" pitchFamily="34" charset="-120"/>
              </a:rPr>
              <a:t>Error frente a librosa</a:t>
            </a:r>
            <a:endParaRPr lang="en-US" sz="1200" dirty="0"/>
          </a:p>
        </p:txBody>
      </p:sp>
      <p:sp>
        <p:nvSpPr>
          <p:cNvPr id="8" name="Text 6"/>
          <p:cNvSpPr/>
          <p:nvPr/>
        </p:nvSpPr>
        <p:spPr>
          <a:xfrm>
            <a:off x="8183880" y="2468880"/>
            <a:ext cx="2926080" cy="640080"/>
          </a:xfrm>
          <a:prstGeom prst="rect">
            <a:avLst/>
          </a:prstGeom>
          <a:noFill/>
          <a:ln/>
        </p:spPr>
        <p:txBody>
          <a:bodyPr wrap="square" lIns="0" tIns="0" rIns="0" bIns="0" rtlCol="0" anchor="ctr"/>
          <a:lstStyle/>
          <a:p>
            <a:pPr indent="0" marL="0">
              <a:buNone/>
            </a:pPr>
            <a:r>
              <a:rPr lang="en-US" sz="3400" b="1" dirty="0">
                <a:solidFill>
                  <a:srgbClr val="C2543A"/>
                </a:solidFill>
                <a:latin typeface="Cambria" pitchFamily="34" charset="0"/>
                <a:ea typeface="Cambria" pitchFamily="34" charset="-122"/>
                <a:cs typeface="Cambria" pitchFamily="34" charset="-120"/>
              </a:rPr>
              <a:t>5.02 %</a:t>
            </a:r>
            <a:endParaRPr lang="en-US" sz="3400" dirty="0"/>
          </a:p>
        </p:txBody>
      </p:sp>
      <p:sp>
        <p:nvSpPr>
          <p:cNvPr id="9" name="Text 7"/>
          <p:cNvSpPr/>
          <p:nvPr/>
        </p:nvSpPr>
        <p:spPr>
          <a:xfrm>
            <a:off x="8183880" y="3063240"/>
            <a:ext cx="2926080" cy="2743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antes</a:t>
            </a:r>
            <a:endParaRPr lang="en-US" sz="1200" dirty="0"/>
          </a:p>
        </p:txBody>
      </p:sp>
      <p:sp>
        <p:nvSpPr>
          <p:cNvPr id="10" name="Text 8"/>
          <p:cNvSpPr/>
          <p:nvPr/>
        </p:nvSpPr>
        <p:spPr>
          <a:xfrm>
            <a:off x="8183880" y="3520440"/>
            <a:ext cx="2926080" cy="640080"/>
          </a:xfrm>
          <a:prstGeom prst="rect">
            <a:avLst/>
          </a:prstGeom>
          <a:noFill/>
          <a:ln/>
        </p:spPr>
        <p:txBody>
          <a:bodyPr wrap="square" lIns="0" tIns="0" rIns="0" bIns="0" rtlCol="0" anchor="ctr"/>
          <a:lstStyle/>
          <a:p>
            <a:pPr indent="0" marL="0">
              <a:buNone/>
            </a:pPr>
            <a:r>
              <a:rPr lang="en-US" sz="3400" b="1" dirty="0">
                <a:solidFill>
                  <a:srgbClr val="17A398"/>
                </a:solidFill>
                <a:latin typeface="Cambria" pitchFamily="34" charset="0"/>
                <a:ea typeface="Cambria" pitchFamily="34" charset="-122"/>
                <a:cs typeface="Cambria" pitchFamily="34" charset="-120"/>
              </a:rPr>
              <a:t>0.009 %</a:t>
            </a:r>
            <a:endParaRPr lang="en-US" sz="3400" dirty="0"/>
          </a:p>
        </p:txBody>
      </p:sp>
      <p:sp>
        <p:nvSpPr>
          <p:cNvPr id="11" name="Text 9"/>
          <p:cNvSpPr/>
          <p:nvPr/>
        </p:nvSpPr>
        <p:spPr>
          <a:xfrm>
            <a:off x="8183880" y="4114800"/>
            <a:ext cx="2926080" cy="2743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después</a:t>
            </a:r>
            <a:endParaRPr lang="en-US" sz="1200" dirty="0"/>
          </a:p>
        </p:txBody>
      </p:sp>
      <p:sp>
        <p:nvSpPr>
          <p:cNvPr id="12" name="Text 10"/>
          <p:cNvSpPr/>
          <p:nvPr/>
        </p:nvSpPr>
        <p:spPr>
          <a:xfrm>
            <a:off x="685800" y="6355080"/>
            <a:ext cx="10789920" cy="274320"/>
          </a:xfrm>
          <a:prstGeom prst="rect">
            <a:avLst/>
          </a:prstGeom>
          <a:noFill/>
          <a:ln/>
        </p:spPr>
        <p:txBody>
          <a:bodyPr wrap="square" lIns="0" tIns="0" rIns="0" bIns="0" rtlCol="0" anchor="ctr"/>
          <a:lstStyle/>
          <a:p>
            <a:pPr indent="0" marL="0">
              <a:buNone/>
            </a:pPr>
            <a:r>
              <a:rPr lang="en-US" sz="950" i="1" dirty="0">
                <a:solidFill>
                  <a:srgbClr val="5A6478"/>
                </a:solidFill>
                <a:latin typeface="Calibri" pitchFamily="34" charset="0"/>
                <a:ea typeface="Calibri" pitchFamily="34" charset="-122"/>
                <a:cs typeface="Calibri" pitchFamily="34" charset="-120"/>
              </a:rPr>
              <a:t>Evidencia reproducible: docs/evidencias/s5/s5-t2-mfcc.md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LA EVALUACIÓN DE PRONUNCIACIÓN</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El planteamiento y lo que lo desmintió</a:t>
            </a:r>
            <a:endParaRPr lang="en-US" sz="3200" dirty="0"/>
          </a:p>
        </p:txBody>
      </p:sp>
      <p:sp>
        <p:nvSpPr>
          <p:cNvPr id="4" name="Shape 2"/>
          <p:cNvSpPr/>
          <p:nvPr/>
        </p:nvSpPr>
        <p:spPr>
          <a:xfrm>
            <a:off x="685800" y="1828800"/>
            <a:ext cx="5120640" cy="1920240"/>
          </a:xfrm>
          <a:prstGeom prst="roundRect">
            <a:avLst>
              <a:gd name="adj" fmla="val 5714"/>
            </a:avLst>
          </a:prstGeom>
          <a:solidFill>
            <a:srgbClr val="EEF4FB"/>
          </a:solidFill>
          <a:ln w="12700">
            <a:solidFill>
              <a:srgbClr val="EEF4FB"/>
            </a:solidFill>
            <a:prstDash val="solid"/>
          </a:ln>
        </p:spPr>
      </p:sp>
      <p:sp>
        <p:nvSpPr>
          <p:cNvPr id="5" name="Text 3"/>
          <p:cNvSpPr/>
          <p:nvPr/>
        </p:nvSpPr>
        <p:spPr>
          <a:xfrm>
            <a:off x="1005840" y="2011680"/>
            <a:ext cx="4480560" cy="320040"/>
          </a:xfrm>
          <a:prstGeom prst="rect">
            <a:avLst/>
          </a:prstGeom>
          <a:noFill/>
          <a:ln/>
        </p:spPr>
        <p:txBody>
          <a:bodyPr wrap="square" lIns="0" tIns="0" rIns="0" bIns="0" rtlCol="0" anchor="ctr"/>
          <a:lstStyle/>
          <a:p>
            <a:pPr indent="0" marL="0">
              <a:buNone/>
            </a:pPr>
            <a:r>
              <a:rPr lang="en-US" sz="1200" b="1" dirty="0">
                <a:solidFill>
                  <a:srgbClr val="5A6478"/>
                </a:solidFill>
                <a:latin typeface="Calibri" pitchFamily="34" charset="0"/>
                <a:ea typeface="Calibri" pitchFamily="34" charset="-122"/>
                <a:cs typeface="Calibri" pitchFamily="34" charset="-120"/>
              </a:rPr>
              <a:t>Planteamiento</a:t>
            </a:r>
            <a:endParaRPr lang="en-US" sz="1200" dirty="0"/>
          </a:p>
        </p:txBody>
      </p:sp>
      <p:sp>
        <p:nvSpPr>
          <p:cNvPr id="6" name="Text 4"/>
          <p:cNvSpPr/>
          <p:nvPr/>
        </p:nvSpPr>
        <p:spPr>
          <a:xfrm>
            <a:off x="1005840" y="2377440"/>
            <a:ext cx="4480560" cy="1188720"/>
          </a:xfrm>
          <a:prstGeom prst="rect">
            <a:avLst/>
          </a:prstGeom>
          <a:noFill/>
          <a:ln/>
        </p:spPr>
        <p:txBody>
          <a:bodyPr wrap="square" lIns="0" tIns="0" rIns="0" bIns="0" rtlCol="0" anchor="t"/>
          <a:lstStyle/>
          <a:p>
            <a:pPr indent="0" marL="0">
              <a:buNone/>
            </a:pPr>
            <a:r>
              <a:rPr lang="en-US" sz="1350" dirty="0">
                <a:solidFill>
                  <a:srgbClr val="1E2430"/>
                </a:solidFill>
                <a:latin typeface="Calibri" pitchFamily="34" charset="0"/>
                <a:ea typeface="Calibri" pitchFamily="34" charset="-122"/>
                <a:cs typeface="Calibri" pitchFamily="34" charset="-120"/>
              </a:rPr>
              <a:t>Comparar los coeficientes cepstrales del estudiante contra una referencia sintetizada, alineados temporalmente, y convertir la distancia en puntuación.</a:t>
            </a:r>
            <a:endParaRPr lang="en-US" sz="1350" dirty="0"/>
          </a:p>
        </p:txBody>
      </p:sp>
      <p:sp>
        <p:nvSpPr>
          <p:cNvPr id="7" name="Shape 5"/>
          <p:cNvSpPr/>
          <p:nvPr/>
        </p:nvSpPr>
        <p:spPr>
          <a:xfrm>
            <a:off x="6172200" y="1828800"/>
            <a:ext cx="5120640" cy="1920240"/>
          </a:xfrm>
          <a:prstGeom prst="roundRect">
            <a:avLst>
              <a:gd name="adj" fmla="val 5714"/>
            </a:avLst>
          </a:prstGeom>
          <a:solidFill>
            <a:srgbClr val="EEF4FB"/>
          </a:solidFill>
          <a:ln w="12700">
            <a:solidFill>
              <a:srgbClr val="EEF4FB"/>
            </a:solidFill>
            <a:prstDash val="solid"/>
          </a:ln>
        </p:spPr>
      </p:sp>
      <p:sp>
        <p:nvSpPr>
          <p:cNvPr id="8" name="Text 6"/>
          <p:cNvSpPr/>
          <p:nvPr/>
        </p:nvSpPr>
        <p:spPr>
          <a:xfrm>
            <a:off x="6492240" y="2011680"/>
            <a:ext cx="4480560" cy="320040"/>
          </a:xfrm>
          <a:prstGeom prst="rect">
            <a:avLst/>
          </a:prstGeom>
          <a:noFill/>
          <a:ln/>
        </p:spPr>
        <p:txBody>
          <a:bodyPr wrap="square" lIns="0" tIns="0" rIns="0" bIns="0" rtlCol="0" anchor="ctr"/>
          <a:lstStyle/>
          <a:p>
            <a:pPr indent="0" marL="0">
              <a:buNone/>
            </a:pPr>
            <a:r>
              <a:rPr lang="en-US" sz="1200" b="1" dirty="0">
                <a:solidFill>
                  <a:srgbClr val="5A6478"/>
                </a:solidFill>
                <a:latin typeface="Calibri" pitchFamily="34" charset="0"/>
                <a:ea typeface="Calibri" pitchFamily="34" charset="-122"/>
                <a:cs typeface="Calibri" pitchFamily="34" charset="-120"/>
              </a:rPr>
              <a:t>Sobre señales sintéticas</a:t>
            </a:r>
            <a:endParaRPr lang="en-US" sz="1200" dirty="0"/>
          </a:p>
        </p:txBody>
      </p:sp>
      <p:sp>
        <p:nvSpPr>
          <p:cNvPr id="9" name="Text 7"/>
          <p:cNvSpPr/>
          <p:nvPr/>
        </p:nvSpPr>
        <p:spPr>
          <a:xfrm>
            <a:off x="6492240" y="2377440"/>
            <a:ext cx="4480560" cy="1188720"/>
          </a:xfrm>
          <a:prstGeom prst="rect">
            <a:avLst/>
          </a:prstGeom>
          <a:noFill/>
          <a:ln/>
        </p:spPr>
        <p:txBody>
          <a:bodyPr wrap="square" lIns="0" tIns="0" rIns="0" bIns="0" rtlCol="0" anchor="t"/>
          <a:lstStyle/>
          <a:p>
            <a:pPr indent="0" marL="0">
              <a:buNone/>
            </a:pPr>
            <a:r>
              <a:rPr lang="en-US" sz="1350" dirty="0">
                <a:solidFill>
                  <a:srgbClr val="1E2430"/>
                </a:solidFill>
                <a:latin typeface="Calibri" pitchFamily="34" charset="0"/>
                <a:ea typeface="Calibri" pitchFamily="34" charset="-122"/>
                <a:cs typeface="Calibri" pitchFamily="34" charset="-120"/>
              </a:rPr>
              <a:t>31 puntos de separación entre el peor caso bien pronunciado y el mejor mal pronunciado, sobre los 20 que exigía el criterio.</a:t>
            </a:r>
            <a:endParaRPr lang="en-US" sz="1350" dirty="0"/>
          </a:p>
        </p:txBody>
      </p:sp>
      <p:sp>
        <p:nvSpPr>
          <p:cNvPr id="10" name="Shape 8"/>
          <p:cNvSpPr/>
          <p:nvPr/>
        </p:nvSpPr>
        <p:spPr>
          <a:xfrm>
            <a:off x="685800" y="3977640"/>
            <a:ext cx="10789920" cy="1691640"/>
          </a:xfrm>
          <a:prstGeom prst="roundRect">
            <a:avLst>
              <a:gd name="adj" fmla="val 6486"/>
            </a:avLst>
          </a:prstGeom>
          <a:solidFill>
            <a:srgbClr val="16233F"/>
          </a:solidFill>
          <a:ln w="12700">
            <a:solidFill>
              <a:srgbClr val="16233F"/>
            </a:solidFill>
            <a:prstDash val="solid"/>
          </a:ln>
        </p:spPr>
      </p:sp>
      <p:sp>
        <p:nvSpPr>
          <p:cNvPr id="11" name="Text 9"/>
          <p:cNvSpPr/>
          <p:nvPr/>
        </p:nvSpPr>
        <p:spPr>
          <a:xfrm>
            <a:off x="1051560" y="4160520"/>
            <a:ext cx="585216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Con voz real, la identidad del hablante domina la medición</a:t>
            </a:r>
            <a:endParaRPr lang="en-US" sz="2000" dirty="0"/>
          </a:p>
        </p:txBody>
      </p:sp>
      <p:sp>
        <p:nvSpPr>
          <p:cNvPr id="12" name="Text 10"/>
          <p:cNvSpPr/>
          <p:nvPr/>
        </p:nvSpPr>
        <p:spPr>
          <a:xfrm>
            <a:off x="1051560" y="4617720"/>
            <a:ext cx="5852160" cy="365760"/>
          </a:xfrm>
          <a:prstGeom prst="rect">
            <a:avLst/>
          </a:prstGeom>
          <a:noFill/>
          <a:ln/>
        </p:spPr>
        <p:txBody>
          <a:bodyPr wrap="square" lIns="0" tIns="0" rIns="0" bIns="0" rtlCol="0" anchor="ctr"/>
          <a:lstStyle/>
          <a:p>
            <a:pPr indent="0" marL="0">
              <a:buNone/>
            </a:pPr>
            <a:r>
              <a:rPr lang="en-US" sz="1300" dirty="0">
                <a:solidFill>
                  <a:srgbClr val="DCE7F5"/>
                </a:solidFill>
                <a:latin typeface="Calibri" pitchFamily="34" charset="0"/>
                <a:ea typeface="Calibri" pitchFamily="34" charset="-122"/>
                <a:cs typeface="Calibri" pitchFamily="34" charset="-120"/>
              </a:rPr>
              <a:t>Medido sobre cuarenta grabaciones de dos hablantes</a:t>
            </a:r>
            <a:endParaRPr lang="en-US" sz="1300" dirty="0"/>
          </a:p>
        </p:txBody>
      </p:sp>
      <p:sp>
        <p:nvSpPr>
          <p:cNvPr id="13" name="Text 11"/>
          <p:cNvSpPr/>
          <p:nvPr/>
        </p:nvSpPr>
        <p:spPr>
          <a:xfrm>
            <a:off x="7452360" y="4160520"/>
            <a:ext cx="1737360" cy="640080"/>
          </a:xfrm>
          <a:prstGeom prst="rect">
            <a:avLst/>
          </a:prstGeom>
          <a:noFill/>
          <a:ln/>
        </p:spPr>
        <p:txBody>
          <a:bodyPr wrap="square" lIns="0" tIns="0" rIns="0" bIns="0" rtlCol="0" anchor="ctr"/>
          <a:lstStyle/>
          <a:p>
            <a:pPr indent="0" marL="0">
              <a:buNone/>
            </a:pPr>
            <a:r>
              <a:rPr lang="en-US" sz="3800" b="1" dirty="0">
                <a:solidFill>
                  <a:srgbClr val="C2543A"/>
                </a:solidFill>
                <a:latin typeface="Cambria" pitchFamily="34" charset="0"/>
                <a:ea typeface="Cambria" pitchFamily="34" charset="-122"/>
                <a:cs typeface="Cambria" pitchFamily="34" charset="-120"/>
              </a:rPr>
              <a:t>7.08</a:t>
            </a:r>
            <a:endParaRPr lang="en-US" sz="3800" dirty="0"/>
          </a:p>
        </p:txBody>
      </p:sp>
      <p:sp>
        <p:nvSpPr>
          <p:cNvPr id="14" name="Text 12"/>
          <p:cNvSpPr/>
          <p:nvPr/>
        </p:nvSpPr>
        <p:spPr>
          <a:xfrm>
            <a:off x="7452360" y="4800600"/>
            <a:ext cx="1828800" cy="457200"/>
          </a:xfrm>
          <a:prstGeom prst="rect">
            <a:avLst/>
          </a:prstGeom>
          <a:noFill/>
          <a:ln/>
        </p:spPr>
        <p:txBody>
          <a:bodyPr wrap="square" lIns="0" tIns="0" rIns="0" bIns="0" rtlCol="0" anchor="ctr"/>
          <a:lstStyle/>
          <a:p>
            <a:pPr indent="0" marL="0">
              <a:buNone/>
            </a:pPr>
            <a:r>
              <a:rPr lang="en-US" sz="1200" dirty="0">
                <a:solidFill>
                  <a:srgbClr val="DCE7F5"/>
                </a:solidFill>
                <a:latin typeface="Calibri" pitchFamily="34" charset="0"/>
                <a:ea typeface="Calibri" pitchFamily="34" charset="-122"/>
                <a:cs typeface="Calibri" pitchFamily="34" charset="-120"/>
              </a:rPr>
              <a:t>cuesta cambiar de voz</a:t>
            </a:r>
            <a:endParaRPr lang="en-US" sz="1200" dirty="0"/>
          </a:p>
        </p:txBody>
      </p:sp>
      <p:sp>
        <p:nvSpPr>
          <p:cNvPr id="15" name="Text 13"/>
          <p:cNvSpPr/>
          <p:nvPr/>
        </p:nvSpPr>
        <p:spPr>
          <a:xfrm>
            <a:off x="9555480" y="4160520"/>
            <a:ext cx="1737360" cy="640080"/>
          </a:xfrm>
          <a:prstGeom prst="rect">
            <a:avLst/>
          </a:prstGeom>
          <a:noFill/>
          <a:ln/>
        </p:spPr>
        <p:txBody>
          <a:bodyPr wrap="square" lIns="0" tIns="0" rIns="0" bIns="0" rtlCol="0" anchor="ctr"/>
          <a:lstStyle/>
          <a:p>
            <a:pPr indent="0" marL="0">
              <a:buNone/>
            </a:pPr>
            <a:r>
              <a:rPr lang="en-US" sz="3800" b="1" dirty="0">
                <a:solidFill>
                  <a:srgbClr val="DCE7F5"/>
                </a:solidFill>
                <a:latin typeface="Cambria" pitchFamily="34" charset="0"/>
                <a:ea typeface="Cambria" pitchFamily="34" charset="-122"/>
                <a:cs typeface="Cambria" pitchFamily="34" charset="-120"/>
              </a:rPr>
              <a:t>1.20</a:t>
            </a:r>
            <a:endParaRPr lang="en-US" sz="3800" dirty="0"/>
          </a:p>
        </p:txBody>
      </p:sp>
      <p:sp>
        <p:nvSpPr>
          <p:cNvPr id="16" name="Text 14"/>
          <p:cNvSpPr/>
          <p:nvPr/>
        </p:nvSpPr>
        <p:spPr>
          <a:xfrm>
            <a:off x="9555480" y="4800600"/>
            <a:ext cx="1828800" cy="457200"/>
          </a:xfrm>
          <a:prstGeom prst="rect">
            <a:avLst/>
          </a:prstGeom>
          <a:noFill/>
          <a:ln/>
        </p:spPr>
        <p:txBody>
          <a:bodyPr wrap="square" lIns="0" tIns="0" rIns="0" bIns="0" rtlCol="0" anchor="ctr"/>
          <a:lstStyle/>
          <a:p>
            <a:pPr indent="0" marL="0">
              <a:buNone/>
            </a:pPr>
            <a:r>
              <a:rPr lang="en-US" sz="1200" dirty="0">
                <a:solidFill>
                  <a:srgbClr val="DCE7F5"/>
                </a:solidFill>
                <a:latin typeface="Calibri" pitchFamily="34" charset="0"/>
                <a:ea typeface="Calibri" pitchFamily="34" charset="-122"/>
                <a:cs typeface="Calibri" pitchFamily="34" charset="-120"/>
              </a:rPr>
              <a:t>cuesta pronunciar mal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HALLAZGO 2</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No es un defecto: es el límite del método</a:t>
            </a:r>
            <a:endParaRPr lang="en-US" sz="3200" dirty="0"/>
          </a:p>
        </p:txBody>
      </p:sp>
      <p:sp>
        <p:nvSpPr>
          <p:cNvPr id="4" name="Text 2"/>
          <p:cNvSpPr/>
          <p:nvPr/>
        </p:nvSpPr>
        <p:spPr>
          <a:xfrm>
            <a:off x="685800" y="1783080"/>
            <a:ext cx="10789920" cy="1005840"/>
          </a:xfrm>
          <a:prstGeom prst="rect">
            <a:avLst/>
          </a:prstGeom>
          <a:noFill/>
          <a:ln/>
        </p:spPr>
        <p:txBody>
          <a:bodyPr wrap="square" lIns="0" tIns="0" rIns="0" bIns="0" rtlCol="0" anchor="t"/>
          <a:lstStyle/>
          <a:p>
            <a:pPr indent="0" marL="0">
              <a:buNone/>
            </a:pPr>
            <a:r>
              <a:rPr lang="en-US" sz="1500" dirty="0">
                <a:solidFill>
                  <a:srgbClr val="1E2430"/>
                </a:solidFill>
                <a:latin typeface="Calibri" pitchFamily="34" charset="0"/>
                <a:ea typeface="Calibri" pitchFamily="34" charset="-122"/>
                <a:cs typeface="Calibri" pitchFamily="34" charset="-120"/>
              </a:rPr>
              <a:t>Comparar coeficientes cepstrales mide parecido acústico. La longitud del tracto vocal escala las frecuencias de los formantes en los mismos coeficientes que distinguen una vocal de otra: no se puede suprimir uno sin suprimir el otro. Se ensayaron ocho procedimientos de normalización.</a:t>
            </a:r>
            <a:endParaRPr lang="en-US" sz="1500" dirty="0"/>
          </a:p>
        </p:txBody>
      </p:sp>
      <p:sp>
        <p:nvSpPr>
          <p:cNvPr id="5" name="Text 3"/>
          <p:cNvSpPr/>
          <p:nvPr/>
        </p:nvSpPr>
        <p:spPr>
          <a:xfrm>
            <a:off x="685800" y="2880360"/>
            <a:ext cx="10789920" cy="411480"/>
          </a:xfrm>
          <a:prstGeom prst="rect">
            <a:avLst/>
          </a:prstGeom>
          <a:noFill/>
          <a:ln/>
        </p:spPr>
        <p:txBody>
          <a:bodyPr wrap="square" lIns="0" tIns="0" rIns="0" bIns="0" rtlCol="0" anchor="ctr"/>
          <a:lstStyle/>
          <a:p>
            <a:pPr indent="0" marL="0">
              <a:buNone/>
            </a:pPr>
            <a:r>
              <a:rPr lang="en-US" sz="2100" b="1" dirty="0">
                <a:solidFill>
                  <a:srgbClr val="16233F"/>
                </a:solidFill>
                <a:latin typeface="Cambria" pitchFamily="34" charset="0"/>
                <a:ea typeface="Cambria" pitchFamily="34" charset="-122"/>
                <a:cs typeface="Cambria" pitchFamily="34" charset="-120"/>
              </a:rPr>
              <a:t>La vía que sí funciona ya estaba en el proyecto</a:t>
            </a:r>
            <a:endParaRPr lang="en-US" sz="2100" dirty="0"/>
          </a:p>
        </p:txBody>
      </p:sp>
      <p:sp>
        <p:nvSpPr>
          <p:cNvPr id="6" name="Text 4"/>
          <p:cNvSpPr/>
          <p:nvPr/>
        </p:nvSpPr>
        <p:spPr>
          <a:xfrm>
            <a:off x="685800" y="3310128"/>
            <a:ext cx="5943600" cy="1371600"/>
          </a:xfrm>
          <a:prstGeom prst="rect">
            <a:avLst/>
          </a:prstGeom>
          <a:noFill/>
          <a:ln/>
        </p:spPr>
        <p:txBody>
          <a:bodyPr wrap="square" lIns="0" tIns="0" rIns="0" bIns="0" rtlCol="0" anchor="t"/>
          <a:lstStyle/>
          <a:p>
            <a:pPr indent="0" marL="0">
              <a:buNone/>
            </a:pPr>
            <a:r>
              <a:rPr lang="en-US" sz="1450" dirty="0">
                <a:solidFill>
                  <a:srgbClr val="1E2430"/>
                </a:solidFill>
                <a:latin typeface="Calibri" pitchFamily="34" charset="0"/>
                <a:ea typeface="Calibri" pitchFamily="34" charset="-122"/>
                <a:cs typeface="Calibri" pitchFamily="34" charset="-120"/>
              </a:rPr>
              <a:t>El reconocedor de voz es un modelo acústico entrenado con miles de hablantes. Comparando la TRANSCRIPCIÓN contra una frase objetivo, el error se manifiesta en el texto y la identidad del hablante deja de intervenir.</a:t>
            </a:r>
            <a:endParaRPr lang="en-US" sz="1450" dirty="0"/>
          </a:p>
        </p:txBody>
      </p:sp>
      <p:graphicFrame>
        <p:nvGraphicFramePr>
          <p:cNvPr id="7" name="Chart 0" descr=""/>
          <p:cNvGraphicFramePr/>
          <p:nvPr/>
        </p:nvGraphicFramePr>
        <p:xfrm>
          <a:off x="6995160" y="3017520"/>
          <a:ext cx="4480560" cy="21945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85800" y="4937760"/>
            <a:ext cx="5943600" cy="731520"/>
          </a:xfrm>
          <a:prstGeom prst="rect">
            <a:avLst/>
          </a:prstGeom>
          <a:noFill/>
          <a:ln/>
        </p:spPr>
        <p:txBody>
          <a:bodyPr wrap="square" lIns="0" tIns="0" rIns="0" bIns="0" rtlCol="0" anchor="t"/>
          <a:lstStyle/>
          <a:p>
            <a:pPr indent="0" marL="0">
              <a:buNone/>
            </a:pPr>
            <a:r>
              <a:rPr lang="en-US" sz="1300" i="1" dirty="0">
                <a:solidFill>
                  <a:srgbClr val="5A6478"/>
                </a:solidFill>
                <a:latin typeface="Calibri" pitchFamily="34" charset="0"/>
                <a:ea typeface="Calibri" pitchFamily="34" charset="-122"/>
                <a:cs typeface="Calibri" pitchFamily="34" charset="-120"/>
              </a:rPr>
              <a:t>Sin ningún umbral que calibrar: se marca error cuando lo transcrito no coincide con la frase pedida.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CONSECUENCIA</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El resultado no se documentó: reorientó la funcionalidad</a:t>
            </a:r>
            <a:endParaRPr lang="en-US" sz="3200" dirty="0"/>
          </a:p>
        </p:txBody>
      </p:sp>
      <p:sp>
        <p:nvSpPr>
          <p:cNvPr id="4" name="Shape 2"/>
          <p:cNvSpPr/>
          <p:nvPr/>
        </p:nvSpPr>
        <p:spPr>
          <a:xfrm>
            <a:off x="685800" y="1856232"/>
            <a:ext cx="502920" cy="502920"/>
          </a:xfrm>
          <a:prstGeom prst="ellipse">
            <a:avLst/>
          </a:prstGeom>
          <a:solidFill>
            <a:srgbClr val="17A398"/>
          </a:solidFill>
          <a:ln w="12700">
            <a:solidFill>
              <a:srgbClr val="17A398"/>
            </a:solidFill>
            <a:prstDash val="solid"/>
          </a:ln>
        </p:spPr>
      </p:sp>
      <p:sp>
        <p:nvSpPr>
          <p:cNvPr id="5" name="Text 3"/>
          <p:cNvSpPr/>
          <p:nvPr/>
        </p:nvSpPr>
        <p:spPr>
          <a:xfrm>
            <a:off x="685800" y="1856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463040" y="1783080"/>
            <a:ext cx="9692640" cy="411480"/>
          </a:xfrm>
          <a:prstGeom prst="rect">
            <a:avLst/>
          </a:prstGeom>
          <a:noFill/>
          <a:ln/>
        </p:spPr>
        <p:txBody>
          <a:bodyPr wrap="square" lIns="0" tIns="0" rIns="0" bIns="0" rtlCol="0" anchor="ctr"/>
          <a:lstStyle/>
          <a:p>
            <a:pPr indent="0" marL="0">
              <a:buNone/>
            </a:pPr>
            <a:r>
              <a:rPr lang="en-US" sz="1900" b="1" dirty="0">
                <a:solidFill>
                  <a:srgbClr val="16233F"/>
                </a:solidFill>
                <a:latin typeface="Cambria" pitchFamily="34" charset="0"/>
                <a:ea typeface="Cambria" pitchFamily="34" charset="-122"/>
                <a:cs typeface="Cambria" pitchFamily="34" charset="-120"/>
              </a:rPr>
              <a:t>La pronunciación solo se evalúa en modo práctica</a:t>
            </a:r>
            <a:endParaRPr lang="en-US" sz="1900" dirty="0"/>
          </a:p>
        </p:txBody>
      </p:sp>
      <p:sp>
        <p:nvSpPr>
          <p:cNvPr id="7" name="Text 5"/>
          <p:cNvSpPr/>
          <p:nvPr/>
        </p:nvSpPr>
        <p:spPr>
          <a:xfrm>
            <a:off x="1463040" y="2221992"/>
            <a:ext cx="9692640" cy="731520"/>
          </a:xfrm>
          <a:prstGeom prst="rect">
            <a:avLst/>
          </a:prstGeom>
          <a:noFill/>
          <a:ln/>
        </p:spPr>
        <p:txBody>
          <a:bodyPr wrap="square" lIns="0" tIns="0" rIns="0" bIns="0" rtlCol="0" anchor="t"/>
          <a:lstStyle/>
          <a:p>
            <a:pPr indent="0" marL="0">
              <a:buNone/>
            </a:pPr>
            <a:r>
              <a:rPr lang="en-US" sz="1400" dirty="0">
                <a:solidFill>
                  <a:srgbClr val="1E2430"/>
                </a:solidFill>
                <a:latin typeface="Calibri" pitchFamily="34" charset="0"/>
                <a:ea typeface="Calibri" pitchFamily="34" charset="-122"/>
                <a:cs typeface="Calibri" pitchFamily="34" charset="-120"/>
              </a:rPr>
              <a:t>Sin frase objetivo no existe una pronunciación correcta contra la cual comparar. En conversación libre no se puntúa, y la interfaz lo declara.</a:t>
            </a:r>
            <a:endParaRPr lang="en-US" sz="1400" dirty="0"/>
          </a:p>
        </p:txBody>
      </p:sp>
      <p:sp>
        <p:nvSpPr>
          <p:cNvPr id="8" name="Shape 6"/>
          <p:cNvSpPr/>
          <p:nvPr/>
        </p:nvSpPr>
        <p:spPr>
          <a:xfrm>
            <a:off x="685800" y="3227832"/>
            <a:ext cx="502920" cy="502920"/>
          </a:xfrm>
          <a:prstGeom prst="ellipse">
            <a:avLst/>
          </a:prstGeom>
          <a:solidFill>
            <a:srgbClr val="17A398"/>
          </a:solidFill>
          <a:ln w="12700">
            <a:solidFill>
              <a:srgbClr val="17A398"/>
            </a:solidFill>
            <a:prstDash val="solid"/>
          </a:ln>
        </p:spPr>
      </p:sp>
      <p:sp>
        <p:nvSpPr>
          <p:cNvPr id="9" name="Text 7"/>
          <p:cNvSpPr/>
          <p:nvPr/>
        </p:nvSpPr>
        <p:spPr>
          <a:xfrm>
            <a:off x="685800" y="3227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463040" y="3154680"/>
            <a:ext cx="9692640" cy="411480"/>
          </a:xfrm>
          <a:prstGeom prst="rect">
            <a:avLst/>
          </a:prstGeom>
          <a:noFill/>
          <a:ln/>
        </p:spPr>
        <p:txBody>
          <a:bodyPr wrap="square" lIns="0" tIns="0" rIns="0" bIns="0" rtlCol="0" anchor="ctr"/>
          <a:lstStyle/>
          <a:p>
            <a:pPr indent="0" marL="0">
              <a:buNone/>
            </a:pPr>
            <a:r>
              <a:rPr lang="en-US" sz="1900" b="1" dirty="0">
                <a:solidFill>
                  <a:srgbClr val="16233F"/>
                </a:solidFill>
                <a:latin typeface="Cambria" pitchFamily="34" charset="0"/>
                <a:ea typeface="Cambria" pitchFamily="34" charset="-122"/>
                <a:cs typeface="Cambria" pitchFamily="34" charset="-120"/>
              </a:rPr>
              <a:t>La señal principal es el texto, no la acústica</a:t>
            </a:r>
            <a:endParaRPr lang="en-US" sz="1900" dirty="0"/>
          </a:p>
        </p:txBody>
      </p:sp>
      <p:sp>
        <p:nvSpPr>
          <p:cNvPr id="11" name="Text 9"/>
          <p:cNvSpPr/>
          <p:nvPr/>
        </p:nvSpPr>
        <p:spPr>
          <a:xfrm>
            <a:off x="1463040" y="3593592"/>
            <a:ext cx="9692640" cy="731520"/>
          </a:xfrm>
          <a:prstGeom prst="rect">
            <a:avLst/>
          </a:prstGeom>
          <a:noFill/>
          <a:ln/>
        </p:spPr>
        <p:txBody>
          <a:bodyPr wrap="square" lIns="0" tIns="0" rIns="0" bIns="0" rtlCol="0" anchor="t"/>
          <a:lstStyle/>
          <a:p>
            <a:pPr indent="0" marL="0">
              <a:buNone/>
            </a:pPr>
            <a:r>
              <a:rPr lang="en-US" sz="1400" dirty="0">
                <a:solidFill>
                  <a:srgbClr val="1E2430"/>
                </a:solidFill>
                <a:latin typeface="Calibri" pitchFamily="34" charset="0"/>
                <a:ea typeface="Calibri" pitchFamily="34" charset="-122"/>
                <a:cs typeface="Calibri" pitchFamily="34" charset="-120"/>
              </a:rPr>
              <a:t>Con catorce tomas correctas marcadas de cada treinta, decirle al estudiante «lo dijiste mal» sería incorrecto una de cada dos veces. El mensaje dice «no entendí bien».</a:t>
            </a:r>
            <a:endParaRPr lang="en-US" sz="1400" dirty="0"/>
          </a:p>
        </p:txBody>
      </p:sp>
      <p:sp>
        <p:nvSpPr>
          <p:cNvPr id="12" name="Shape 10"/>
          <p:cNvSpPr/>
          <p:nvPr/>
        </p:nvSpPr>
        <p:spPr>
          <a:xfrm>
            <a:off x="685800" y="4599432"/>
            <a:ext cx="502920" cy="502920"/>
          </a:xfrm>
          <a:prstGeom prst="ellipse">
            <a:avLst/>
          </a:prstGeom>
          <a:solidFill>
            <a:srgbClr val="17A398"/>
          </a:solidFill>
          <a:ln w="12700">
            <a:solidFill>
              <a:srgbClr val="17A398"/>
            </a:solidFill>
            <a:prstDash val="solid"/>
          </a:ln>
        </p:spPr>
      </p:sp>
      <p:sp>
        <p:nvSpPr>
          <p:cNvPr id="13" name="Text 11"/>
          <p:cNvSpPr/>
          <p:nvPr/>
        </p:nvSpPr>
        <p:spPr>
          <a:xfrm>
            <a:off x="685800" y="45994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463040" y="4526280"/>
            <a:ext cx="9692640" cy="411480"/>
          </a:xfrm>
          <a:prstGeom prst="rect">
            <a:avLst/>
          </a:prstGeom>
          <a:noFill/>
          <a:ln/>
        </p:spPr>
        <p:txBody>
          <a:bodyPr wrap="square" lIns="0" tIns="0" rIns="0" bIns="0" rtlCol="0" anchor="ctr"/>
          <a:lstStyle/>
          <a:p>
            <a:pPr indent="0" marL="0">
              <a:buNone/>
            </a:pPr>
            <a:r>
              <a:rPr lang="en-US" sz="1900" b="1" dirty="0">
                <a:solidFill>
                  <a:srgbClr val="16233F"/>
                </a:solidFill>
                <a:latin typeface="Cambria" pitchFamily="34" charset="0"/>
                <a:ea typeface="Cambria" pitchFamily="34" charset="-122"/>
                <a:cs typeface="Cambria" pitchFamily="34" charset="-120"/>
              </a:rPr>
              <a:t>El modo práctica trabaja sobre un banco de frases medido</a:t>
            </a:r>
            <a:endParaRPr lang="en-US" sz="1900" dirty="0"/>
          </a:p>
        </p:txBody>
      </p:sp>
      <p:sp>
        <p:nvSpPr>
          <p:cNvPr id="15" name="Text 13"/>
          <p:cNvSpPr/>
          <p:nvPr/>
        </p:nvSpPr>
        <p:spPr>
          <a:xfrm>
            <a:off x="1463040" y="4965192"/>
            <a:ext cx="9692640" cy="731520"/>
          </a:xfrm>
          <a:prstGeom prst="rect">
            <a:avLst/>
          </a:prstGeom>
          <a:noFill/>
          <a:ln/>
        </p:spPr>
        <p:txBody>
          <a:bodyPr wrap="square" lIns="0" tIns="0" rIns="0" bIns="0" rtlCol="0" anchor="t"/>
          <a:lstStyle/>
          <a:p>
            <a:pPr indent="0" marL="0">
              <a:buNone/>
            </a:pPr>
            <a:r>
              <a:rPr lang="en-US" sz="1400" dirty="0">
                <a:solidFill>
                  <a:srgbClr val="1E2430"/>
                </a:solidFill>
                <a:latin typeface="Calibri" pitchFamily="34" charset="0"/>
                <a:ea typeface="Calibri" pitchFamily="34" charset="-122"/>
                <a:cs typeface="Calibri" pitchFamily="34" charset="-120"/>
              </a:rPr>
              <a:t>Las frases son pares mínimos cuyo comportamiento está caracterizado. Con una frase propia el sistema avisa, pero no impide practicar.</a:t>
            </a:r>
            <a:endParaRPr lang="en-US" sz="1400" dirty="0"/>
          </a:p>
        </p:txBody>
      </p:sp>
      <p:sp>
        <p:nvSpPr>
          <p:cNvPr id="16" name="Text 14"/>
          <p:cNvSpPr/>
          <p:nvPr/>
        </p:nvSpPr>
        <p:spPr>
          <a:xfrm>
            <a:off x="685800" y="5806440"/>
            <a:ext cx="10789920" cy="548640"/>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Una medición adicional que el modo práctica aprovecha: la tasa de tomas marcadas se duplica al hablar deprisa, 9 de 20 frente a 5 de 10. Como el modo práctica propone la frase y la sintetiza, puede controlar esa variable.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CANAL DE INFERENCIA</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El peso de descarga es un recurso escaso</a:t>
            </a:r>
            <a:endParaRPr lang="en-US" sz="3200" dirty="0"/>
          </a:p>
        </p:txBody>
      </p:sp>
      <p:sp>
        <p:nvSpPr>
          <p:cNvPr id="4" name="Text 2"/>
          <p:cNvSpPr/>
          <p:nvPr/>
        </p:nvSpPr>
        <p:spPr>
          <a:xfrm>
            <a:off x="685800" y="1783080"/>
            <a:ext cx="5760720" cy="1371600"/>
          </a:xfrm>
          <a:prstGeom prst="rect">
            <a:avLst/>
          </a:prstGeom>
          <a:noFill/>
          <a:ln/>
        </p:spPr>
        <p:txBody>
          <a:bodyPr wrap="square" lIns="0" tIns="0" rIns="0" bIns="0" rtlCol="0" anchor="t"/>
          <a:lstStyle/>
          <a:p>
            <a:pPr indent="0" marL="0">
              <a:buNone/>
            </a:pPr>
            <a:r>
              <a:rPr lang="en-US" sz="1450" dirty="0">
                <a:solidFill>
                  <a:srgbClr val="1E2430"/>
                </a:solidFill>
                <a:latin typeface="Calibri" pitchFamily="34" charset="0"/>
                <a:ea typeface="Calibri" pitchFamily="34" charset="-122"/>
                <a:cs typeface="Calibri" pitchFamily="34" charset="-120"/>
              </a:rPr>
              <a:t>Ejecutar los modelos en el navegador impone que cada megabyte sea tiempo de espera antes del primer uso. Reducir peso cuantizando más quedó descartado por medición: bajar de 8 a 4 bits resultó 3.8 veces más lento y además más pesado en este entorno.</a:t>
            </a:r>
            <a:endParaRPr lang="en-US" sz="1450" dirty="0"/>
          </a:p>
        </p:txBody>
      </p:sp>
      <p:sp>
        <p:nvSpPr>
          <p:cNvPr id="5" name="Text 3"/>
          <p:cNvSpPr/>
          <p:nvPr/>
        </p:nvSpPr>
        <p:spPr>
          <a:xfrm>
            <a:off x="685800" y="3200400"/>
            <a:ext cx="5760720" cy="365760"/>
          </a:xfrm>
          <a:prstGeom prst="rect">
            <a:avLst/>
          </a:prstGeom>
          <a:noFill/>
          <a:ln/>
        </p:spPr>
        <p:txBody>
          <a:bodyPr wrap="square" lIns="0" tIns="0" rIns="0" bIns="0" rtlCol="0" anchor="ctr"/>
          <a:lstStyle/>
          <a:p>
            <a:pPr indent="0" marL="0">
              <a:buNone/>
            </a:pPr>
            <a:r>
              <a:rPr lang="en-US" sz="1900" b="1" dirty="0">
                <a:solidFill>
                  <a:srgbClr val="16233F"/>
                </a:solidFill>
                <a:latin typeface="Cambria" pitchFamily="34" charset="0"/>
                <a:ea typeface="Cambria" pitchFamily="34" charset="-122"/>
                <a:cs typeface="Cambria" pitchFamily="34" charset="-120"/>
              </a:rPr>
              <a:t>La observación que lo resuelve</a:t>
            </a:r>
            <a:endParaRPr lang="en-US" sz="1900" dirty="0"/>
          </a:p>
        </p:txBody>
      </p:sp>
      <p:sp>
        <p:nvSpPr>
          <p:cNvPr id="6" name="Text 4"/>
          <p:cNvSpPr/>
          <p:nvPr/>
        </p:nvSpPr>
        <p:spPr>
          <a:xfrm>
            <a:off x="685800" y="3611880"/>
            <a:ext cx="5760720" cy="1097280"/>
          </a:xfrm>
          <a:prstGeom prst="rect">
            <a:avLst/>
          </a:prstGeom>
          <a:noFill/>
          <a:ln/>
        </p:spPr>
        <p:txBody>
          <a:bodyPr wrap="square" lIns="0" tIns="0" rIns="0" bIns="0" rtlCol="0" anchor="t"/>
          <a:lstStyle/>
          <a:p>
            <a:pPr indent="0" marL="0">
              <a:buNone/>
            </a:pPr>
            <a:r>
              <a:rPr lang="en-US" sz="1450" dirty="0">
                <a:solidFill>
                  <a:srgbClr val="1E2430"/>
                </a:solidFill>
                <a:latin typeface="Calibri" pitchFamily="34" charset="0"/>
                <a:ea typeface="Calibri" pitchFamily="34" charset="-122"/>
                <a:cs typeface="Calibri" pitchFamily="34" charset="-120"/>
              </a:rPr>
              <a:t>Un turno no necesita los cuatro modelos a la vez. El estudiante primero habla, y solo después pulsa escuchar. El sintetizador se descarga cuando hace falta.</a:t>
            </a:r>
            <a:endParaRPr lang="en-US" sz="1450" dirty="0"/>
          </a:p>
        </p:txBody>
      </p:sp>
      <p:graphicFrame>
        <p:nvGraphicFramePr>
          <p:cNvPr id="7" name="Chart 0" descr=""/>
          <p:cNvGraphicFramePr/>
          <p:nvPr/>
        </p:nvGraphicFramePr>
        <p:xfrm>
          <a:off x="6995160" y="1828800"/>
          <a:ext cx="4480560" cy="2743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995160" y="4663440"/>
            <a:ext cx="4480560" cy="457200"/>
          </a:xfrm>
          <a:prstGeom prst="rect">
            <a:avLst/>
          </a:prstGeom>
          <a:noFill/>
          <a:ln/>
        </p:spPr>
        <p:txBody>
          <a:bodyPr wrap="square" lIns="0" tIns="0" rIns="0" bIns="0" rtlCol="0" anchor="ctr"/>
          <a:lstStyle/>
          <a:p>
            <a:pPr algn="ctr" indent="0" marL="0">
              <a:buNone/>
            </a:pPr>
            <a:r>
              <a:rPr lang="en-US" sz="1350" b="1" dirty="0">
                <a:solidFill>
                  <a:srgbClr val="17A398"/>
                </a:solidFill>
                <a:latin typeface="Calibri" pitchFamily="34" charset="0"/>
                <a:ea typeface="Calibri" pitchFamily="34" charset="-122"/>
                <a:cs typeface="Calibri" pitchFamily="34" charset="-120"/>
              </a:rPr>
              <a:t>26 % menos de espera inicial, sin tocar ningún modelo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ELECCIÓN POR MEDICIÓN</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Tres sintetizadores, el mismo banco de palabras</a:t>
            </a:r>
            <a:endParaRPr lang="en-US" sz="3200" dirty="0"/>
          </a:p>
        </p:txBody>
      </p:sp>
      <p:sp>
        <p:nvSpPr>
          <p:cNvPr id="4" name="Text 2"/>
          <p:cNvSpPr/>
          <p:nvPr/>
        </p:nvSpPr>
        <p:spPr>
          <a:xfrm>
            <a:off x="960120" y="1828800"/>
            <a:ext cx="4206240" cy="457200"/>
          </a:xfrm>
          <a:prstGeom prst="rect">
            <a:avLst/>
          </a:prstGeom>
          <a:noFill/>
          <a:ln/>
        </p:spPr>
        <p:txBody>
          <a:bodyPr wrap="square" lIns="0" tIns="0" rIns="0" bIns="0" rtlCol="0" anchor="ctr"/>
          <a:lstStyle/>
          <a:p>
            <a:pPr algn="l" indent="0" marL="0">
              <a:buNone/>
            </a:pPr>
            <a:endParaRPr lang="en-US" sz="1200" dirty="0"/>
          </a:p>
        </p:txBody>
      </p:sp>
      <p:sp>
        <p:nvSpPr>
          <p:cNvPr id="5" name="Text 3"/>
          <p:cNvSpPr/>
          <p:nvPr/>
        </p:nvSpPr>
        <p:spPr>
          <a:xfrm>
            <a:off x="5166360" y="1828800"/>
            <a:ext cx="2011680" cy="457200"/>
          </a:xfrm>
          <a:prstGeom prst="rect">
            <a:avLst/>
          </a:prstGeom>
          <a:noFill/>
          <a:ln/>
        </p:spPr>
        <p:txBody>
          <a:bodyPr wrap="square" lIns="0" tIns="0" rIns="0" bIns="0" rtlCol="0" anchor="ctr"/>
          <a:lstStyle/>
          <a:p>
            <a:pPr algn="ctr" indent="0" marL="0">
              <a:buNone/>
            </a:pPr>
            <a:r>
              <a:rPr lang="en-US" sz="1200" b="1" dirty="0">
                <a:solidFill>
                  <a:srgbClr val="5A6478"/>
                </a:solidFill>
                <a:latin typeface="Calibri" pitchFamily="34" charset="0"/>
                <a:ea typeface="Calibri" pitchFamily="34" charset="-122"/>
                <a:cs typeface="Calibri" pitchFamily="34" charset="-120"/>
              </a:rPr>
              <a:t>SpeechT5</a:t>
            </a:r>
            <a:endParaRPr lang="en-US" sz="1200" dirty="0"/>
          </a:p>
        </p:txBody>
      </p:sp>
      <p:sp>
        <p:nvSpPr>
          <p:cNvPr id="6" name="Text 4"/>
          <p:cNvSpPr/>
          <p:nvPr/>
        </p:nvSpPr>
        <p:spPr>
          <a:xfrm>
            <a:off x="7178040" y="1828800"/>
            <a:ext cx="2011680" cy="457200"/>
          </a:xfrm>
          <a:prstGeom prst="rect">
            <a:avLst/>
          </a:prstGeom>
          <a:noFill/>
          <a:ln/>
        </p:spPr>
        <p:txBody>
          <a:bodyPr wrap="square" lIns="0" tIns="0" rIns="0" bIns="0" rtlCol="0" anchor="ctr"/>
          <a:lstStyle/>
          <a:p>
            <a:pPr algn="ctr" indent="0" marL="0">
              <a:buNone/>
            </a:pPr>
            <a:r>
              <a:rPr lang="en-US" sz="1200" b="1" dirty="0">
                <a:solidFill>
                  <a:srgbClr val="5A6478"/>
                </a:solidFill>
                <a:latin typeface="Calibri" pitchFamily="34" charset="0"/>
                <a:ea typeface="Calibri" pitchFamily="34" charset="-122"/>
                <a:cs typeface="Calibri" pitchFamily="34" charset="-120"/>
              </a:rPr>
              <a:t>MMS-TTS</a:t>
            </a:r>
            <a:endParaRPr lang="en-US" sz="1200" dirty="0"/>
          </a:p>
        </p:txBody>
      </p:sp>
      <p:sp>
        <p:nvSpPr>
          <p:cNvPr id="7" name="Text 5"/>
          <p:cNvSpPr/>
          <p:nvPr/>
        </p:nvSpPr>
        <p:spPr>
          <a:xfrm>
            <a:off x="9189720" y="1828800"/>
            <a:ext cx="2560320" cy="457200"/>
          </a:xfrm>
          <a:prstGeom prst="rect">
            <a:avLst/>
          </a:prstGeom>
          <a:noFill/>
          <a:ln/>
        </p:spPr>
        <p:txBody>
          <a:bodyPr wrap="square" lIns="0" tIns="0" rIns="0" bIns="0" rtlCol="0" anchor="ctr"/>
          <a:lstStyle/>
          <a:p>
            <a:pPr algn="ctr" indent="0" marL="0">
              <a:buNone/>
            </a:pPr>
            <a:r>
              <a:rPr lang="en-US" sz="1200" b="1" dirty="0">
                <a:solidFill>
                  <a:srgbClr val="5A6478"/>
                </a:solidFill>
                <a:latin typeface="Calibri" pitchFamily="34" charset="0"/>
                <a:ea typeface="Calibri" pitchFamily="34" charset="-122"/>
                <a:cs typeface="Calibri" pitchFamily="34" charset="-120"/>
              </a:rPr>
              <a:t>Kokoro-82M</a:t>
            </a:r>
            <a:endParaRPr lang="en-US" sz="1200" dirty="0"/>
          </a:p>
        </p:txBody>
      </p:sp>
      <p:sp>
        <p:nvSpPr>
          <p:cNvPr id="8" name="Shape 6"/>
          <p:cNvSpPr/>
          <p:nvPr/>
        </p:nvSpPr>
        <p:spPr>
          <a:xfrm>
            <a:off x="685800" y="2331720"/>
            <a:ext cx="10789920" cy="658368"/>
          </a:xfrm>
          <a:prstGeom prst="roundRect">
            <a:avLst>
              <a:gd name="adj" fmla="val 16667"/>
            </a:avLst>
          </a:prstGeom>
          <a:solidFill>
            <a:srgbClr val="FFFFFF"/>
          </a:solidFill>
          <a:ln w="12700">
            <a:solidFill>
              <a:srgbClr val="FFFFFF"/>
            </a:solidFill>
            <a:prstDash val="solid"/>
          </a:ln>
        </p:spPr>
      </p:sp>
      <p:sp>
        <p:nvSpPr>
          <p:cNvPr id="9" name="Text 7"/>
          <p:cNvSpPr/>
          <p:nvPr/>
        </p:nvSpPr>
        <p:spPr>
          <a:xfrm>
            <a:off x="960120" y="2331720"/>
            <a:ext cx="4206240" cy="658368"/>
          </a:xfrm>
          <a:prstGeom prst="rect">
            <a:avLst/>
          </a:prstGeom>
          <a:noFill/>
          <a:ln/>
        </p:spPr>
        <p:txBody>
          <a:bodyPr wrap="square" lIns="0" tIns="0" rIns="0" bIns="0" rtlCol="0" anchor="ctr"/>
          <a:lstStyle/>
          <a:p>
            <a:pPr algn="l" indent="0" marL="0">
              <a:buNone/>
            </a:pPr>
            <a:r>
              <a:rPr lang="en-US" sz="1400" b="1" dirty="0">
                <a:solidFill>
                  <a:srgbClr val="16233F"/>
                </a:solidFill>
                <a:latin typeface="Calibri" pitchFamily="34" charset="0"/>
                <a:ea typeface="Calibri" pitchFamily="34" charset="-122"/>
                <a:cs typeface="Calibri" pitchFamily="34" charset="-120"/>
              </a:rPr>
              <a:t>Fallos en 14 palabras trampa</a:t>
            </a:r>
            <a:endParaRPr lang="en-US" sz="1400" dirty="0"/>
          </a:p>
        </p:txBody>
      </p:sp>
      <p:sp>
        <p:nvSpPr>
          <p:cNvPr id="10" name="Text 8"/>
          <p:cNvSpPr/>
          <p:nvPr/>
        </p:nvSpPr>
        <p:spPr>
          <a:xfrm>
            <a:off x="5166360" y="2331720"/>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7178040" y="2331720"/>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7</a:t>
            </a:r>
            <a:endParaRPr lang="en-US" sz="1400" dirty="0"/>
          </a:p>
        </p:txBody>
      </p:sp>
      <p:sp>
        <p:nvSpPr>
          <p:cNvPr id="12" name="Text 10"/>
          <p:cNvSpPr/>
          <p:nvPr/>
        </p:nvSpPr>
        <p:spPr>
          <a:xfrm>
            <a:off x="9189720" y="2331720"/>
            <a:ext cx="2560320" cy="658368"/>
          </a:xfrm>
          <a:prstGeom prst="rect">
            <a:avLst/>
          </a:prstGeom>
          <a:noFill/>
          <a:ln/>
        </p:spPr>
        <p:txBody>
          <a:bodyPr wrap="square" lIns="0" tIns="0" rIns="0" bIns="0" rtlCol="0" anchor="ctr"/>
          <a:lstStyle/>
          <a:p>
            <a:pPr algn="ctr" indent="0" marL="0">
              <a:buNone/>
            </a:pPr>
            <a:r>
              <a:rPr lang="en-US" sz="1400" b="1" dirty="0">
                <a:solidFill>
                  <a:srgbClr val="17A398"/>
                </a:solidFill>
                <a:latin typeface="Cambria" pitchFamily="34" charset="0"/>
                <a:ea typeface="Cambria" pitchFamily="34" charset="-122"/>
                <a:cs typeface="Cambria" pitchFamily="34" charset="-120"/>
              </a:rPr>
              <a:t>1</a:t>
            </a:r>
            <a:endParaRPr lang="en-US" sz="1400" dirty="0"/>
          </a:p>
        </p:txBody>
      </p:sp>
      <p:sp>
        <p:nvSpPr>
          <p:cNvPr id="13" name="Shape 11"/>
          <p:cNvSpPr/>
          <p:nvPr/>
        </p:nvSpPr>
        <p:spPr>
          <a:xfrm>
            <a:off x="685800" y="3044952"/>
            <a:ext cx="10789920" cy="658368"/>
          </a:xfrm>
          <a:prstGeom prst="roundRect">
            <a:avLst>
              <a:gd name="adj" fmla="val 16667"/>
            </a:avLst>
          </a:prstGeom>
          <a:solidFill>
            <a:srgbClr val="EEF4FB"/>
          </a:solidFill>
          <a:ln w="12700">
            <a:solidFill>
              <a:srgbClr val="EEF4FB"/>
            </a:solidFill>
            <a:prstDash val="solid"/>
          </a:ln>
        </p:spPr>
      </p:sp>
      <p:sp>
        <p:nvSpPr>
          <p:cNvPr id="14" name="Text 12"/>
          <p:cNvSpPr/>
          <p:nvPr/>
        </p:nvSpPr>
        <p:spPr>
          <a:xfrm>
            <a:off x="960120" y="3044952"/>
            <a:ext cx="4206240" cy="658368"/>
          </a:xfrm>
          <a:prstGeom prst="rect">
            <a:avLst/>
          </a:prstGeom>
          <a:noFill/>
          <a:ln/>
        </p:spPr>
        <p:txBody>
          <a:bodyPr wrap="square" lIns="0" tIns="0" rIns="0" bIns="0" rtlCol="0" anchor="ctr"/>
          <a:lstStyle/>
          <a:p>
            <a:pPr algn="l" indent="0" marL="0">
              <a:buNone/>
            </a:pPr>
            <a:r>
              <a:rPr lang="en-US" sz="1400" b="1" dirty="0">
                <a:solidFill>
                  <a:srgbClr val="16233F"/>
                </a:solidFill>
                <a:latin typeface="Calibri" pitchFamily="34" charset="0"/>
                <a:ea typeface="Calibri" pitchFamily="34" charset="-122"/>
                <a:cs typeface="Calibri" pitchFamily="34" charset="-120"/>
              </a:rPr>
              <a:t>Fallos en 5 palabras de control</a:t>
            </a:r>
            <a:endParaRPr lang="en-US" sz="1400" dirty="0"/>
          </a:p>
        </p:txBody>
      </p:sp>
      <p:sp>
        <p:nvSpPr>
          <p:cNvPr id="15" name="Text 13"/>
          <p:cNvSpPr/>
          <p:nvPr/>
        </p:nvSpPr>
        <p:spPr>
          <a:xfrm>
            <a:off x="5166360" y="3044952"/>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7178040" y="3044952"/>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9189720" y="3044952"/>
            <a:ext cx="2560320" cy="658368"/>
          </a:xfrm>
          <a:prstGeom prst="rect">
            <a:avLst/>
          </a:prstGeom>
          <a:noFill/>
          <a:ln/>
        </p:spPr>
        <p:txBody>
          <a:bodyPr wrap="square" lIns="0" tIns="0" rIns="0" bIns="0" rtlCol="0" anchor="ctr"/>
          <a:lstStyle/>
          <a:p>
            <a:pPr algn="ctr" indent="0" marL="0">
              <a:buNone/>
            </a:pPr>
            <a:r>
              <a:rPr lang="en-US" sz="1400" b="1" dirty="0">
                <a:solidFill>
                  <a:srgbClr val="17A398"/>
                </a:solidFill>
                <a:latin typeface="Cambria" pitchFamily="34" charset="0"/>
                <a:ea typeface="Cambria" pitchFamily="34" charset="-122"/>
                <a:cs typeface="Cambria" pitchFamily="34" charset="-120"/>
              </a:rPr>
              <a:t>0</a:t>
            </a:r>
            <a:endParaRPr lang="en-US" sz="1400" dirty="0"/>
          </a:p>
        </p:txBody>
      </p:sp>
      <p:sp>
        <p:nvSpPr>
          <p:cNvPr id="18" name="Shape 16"/>
          <p:cNvSpPr/>
          <p:nvPr/>
        </p:nvSpPr>
        <p:spPr>
          <a:xfrm>
            <a:off x="685800" y="3758184"/>
            <a:ext cx="10789920" cy="658368"/>
          </a:xfrm>
          <a:prstGeom prst="roundRect">
            <a:avLst>
              <a:gd name="adj" fmla="val 16667"/>
            </a:avLst>
          </a:prstGeom>
          <a:solidFill>
            <a:srgbClr val="FFFFFF"/>
          </a:solidFill>
          <a:ln w="12700">
            <a:solidFill>
              <a:srgbClr val="FFFFFF"/>
            </a:solidFill>
            <a:prstDash val="solid"/>
          </a:ln>
        </p:spPr>
      </p:sp>
      <p:sp>
        <p:nvSpPr>
          <p:cNvPr id="19" name="Text 17"/>
          <p:cNvSpPr/>
          <p:nvPr/>
        </p:nvSpPr>
        <p:spPr>
          <a:xfrm>
            <a:off x="960120" y="3758184"/>
            <a:ext cx="4206240" cy="658368"/>
          </a:xfrm>
          <a:prstGeom prst="rect">
            <a:avLst/>
          </a:prstGeom>
          <a:noFill/>
          <a:ln/>
        </p:spPr>
        <p:txBody>
          <a:bodyPr wrap="square" lIns="0" tIns="0" rIns="0" bIns="0" rtlCol="0" anchor="ctr"/>
          <a:lstStyle/>
          <a:p>
            <a:pPr algn="l" indent="0" marL="0">
              <a:buNone/>
            </a:pPr>
            <a:r>
              <a:rPr lang="en-US" sz="1400" b="1" dirty="0">
                <a:solidFill>
                  <a:srgbClr val="16233F"/>
                </a:solidFill>
                <a:latin typeface="Calibri" pitchFamily="34" charset="0"/>
                <a:ea typeface="Calibri" pitchFamily="34" charset="-122"/>
                <a:cs typeface="Calibri" pitchFamily="34" charset="-120"/>
              </a:rPr>
              <a:t>Determinista</a:t>
            </a:r>
            <a:endParaRPr lang="en-US" sz="1400" dirty="0"/>
          </a:p>
        </p:txBody>
      </p:sp>
      <p:sp>
        <p:nvSpPr>
          <p:cNvPr id="20" name="Text 18"/>
          <p:cNvSpPr/>
          <p:nvPr/>
        </p:nvSpPr>
        <p:spPr>
          <a:xfrm>
            <a:off x="5166360" y="3758184"/>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7178040" y="3758184"/>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No</a:t>
            </a:r>
            <a:endParaRPr lang="en-US" sz="1400" dirty="0"/>
          </a:p>
        </p:txBody>
      </p:sp>
      <p:sp>
        <p:nvSpPr>
          <p:cNvPr id="22" name="Text 20"/>
          <p:cNvSpPr/>
          <p:nvPr/>
        </p:nvSpPr>
        <p:spPr>
          <a:xfrm>
            <a:off x="9189720" y="3758184"/>
            <a:ext cx="2560320" cy="658368"/>
          </a:xfrm>
          <a:prstGeom prst="rect">
            <a:avLst/>
          </a:prstGeom>
          <a:noFill/>
          <a:ln/>
        </p:spPr>
        <p:txBody>
          <a:bodyPr wrap="square" lIns="0" tIns="0" rIns="0" bIns="0" rtlCol="0" anchor="ctr"/>
          <a:lstStyle/>
          <a:p>
            <a:pPr algn="ctr" indent="0" marL="0">
              <a:buNone/>
            </a:pPr>
            <a:r>
              <a:rPr lang="en-US" sz="1400" b="1" dirty="0">
                <a:solidFill>
                  <a:srgbClr val="17A398"/>
                </a:solidFill>
                <a:latin typeface="Cambria" pitchFamily="34" charset="0"/>
                <a:ea typeface="Cambria" pitchFamily="34" charset="-122"/>
                <a:cs typeface="Cambria" pitchFamily="34" charset="-120"/>
              </a:rPr>
              <a:t>Sí</a:t>
            </a:r>
            <a:endParaRPr lang="en-US" sz="1400" dirty="0"/>
          </a:p>
        </p:txBody>
      </p:sp>
      <p:sp>
        <p:nvSpPr>
          <p:cNvPr id="23" name="Shape 21"/>
          <p:cNvSpPr/>
          <p:nvPr/>
        </p:nvSpPr>
        <p:spPr>
          <a:xfrm>
            <a:off x="685800" y="4471416"/>
            <a:ext cx="10789920" cy="658368"/>
          </a:xfrm>
          <a:prstGeom prst="roundRect">
            <a:avLst>
              <a:gd name="adj" fmla="val 16667"/>
            </a:avLst>
          </a:prstGeom>
          <a:solidFill>
            <a:srgbClr val="EEF4FB"/>
          </a:solidFill>
          <a:ln w="12700">
            <a:solidFill>
              <a:srgbClr val="EEF4FB"/>
            </a:solidFill>
            <a:prstDash val="solid"/>
          </a:ln>
        </p:spPr>
      </p:sp>
      <p:sp>
        <p:nvSpPr>
          <p:cNvPr id="24" name="Text 22"/>
          <p:cNvSpPr/>
          <p:nvPr/>
        </p:nvSpPr>
        <p:spPr>
          <a:xfrm>
            <a:off x="960120" y="4471416"/>
            <a:ext cx="4206240" cy="658368"/>
          </a:xfrm>
          <a:prstGeom prst="rect">
            <a:avLst/>
          </a:prstGeom>
          <a:noFill/>
          <a:ln/>
        </p:spPr>
        <p:txBody>
          <a:bodyPr wrap="square" lIns="0" tIns="0" rIns="0" bIns="0" rtlCol="0" anchor="ctr"/>
          <a:lstStyle/>
          <a:p>
            <a:pPr algn="l" indent="0" marL="0">
              <a:buNone/>
            </a:pPr>
            <a:r>
              <a:rPr lang="en-US" sz="1400" b="1" dirty="0">
                <a:solidFill>
                  <a:srgbClr val="16233F"/>
                </a:solidFill>
                <a:latin typeface="Calibri" pitchFamily="34" charset="0"/>
                <a:ea typeface="Calibri" pitchFamily="34" charset="-122"/>
                <a:cs typeface="Calibri" pitchFamily="34" charset="-120"/>
              </a:rPr>
              <a:t>Descarga medida</a:t>
            </a:r>
            <a:endParaRPr lang="en-US" sz="1400" dirty="0"/>
          </a:p>
        </p:txBody>
      </p:sp>
      <p:sp>
        <p:nvSpPr>
          <p:cNvPr id="25" name="Text 23"/>
          <p:cNvSpPr/>
          <p:nvPr/>
        </p:nvSpPr>
        <p:spPr>
          <a:xfrm>
            <a:off x="5166360" y="4471416"/>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613 MB</a:t>
            </a:r>
            <a:endParaRPr lang="en-US" sz="1400" dirty="0"/>
          </a:p>
        </p:txBody>
      </p:sp>
      <p:sp>
        <p:nvSpPr>
          <p:cNvPr id="26" name="Text 24"/>
          <p:cNvSpPr/>
          <p:nvPr/>
        </p:nvSpPr>
        <p:spPr>
          <a:xfrm>
            <a:off x="7178040" y="4471416"/>
            <a:ext cx="2011680" cy="658368"/>
          </a:xfrm>
          <a:prstGeom prst="rect">
            <a:avLst/>
          </a:prstGeom>
          <a:noFill/>
          <a:ln/>
        </p:spPr>
        <p:txBody>
          <a:bodyPr wrap="square" lIns="0" tIns="0" rIns="0" bIns="0" rtlCol="0" anchor="ctr"/>
          <a:lstStyle/>
          <a:p>
            <a:pPr algn="ctr" indent="0" marL="0">
              <a:buNone/>
            </a:pPr>
            <a:r>
              <a:rPr lang="en-US" sz="1400" dirty="0">
                <a:solidFill>
                  <a:srgbClr val="1E2430"/>
                </a:solidFill>
                <a:latin typeface="Calibri" pitchFamily="34" charset="0"/>
                <a:ea typeface="Calibri" pitchFamily="34" charset="-122"/>
                <a:cs typeface="Calibri" pitchFamily="34" charset="-120"/>
              </a:rPr>
              <a:t>109.0 MiB</a:t>
            </a:r>
            <a:endParaRPr lang="en-US" sz="1400" dirty="0"/>
          </a:p>
        </p:txBody>
      </p:sp>
      <p:sp>
        <p:nvSpPr>
          <p:cNvPr id="27" name="Text 25"/>
          <p:cNvSpPr/>
          <p:nvPr/>
        </p:nvSpPr>
        <p:spPr>
          <a:xfrm>
            <a:off x="9189720" y="4471416"/>
            <a:ext cx="2560320" cy="658368"/>
          </a:xfrm>
          <a:prstGeom prst="rect">
            <a:avLst/>
          </a:prstGeom>
          <a:noFill/>
          <a:ln/>
        </p:spPr>
        <p:txBody>
          <a:bodyPr wrap="square" lIns="0" tIns="0" rIns="0" bIns="0" rtlCol="0" anchor="ctr"/>
          <a:lstStyle/>
          <a:p>
            <a:pPr algn="ctr" indent="0" marL="0">
              <a:buNone/>
            </a:pPr>
            <a:r>
              <a:rPr lang="en-US" sz="1400" b="1" dirty="0">
                <a:solidFill>
                  <a:srgbClr val="17A398"/>
                </a:solidFill>
                <a:latin typeface="Cambria" pitchFamily="34" charset="0"/>
                <a:ea typeface="Cambria" pitchFamily="34" charset="-122"/>
                <a:cs typeface="Cambria" pitchFamily="34" charset="-120"/>
              </a:rPr>
              <a:t>88.1 MiB</a:t>
            </a:r>
            <a:endParaRPr lang="en-US" sz="1400" dirty="0"/>
          </a:p>
        </p:txBody>
      </p:sp>
      <p:sp>
        <p:nvSpPr>
          <p:cNvPr id="28" name="Text 26"/>
          <p:cNvSpPr/>
          <p:nvPr/>
        </p:nvSpPr>
        <p:spPr>
          <a:xfrm>
            <a:off x="685800" y="5394960"/>
            <a:ext cx="4937760" cy="365760"/>
          </a:xfrm>
          <a:prstGeom prst="rect">
            <a:avLst/>
          </a:prstGeom>
          <a:noFill/>
          <a:ln/>
        </p:spPr>
        <p:txBody>
          <a:bodyPr wrap="square" lIns="0" tIns="0" rIns="0" bIns="0" rtlCol="0" anchor="ctr"/>
          <a:lstStyle/>
          <a:p>
            <a:pPr indent="0" marL="0">
              <a:buNone/>
            </a:pPr>
            <a:r>
              <a:rPr lang="en-US" sz="1700" b="1" dirty="0">
                <a:solidFill>
                  <a:srgbClr val="16233F"/>
                </a:solidFill>
                <a:latin typeface="Cambria" pitchFamily="34" charset="0"/>
                <a:ea typeface="Cambria" pitchFamily="34" charset="-122"/>
                <a:cs typeface="Cambria" pitchFamily="34" charset="-120"/>
              </a:rPr>
              <a:t>Por qué importa la determinación</a:t>
            </a:r>
            <a:endParaRPr lang="en-US" sz="1700" dirty="0"/>
          </a:p>
        </p:txBody>
      </p:sp>
      <p:sp>
        <p:nvSpPr>
          <p:cNvPr id="29" name="Text 27"/>
          <p:cNvSpPr/>
          <p:nvPr/>
        </p:nvSpPr>
        <p:spPr>
          <a:xfrm>
            <a:off x="685800" y="5806440"/>
            <a:ext cx="10789920" cy="822960"/>
          </a:xfrm>
          <a:prstGeom prst="rect">
            <a:avLst/>
          </a:prstGeom>
          <a:noFill/>
          <a:ln/>
        </p:spPr>
        <p:txBody>
          <a:bodyPr wrap="square" lIns="0" tIns="0" rIns="0" bIns="0" rtlCol="0" anchor="t"/>
          <a:lstStyle/>
          <a:p>
            <a:pPr indent="0" marL="0">
              <a:buNone/>
            </a:pPr>
            <a:r>
              <a:rPr lang="en-US" sz="1350" dirty="0">
                <a:solidFill>
                  <a:srgbClr val="1E2430"/>
                </a:solidFill>
                <a:latin typeface="Calibri" pitchFamily="34" charset="0"/>
                <a:ea typeface="Calibri" pitchFamily="34" charset="-122"/>
                <a:cs typeface="Calibri" pitchFamily="34" charset="-120"/>
              </a:rPr>
              <a:t>MMS-TTS muestrea ruido para variar la prosodia. Dos síntesis del mismo texto puntuaban 49.5 sobre 100 al compararse entre sí: la mitad de la escala se consumía antes de que el estudiante cometiera un solo error.</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EL TUTOR BILINGÜE</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El bilingüismo se resuelve en el reconocedor, no en el tutor</a:t>
            </a:r>
            <a:endParaRPr lang="en-US" sz="3200" dirty="0"/>
          </a:p>
        </p:txBody>
      </p:sp>
      <p:sp>
        <p:nvSpPr>
          <p:cNvPr id="4" name="Text 2"/>
          <p:cNvSpPr/>
          <p:nvPr/>
        </p:nvSpPr>
        <p:spPr>
          <a:xfrm>
            <a:off x="685800" y="1783080"/>
            <a:ext cx="10789920" cy="1005840"/>
          </a:xfrm>
          <a:prstGeom prst="rect">
            <a:avLst/>
          </a:prstGeom>
          <a:noFill/>
          <a:ln/>
        </p:spPr>
        <p:txBody>
          <a:bodyPr wrap="square" lIns="0" tIns="0" rIns="0" bIns="0" rtlCol="0" anchor="t"/>
          <a:lstStyle/>
          <a:p>
            <a:pPr indent="0" marL="0">
              <a:buNone/>
            </a:pPr>
            <a:r>
              <a:rPr lang="en-US" sz="1500" dirty="0">
                <a:solidFill>
                  <a:srgbClr val="1E2430"/>
                </a:solidFill>
                <a:latin typeface="Calibri" pitchFamily="34" charset="0"/>
                <a:ea typeface="Calibri" pitchFamily="34" charset="-122"/>
                <a:cs typeface="Calibri" pitchFamily="34" charset="-120"/>
              </a:rPr>
              <a:t>Un principiante recurre al español cuando todavía no consigue armar la frase en inglés. Atenderlo parecía exigir un tutor multilingüe, y con el, su latencia. La observación que lo resuelve: el tutor nunca necesitó saber español, necesitaba recibir en inglés lo que el estudiante quiso decir.</a:t>
            </a:r>
            <a:endParaRPr lang="en-US" sz="1500" dirty="0"/>
          </a:p>
        </p:txBody>
      </p:sp>
      <p:sp>
        <p:nvSpPr>
          <p:cNvPr id="5" name="Text 3"/>
          <p:cNvSpPr/>
          <p:nvPr/>
        </p:nvSpPr>
        <p:spPr>
          <a:xfrm>
            <a:off x="685800" y="2834640"/>
            <a:ext cx="10789920" cy="411480"/>
          </a:xfrm>
          <a:prstGeom prst="rect">
            <a:avLst/>
          </a:prstGeom>
          <a:noFill/>
          <a:ln/>
        </p:spPr>
        <p:txBody>
          <a:bodyPr wrap="square" lIns="0" tIns="0" rIns="0" bIns="0"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Whisper multilingüe, que ya estaba cargado, tiene una tarea de traducción.</a:t>
            </a:r>
            <a:endParaRPr lang="en-US" sz="1500" dirty="0"/>
          </a:p>
        </p:txBody>
      </p:sp>
      <p:sp>
        <p:nvSpPr>
          <p:cNvPr id="6" name="Text 4"/>
          <p:cNvSpPr/>
          <p:nvPr/>
        </p:nvSpPr>
        <p:spPr>
          <a:xfrm>
            <a:off x="960120" y="3429000"/>
            <a:ext cx="4206240" cy="384048"/>
          </a:xfrm>
          <a:prstGeom prst="rect">
            <a:avLst/>
          </a:prstGeom>
          <a:noFill/>
          <a:ln/>
        </p:spPr>
        <p:txBody>
          <a:bodyPr wrap="square" lIns="0" tIns="0" rIns="0" bIns="0" rtlCol="0" anchor="ctr"/>
          <a:lstStyle/>
          <a:p>
            <a:pPr algn="l" indent="0" marL="0">
              <a:buNone/>
            </a:pPr>
            <a:endParaRPr lang="en-US" sz="1200" dirty="0"/>
          </a:p>
        </p:txBody>
      </p:sp>
      <p:sp>
        <p:nvSpPr>
          <p:cNvPr id="7" name="Text 5"/>
          <p:cNvSpPr/>
          <p:nvPr/>
        </p:nvSpPr>
        <p:spPr>
          <a:xfrm>
            <a:off x="5166360" y="3429000"/>
            <a:ext cx="3108960" cy="384048"/>
          </a:xfrm>
          <a:prstGeom prst="rect">
            <a:avLst/>
          </a:prstGeom>
          <a:noFill/>
          <a:ln/>
        </p:spPr>
        <p:txBody>
          <a:bodyPr wrap="square" lIns="0" tIns="0" rIns="0" bIns="0" rtlCol="0" anchor="ctr"/>
          <a:lstStyle/>
          <a:p>
            <a:pPr algn="ctr" indent="0" marL="0">
              <a:buNone/>
            </a:pPr>
            <a:r>
              <a:rPr lang="en-US" sz="1200" b="1" dirty="0">
                <a:solidFill>
                  <a:srgbClr val="5A6478"/>
                </a:solidFill>
                <a:latin typeface="Calibri" pitchFamily="34" charset="0"/>
                <a:ea typeface="Calibri" pitchFamily="34" charset="-122"/>
                <a:cs typeface="Calibri" pitchFamily="34" charset="-120"/>
              </a:rPr>
              <a:t>Con tutor multilingüe</a:t>
            </a:r>
            <a:endParaRPr lang="en-US" sz="1200" dirty="0"/>
          </a:p>
        </p:txBody>
      </p:sp>
      <p:sp>
        <p:nvSpPr>
          <p:cNvPr id="8" name="Text 6"/>
          <p:cNvSpPr/>
          <p:nvPr/>
        </p:nvSpPr>
        <p:spPr>
          <a:xfrm>
            <a:off x="8275320" y="3429000"/>
            <a:ext cx="3474720" cy="384048"/>
          </a:xfrm>
          <a:prstGeom prst="rect">
            <a:avLst/>
          </a:prstGeom>
          <a:noFill/>
          <a:ln/>
        </p:spPr>
        <p:txBody>
          <a:bodyPr wrap="square" lIns="0" tIns="0" rIns="0" bIns="0" rtlCol="0" anchor="ctr"/>
          <a:lstStyle/>
          <a:p>
            <a:pPr algn="ctr" indent="0" marL="0">
              <a:buNone/>
            </a:pPr>
            <a:r>
              <a:rPr lang="en-US" sz="1200" b="1" dirty="0">
                <a:solidFill>
                  <a:srgbClr val="5A6478"/>
                </a:solidFill>
                <a:latin typeface="Calibri" pitchFamily="34" charset="0"/>
                <a:ea typeface="Calibri" pitchFamily="34" charset="-122"/>
                <a:cs typeface="Calibri" pitchFamily="34" charset="-120"/>
              </a:rPr>
              <a:t>Con traducción en el reconocedor</a:t>
            </a:r>
            <a:endParaRPr lang="en-US" sz="1200" dirty="0"/>
          </a:p>
        </p:txBody>
      </p:sp>
      <p:sp>
        <p:nvSpPr>
          <p:cNvPr id="9" name="Shape 7"/>
          <p:cNvSpPr/>
          <p:nvPr/>
        </p:nvSpPr>
        <p:spPr>
          <a:xfrm>
            <a:off x="685800" y="3867912"/>
            <a:ext cx="10789920" cy="566928"/>
          </a:xfrm>
          <a:prstGeom prst="roundRect">
            <a:avLst>
              <a:gd name="adj" fmla="val 19355"/>
            </a:avLst>
          </a:prstGeom>
          <a:solidFill>
            <a:srgbClr val="FFFFFF"/>
          </a:solidFill>
          <a:ln w="12700">
            <a:solidFill>
              <a:srgbClr val="FFFFFF"/>
            </a:solidFill>
            <a:prstDash val="solid"/>
          </a:ln>
        </p:spPr>
      </p:sp>
      <p:sp>
        <p:nvSpPr>
          <p:cNvPr id="10" name="Text 8"/>
          <p:cNvSpPr/>
          <p:nvPr/>
        </p:nvSpPr>
        <p:spPr>
          <a:xfrm>
            <a:off x="960120" y="3867912"/>
            <a:ext cx="4206240" cy="566928"/>
          </a:xfrm>
          <a:prstGeom prst="rect">
            <a:avLst/>
          </a:prstGeom>
          <a:noFill/>
          <a:ln/>
        </p:spPr>
        <p:txBody>
          <a:bodyPr wrap="square" lIns="0" tIns="0" rIns="0" bIns="0" rtlCol="0" anchor="ctr"/>
          <a:lstStyle/>
          <a:p>
            <a:pPr algn="l" indent="0" marL="0">
              <a:buNone/>
            </a:pPr>
            <a:r>
              <a:rPr lang="en-US" sz="1350" b="1" dirty="0">
                <a:solidFill>
                  <a:srgbClr val="16233F"/>
                </a:solidFill>
                <a:latin typeface="Calibri" pitchFamily="34" charset="0"/>
                <a:ea typeface="Calibri" pitchFamily="34" charset="-122"/>
                <a:cs typeface="Calibri" pitchFamily="34" charset="-120"/>
              </a:rPr>
              <a:t>Latencia de la respuesta</a:t>
            </a:r>
            <a:endParaRPr lang="en-US" sz="1350" dirty="0"/>
          </a:p>
        </p:txBody>
      </p:sp>
      <p:sp>
        <p:nvSpPr>
          <p:cNvPr id="11" name="Text 9"/>
          <p:cNvSpPr/>
          <p:nvPr/>
        </p:nvSpPr>
        <p:spPr>
          <a:xfrm>
            <a:off x="5166360" y="3867912"/>
            <a:ext cx="3108960" cy="566928"/>
          </a:xfrm>
          <a:prstGeom prst="rect">
            <a:avLst/>
          </a:prstGeom>
          <a:noFill/>
          <a:ln/>
        </p:spPr>
        <p:txBody>
          <a:bodyPr wrap="square" lIns="0" tIns="0" rIns="0" bIns="0" rtlCol="0" anchor="ctr"/>
          <a:lstStyle/>
          <a:p>
            <a:pPr algn="ctr" indent="0" marL="0">
              <a:buNone/>
            </a:pPr>
            <a:r>
              <a:rPr lang="en-US" sz="1350" dirty="0">
                <a:solidFill>
                  <a:srgbClr val="1E2430"/>
                </a:solidFill>
                <a:latin typeface="Calibri" pitchFamily="34" charset="0"/>
                <a:ea typeface="Calibri" pitchFamily="34" charset="-122"/>
                <a:cs typeface="Calibri" pitchFamily="34" charset="-120"/>
              </a:rPr>
              <a:t>7 a 16 s</a:t>
            </a:r>
            <a:endParaRPr lang="en-US" sz="1350" dirty="0"/>
          </a:p>
        </p:txBody>
      </p:sp>
      <p:sp>
        <p:nvSpPr>
          <p:cNvPr id="12" name="Text 10"/>
          <p:cNvSpPr/>
          <p:nvPr/>
        </p:nvSpPr>
        <p:spPr>
          <a:xfrm>
            <a:off x="8275320" y="3867912"/>
            <a:ext cx="3474720" cy="566928"/>
          </a:xfrm>
          <a:prstGeom prst="rect">
            <a:avLst/>
          </a:prstGeom>
          <a:noFill/>
          <a:ln/>
        </p:spPr>
        <p:txBody>
          <a:bodyPr wrap="square" lIns="0" tIns="0" rIns="0" bIns="0" rtlCol="0" anchor="ctr"/>
          <a:lstStyle/>
          <a:p>
            <a:pPr algn="ctr" indent="0" marL="0">
              <a:buNone/>
            </a:pPr>
            <a:r>
              <a:rPr lang="en-US" sz="1350" b="1" dirty="0">
                <a:solidFill>
                  <a:srgbClr val="17A398"/>
                </a:solidFill>
                <a:latin typeface="Cambria" pitchFamily="34" charset="0"/>
                <a:ea typeface="Cambria" pitchFamily="34" charset="-122"/>
                <a:cs typeface="Cambria" pitchFamily="34" charset="-120"/>
              </a:rPr>
              <a:t>~1.5 s</a:t>
            </a:r>
            <a:endParaRPr lang="en-US" sz="1350" dirty="0"/>
          </a:p>
        </p:txBody>
      </p:sp>
      <p:sp>
        <p:nvSpPr>
          <p:cNvPr id="13" name="Shape 11"/>
          <p:cNvSpPr/>
          <p:nvPr/>
        </p:nvSpPr>
        <p:spPr>
          <a:xfrm>
            <a:off x="685800" y="4471416"/>
            <a:ext cx="10789920" cy="566928"/>
          </a:xfrm>
          <a:prstGeom prst="roundRect">
            <a:avLst>
              <a:gd name="adj" fmla="val 19355"/>
            </a:avLst>
          </a:prstGeom>
          <a:solidFill>
            <a:srgbClr val="EEF4FB"/>
          </a:solidFill>
          <a:ln w="12700">
            <a:solidFill>
              <a:srgbClr val="EEF4FB"/>
            </a:solidFill>
            <a:prstDash val="solid"/>
          </a:ln>
        </p:spPr>
      </p:sp>
      <p:sp>
        <p:nvSpPr>
          <p:cNvPr id="14" name="Text 12"/>
          <p:cNvSpPr/>
          <p:nvPr/>
        </p:nvSpPr>
        <p:spPr>
          <a:xfrm>
            <a:off x="960120" y="4471416"/>
            <a:ext cx="4206240" cy="566928"/>
          </a:xfrm>
          <a:prstGeom prst="rect">
            <a:avLst/>
          </a:prstGeom>
          <a:noFill/>
          <a:ln/>
        </p:spPr>
        <p:txBody>
          <a:bodyPr wrap="square" lIns="0" tIns="0" rIns="0" bIns="0" rtlCol="0" anchor="ctr"/>
          <a:lstStyle/>
          <a:p>
            <a:pPr algn="l" indent="0" marL="0">
              <a:buNone/>
            </a:pPr>
            <a:r>
              <a:rPr lang="en-US" sz="1350" b="1" dirty="0">
                <a:solidFill>
                  <a:srgbClr val="16233F"/>
                </a:solidFill>
                <a:latin typeface="Calibri" pitchFamily="34" charset="0"/>
                <a:ea typeface="Calibri" pitchFamily="34" charset="-122"/>
                <a:cs typeface="Calibri" pitchFamily="34" charset="-120"/>
              </a:rPr>
              <a:t>Atiende al estudiante en español</a:t>
            </a:r>
            <a:endParaRPr lang="en-US" sz="1350" dirty="0"/>
          </a:p>
        </p:txBody>
      </p:sp>
      <p:sp>
        <p:nvSpPr>
          <p:cNvPr id="15" name="Text 13"/>
          <p:cNvSpPr/>
          <p:nvPr/>
        </p:nvSpPr>
        <p:spPr>
          <a:xfrm>
            <a:off x="5166360" y="4471416"/>
            <a:ext cx="3108960" cy="566928"/>
          </a:xfrm>
          <a:prstGeom prst="rect">
            <a:avLst/>
          </a:prstGeom>
          <a:noFill/>
          <a:ln/>
        </p:spPr>
        <p:txBody>
          <a:bodyPr wrap="square" lIns="0" tIns="0" rIns="0" bIns="0" rtlCol="0" anchor="ctr"/>
          <a:lstStyle/>
          <a:p>
            <a:pPr algn="ctr" indent="0" marL="0">
              <a:buNone/>
            </a:pPr>
            <a:r>
              <a:rPr lang="en-US" sz="1350" dirty="0">
                <a:solidFill>
                  <a:srgbClr val="1E2430"/>
                </a:solidFill>
                <a:latin typeface="Calibri" pitchFamily="34" charset="0"/>
                <a:ea typeface="Calibri" pitchFamily="34" charset="-122"/>
                <a:cs typeface="Calibri" pitchFamily="34" charset="-120"/>
              </a:rPr>
              <a:t>Sí</a:t>
            </a:r>
            <a:endParaRPr lang="en-US" sz="1350" dirty="0"/>
          </a:p>
        </p:txBody>
      </p:sp>
      <p:sp>
        <p:nvSpPr>
          <p:cNvPr id="16" name="Text 14"/>
          <p:cNvSpPr/>
          <p:nvPr/>
        </p:nvSpPr>
        <p:spPr>
          <a:xfrm>
            <a:off x="8275320" y="4471416"/>
            <a:ext cx="3474720" cy="566928"/>
          </a:xfrm>
          <a:prstGeom prst="rect">
            <a:avLst/>
          </a:prstGeom>
          <a:noFill/>
          <a:ln/>
        </p:spPr>
        <p:txBody>
          <a:bodyPr wrap="square" lIns="0" tIns="0" rIns="0" bIns="0" rtlCol="0" anchor="ctr"/>
          <a:lstStyle/>
          <a:p>
            <a:pPr algn="ctr" indent="0" marL="0">
              <a:buNone/>
            </a:pPr>
            <a:r>
              <a:rPr lang="en-US" sz="1350" b="1" dirty="0">
                <a:solidFill>
                  <a:srgbClr val="17A398"/>
                </a:solidFill>
                <a:latin typeface="Cambria" pitchFamily="34" charset="0"/>
                <a:ea typeface="Cambria" pitchFamily="34" charset="-122"/>
                <a:cs typeface="Cambria" pitchFamily="34" charset="-120"/>
              </a:rPr>
              <a:t>Sí</a:t>
            </a:r>
            <a:endParaRPr lang="en-US" sz="1350" dirty="0"/>
          </a:p>
        </p:txBody>
      </p:sp>
      <p:sp>
        <p:nvSpPr>
          <p:cNvPr id="17" name="Shape 15"/>
          <p:cNvSpPr/>
          <p:nvPr/>
        </p:nvSpPr>
        <p:spPr>
          <a:xfrm>
            <a:off x="685800" y="5074920"/>
            <a:ext cx="10789920" cy="566928"/>
          </a:xfrm>
          <a:prstGeom prst="roundRect">
            <a:avLst>
              <a:gd name="adj" fmla="val 19355"/>
            </a:avLst>
          </a:prstGeom>
          <a:solidFill>
            <a:srgbClr val="FFFFFF"/>
          </a:solidFill>
          <a:ln w="12700">
            <a:solidFill>
              <a:srgbClr val="FFFFFF"/>
            </a:solidFill>
            <a:prstDash val="solid"/>
          </a:ln>
        </p:spPr>
      </p:sp>
      <p:sp>
        <p:nvSpPr>
          <p:cNvPr id="18" name="Text 16"/>
          <p:cNvSpPr/>
          <p:nvPr/>
        </p:nvSpPr>
        <p:spPr>
          <a:xfrm>
            <a:off x="960120" y="5074920"/>
            <a:ext cx="4206240" cy="566928"/>
          </a:xfrm>
          <a:prstGeom prst="rect">
            <a:avLst/>
          </a:prstGeom>
          <a:noFill/>
          <a:ln/>
        </p:spPr>
        <p:txBody>
          <a:bodyPr wrap="square" lIns="0" tIns="0" rIns="0" bIns="0" rtlCol="0" anchor="ctr"/>
          <a:lstStyle/>
          <a:p>
            <a:pPr algn="l" indent="0" marL="0">
              <a:buNone/>
            </a:pPr>
            <a:r>
              <a:rPr lang="en-US" sz="1350" b="1" dirty="0">
                <a:solidFill>
                  <a:srgbClr val="16233F"/>
                </a:solidFill>
                <a:latin typeface="Calibri" pitchFamily="34" charset="0"/>
                <a:ea typeface="Calibri" pitchFamily="34" charset="-122"/>
                <a:cs typeface="Calibri" pitchFamily="34" charset="-120"/>
              </a:rPr>
              <a:t>Origen de la traducción</a:t>
            </a:r>
            <a:endParaRPr lang="en-US" sz="1350" dirty="0"/>
          </a:p>
        </p:txBody>
      </p:sp>
      <p:sp>
        <p:nvSpPr>
          <p:cNvPr id="19" name="Text 17"/>
          <p:cNvSpPr/>
          <p:nvPr/>
        </p:nvSpPr>
        <p:spPr>
          <a:xfrm>
            <a:off x="5166360" y="5074920"/>
            <a:ext cx="3108960" cy="566928"/>
          </a:xfrm>
          <a:prstGeom prst="rect">
            <a:avLst/>
          </a:prstGeom>
          <a:noFill/>
          <a:ln/>
        </p:spPr>
        <p:txBody>
          <a:bodyPr wrap="square" lIns="0" tIns="0" rIns="0" bIns="0" rtlCol="0" anchor="ctr"/>
          <a:lstStyle/>
          <a:p>
            <a:pPr algn="ctr" indent="0" marL="0">
              <a:buNone/>
            </a:pPr>
            <a:r>
              <a:rPr lang="en-US" sz="1350" dirty="0">
                <a:solidFill>
                  <a:srgbClr val="1E2430"/>
                </a:solidFill>
                <a:latin typeface="Calibri" pitchFamily="34" charset="0"/>
                <a:ea typeface="Calibri" pitchFamily="34" charset="-122"/>
                <a:cs typeface="Calibri" pitchFamily="34" charset="-120"/>
              </a:rPr>
              <a:t>La generaba el modelo</a:t>
            </a:r>
            <a:endParaRPr lang="en-US" sz="1350" dirty="0"/>
          </a:p>
        </p:txBody>
      </p:sp>
      <p:sp>
        <p:nvSpPr>
          <p:cNvPr id="20" name="Text 18"/>
          <p:cNvSpPr/>
          <p:nvPr/>
        </p:nvSpPr>
        <p:spPr>
          <a:xfrm>
            <a:off x="8275320" y="5074920"/>
            <a:ext cx="3474720" cy="566928"/>
          </a:xfrm>
          <a:prstGeom prst="rect">
            <a:avLst/>
          </a:prstGeom>
          <a:noFill/>
          <a:ln/>
        </p:spPr>
        <p:txBody>
          <a:bodyPr wrap="square" lIns="0" tIns="0" rIns="0" bIns="0" rtlCol="0" anchor="ctr"/>
          <a:lstStyle/>
          <a:p>
            <a:pPr algn="ctr" indent="0" marL="0">
              <a:buNone/>
            </a:pPr>
            <a:r>
              <a:rPr lang="en-US" sz="1350" b="1" dirty="0">
                <a:solidFill>
                  <a:srgbClr val="17A398"/>
                </a:solidFill>
                <a:latin typeface="Cambria" pitchFamily="34" charset="0"/>
                <a:ea typeface="Cambria" pitchFamily="34" charset="-122"/>
                <a:cs typeface="Cambria" pitchFamily="34" charset="-120"/>
              </a:rPr>
              <a:t>Literal, la del reconocedor</a:t>
            </a:r>
            <a:endParaRPr lang="en-US" sz="1350" dirty="0"/>
          </a:p>
        </p:txBody>
      </p:sp>
      <p:sp>
        <p:nvSpPr>
          <p:cNvPr id="21" name="Shape 19"/>
          <p:cNvSpPr/>
          <p:nvPr/>
        </p:nvSpPr>
        <p:spPr>
          <a:xfrm>
            <a:off x="685800" y="5678424"/>
            <a:ext cx="10789920" cy="566928"/>
          </a:xfrm>
          <a:prstGeom prst="roundRect">
            <a:avLst>
              <a:gd name="adj" fmla="val 19355"/>
            </a:avLst>
          </a:prstGeom>
          <a:solidFill>
            <a:srgbClr val="EEF4FB"/>
          </a:solidFill>
          <a:ln w="12700">
            <a:solidFill>
              <a:srgbClr val="EEF4FB"/>
            </a:solidFill>
            <a:prstDash val="solid"/>
          </a:ln>
        </p:spPr>
      </p:sp>
      <p:sp>
        <p:nvSpPr>
          <p:cNvPr id="22" name="Text 20"/>
          <p:cNvSpPr/>
          <p:nvPr/>
        </p:nvSpPr>
        <p:spPr>
          <a:xfrm>
            <a:off x="960120" y="5678424"/>
            <a:ext cx="4206240" cy="566928"/>
          </a:xfrm>
          <a:prstGeom prst="rect">
            <a:avLst/>
          </a:prstGeom>
          <a:noFill/>
          <a:ln/>
        </p:spPr>
        <p:txBody>
          <a:bodyPr wrap="square" lIns="0" tIns="0" rIns="0" bIns="0" rtlCol="0" anchor="ctr"/>
          <a:lstStyle/>
          <a:p>
            <a:pPr algn="l" indent="0" marL="0">
              <a:buNone/>
            </a:pPr>
            <a:r>
              <a:rPr lang="en-US" sz="1350" b="1" dirty="0">
                <a:solidFill>
                  <a:srgbClr val="16233F"/>
                </a:solidFill>
                <a:latin typeface="Calibri" pitchFamily="34" charset="0"/>
                <a:ea typeface="Calibri" pitchFamily="34" charset="-122"/>
                <a:cs typeface="Calibri" pitchFamily="34" charset="-120"/>
              </a:rPr>
              <a:t>Peso adicional</a:t>
            </a:r>
            <a:endParaRPr lang="en-US" sz="1350" dirty="0"/>
          </a:p>
        </p:txBody>
      </p:sp>
      <p:sp>
        <p:nvSpPr>
          <p:cNvPr id="23" name="Text 21"/>
          <p:cNvSpPr/>
          <p:nvPr/>
        </p:nvSpPr>
        <p:spPr>
          <a:xfrm>
            <a:off x="5166360" y="5678424"/>
            <a:ext cx="3108960" cy="566928"/>
          </a:xfrm>
          <a:prstGeom prst="rect">
            <a:avLst/>
          </a:prstGeom>
          <a:noFill/>
          <a:ln/>
        </p:spPr>
        <p:txBody>
          <a:bodyPr wrap="square" lIns="0" tIns="0" rIns="0" bIns="0" rtlCol="0" anchor="ctr"/>
          <a:lstStyle/>
          <a:p>
            <a:pPr algn="ctr" indent="0" marL="0">
              <a:buNone/>
            </a:pPr>
            <a:r>
              <a:rPr lang="en-US" sz="1350" dirty="0">
                <a:solidFill>
                  <a:srgbClr val="1E2430"/>
                </a:solidFill>
                <a:latin typeface="Calibri" pitchFamily="34" charset="0"/>
                <a:ea typeface="Calibri" pitchFamily="34" charset="-122"/>
                <a:cs typeface="Calibri" pitchFamily="34" charset="-120"/>
              </a:rPr>
              <a:t>~500 MiB</a:t>
            </a:r>
            <a:endParaRPr lang="en-US" sz="1350" dirty="0"/>
          </a:p>
        </p:txBody>
      </p:sp>
      <p:sp>
        <p:nvSpPr>
          <p:cNvPr id="24" name="Text 22"/>
          <p:cNvSpPr/>
          <p:nvPr/>
        </p:nvSpPr>
        <p:spPr>
          <a:xfrm>
            <a:off x="8275320" y="5678424"/>
            <a:ext cx="3474720" cy="566928"/>
          </a:xfrm>
          <a:prstGeom prst="rect">
            <a:avLst/>
          </a:prstGeom>
          <a:noFill/>
          <a:ln/>
        </p:spPr>
        <p:txBody>
          <a:bodyPr wrap="square" lIns="0" tIns="0" rIns="0" bIns="0" rtlCol="0" anchor="ctr"/>
          <a:lstStyle/>
          <a:p>
            <a:pPr algn="ctr" indent="0" marL="0">
              <a:buNone/>
            </a:pPr>
            <a:r>
              <a:rPr lang="en-US" sz="1350" b="1" dirty="0">
                <a:solidFill>
                  <a:srgbClr val="17A398"/>
                </a:solidFill>
                <a:latin typeface="Cambria" pitchFamily="34" charset="0"/>
                <a:ea typeface="Cambria" pitchFamily="34" charset="-122"/>
                <a:cs typeface="Cambria" pitchFamily="34" charset="-120"/>
              </a:rPr>
              <a:t>Ninguno</a:t>
            </a:r>
            <a:endParaRPr lang="en-US" sz="1350" dirty="0"/>
          </a:p>
        </p:txBody>
      </p:sp>
      <p:sp>
        <p:nvSpPr>
          <p:cNvPr id="25" name="Text 23"/>
          <p:cNvSpPr/>
          <p:nvPr/>
        </p:nvSpPr>
        <p:spPr>
          <a:xfrm>
            <a:off x="685800" y="5943600"/>
            <a:ext cx="10789920" cy="365760"/>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Cuesta una segunda pasada del reconocedor, y solo cuando el turno vino en español.</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LATENCIA</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Medida en la aplicación desplegada, no estimada</a:t>
            </a:r>
            <a:endParaRPr lang="en-US" sz="3200" dirty="0"/>
          </a:p>
        </p:txBody>
      </p:sp>
      <p:graphicFrame>
        <p:nvGraphicFramePr>
          <p:cNvPr id="4" name="Chart 0" descr=""/>
          <p:cNvGraphicFramePr/>
          <p:nvPr/>
        </p:nvGraphicFramePr>
        <p:xfrm>
          <a:off x="685800" y="1828800"/>
          <a:ext cx="603504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85800" y="4983480"/>
            <a:ext cx="6035040" cy="365760"/>
          </a:xfrm>
          <a:prstGeom prst="rect">
            <a:avLst/>
          </a:prstGeom>
          <a:noFill/>
          <a:ln/>
        </p:spPr>
        <p:txBody>
          <a:bodyPr wrap="square" lIns="0" tIns="0" rIns="0" bIns="0" rtlCol="0" anchor="ctr"/>
          <a:lstStyle/>
          <a:p>
            <a:pPr algn="ctr" indent="0" marL="0">
              <a:buNone/>
            </a:pPr>
            <a:r>
              <a:rPr lang="en-US" sz="1300" b="1" dirty="0">
                <a:solidFill>
                  <a:srgbClr val="5A6478"/>
                </a:solidFill>
                <a:latin typeface="Calibri" pitchFamily="34" charset="0"/>
                <a:ea typeface="Calibri" pitchFamily="34" charset="-122"/>
                <a:cs typeface="Calibri" pitchFamily="34" charset="-120"/>
              </a:rPr>
              <a:t>Presupuesto del plan: 2 000 ms</a:t>
            </a:r>
            <a:endParaRPr lang="en-US" sz="1300" dirty="0"/>
          </a:p>
        </p:txBody>
      </p:sp>
      <p:sp>
        <p:nvSpPr>
          <p:cNvPr id="6" name="Shape 3"/>
          <p:cNvSpPr/>
          <p:nvPr/>
        </p:nvSpPr>
        <p:spPr>
          <a:xfrm>
            <a:off x="7269480" y="1828800"/>
            <a:ext cx="4206240" cy="3108960"/>
          </a:xfrm>
          <a:prstGeom prst="roundRect">
            <a:avLst>
              <a:gd name="adj" fmla="val 3529"/>
            </a:avLst>
          </a:prstGeom>
          <a:solidFill>
            <a:srgbClr val="EEF4FB"/>
          </a:solidFill>
          <a:ln w="12700">
            <a:solidFill>
              <a:srgbClr val="EEF4FB"/>
            </a:solidFill>
            <a:prstDash val="solid"/>
          </a:ln>
        </p:spPr>
      </p:sp>
      <p:sp>
        <p:nvSpPr>
          <p:cNvPr id="7" name="Text 4"/>
          <p:cNvSpPr/>
          <p:nvPr/>
        </p:nvSpPr>
        <p:spPr>
          <a:xfrm>
            <a:off x="7589520" y="2057400"/>
            <a:ext cx="3566160" cy="731520"/>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El orden es lo que permite cumplirlo</a:t>
            </a:r>
            <a:endParaRPr lang="en-US" sz="1800" dirty="0"/>
          </a:p>
        </p:txBody>
      </p:sp>
      <p:sp>
        <p:nvSpPr>
          <p:cNvPr id="8" name="Text 5"/>
          <p:cNvSpPr/>
          <p:nvPr/>
        </p:nvSpPr>
        <p:spPr>
          <a:xfrm>
            <a:off x="7589520" y="2834640"/>
            <a:ext cx="3566160" cy="2011680"/>
          </a:xfrm>
          <a:prstGeom prst="rect">
            <a:avLst/>
          </a:prstGeom>
          <a:noFill/>
          <a:ln/>
        </p:spPr>
        <p:txBody>
          <a:bodyPr wrap="square" lIns="0" tIns="0" rIns="0" bIns="0" rtlCol="0" anchor="t"/>
          <a:lstStyle/>
          <a:p>
            <a:pPr indent="0" marL="0">
              <a:buNone/>
            </a:pPr>
            <a:r>
              <a:rPr lang="en-US" sz="1350" dirty="0">
                <a:solidFill>
                  <a:srgbClr val="1E2430"/>
                </a:solidFill>
                <a:latin typeface="Calibri" pitchFamily="34" charset="0"/>
                <a:ea typeface="Calibri" pitchFamily="34" charset="-122"/>
                <a:cs typeface="Calibri" pitchFamily="34" charset="-120"/>
              </a:rPr>
              <a:t>La transcripción y la corrección se envían a la interfaz en cuanto están listas, sin esperar a la respuesta del tutor.</a:t>
            </a:r>
            <a:endParaRPr lang="en-US" sz="1350" dirty="0"/>
          </a:p>
          <a:p>
            <a:pPr indent="0" marL="0">
              <a:buNone/>
            </a:pPr>
            <a:endParaRPr lang="en-US" sz="1350" dirty="0"/>
          </a:p>
          <a:p>
            <a:pPr indent="0" marL="0">
              <a:buNone/>
            </a:pPr>
            <a:r>
              <a:rPr lang="en-US" sz="1350" dirty="0">
                <a:solidFill>
                  <a:srgbClr val="1E2430"/>
                </a:solidFill>
                <a:latin typeface="Calibri" pitchFamily="34" charset="0"/>
                <a:ea typeface="Calibri" pitchFamily="34" charset="-122"/>
                <a:cs typeface="Calibri" pitchFamily="34" charset="-120"/>
              </a:rPr>
              <a:t>La respuesta conversacional llega después, en torno a 1.5 s, y las sugerencias se calculan en segundo plano.</a:t>
            </a:r>
            <a:endParaRPr lang="en-US" sz="1350" dirty="0"/>
          </a:p>
          <a:p>
            <a:pPr indent="0" marL="0">
              <a:buNone/>
            </a:pPr>
            <a:endParaRPr lang="en-US" sz="1350" dirty="0"/>
          </a:p>
          <a:p>
            <a:pPr indent="0" marL="0">
              <a:buNone/>
            </a:pPr>
            <a:r>
              <a:rPr lang="en-US" sz="1350" dirty="0">
                <a:solidFill>
                  <a:srgbClr val="1E2430"/>
                </a:solidFill>
                <a:latin typeface="Calibri" pitchFamily="34" charset="0"/>
                <a:ea typeface="Calibri" pitchFamily="34" charset="-122"/>
                <a:cs typeface="Calibri" pitchFamily="34" charset="-120"/>
              </a:rPr>
              <a:t>El procesamiento de señales no es el factor limitante: 67 ms de un presupuesto de 2 000.</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789920" cy="256032"/>
          </a:xfrm>
          <a:prstGeom prst="rect">
            <a:avLst/>
          </a:prstGeom>
          <a:noFill/>
          <a:ln/>
        </p:spPr>
        <p:txBody>
          <a:bodyPr wrap="square" lIns="0" tIns="0" rIns="0" bIns="0" rtlCol="0" anchor="ctr"/>
          <a:lstStyle/>
          <a:p>
            <a:pPr indent="0" marL="0">
              <a:buNone/>
            </a:pPr>
            <a:r>
              <a:rPr lang="en-US" sz="1100" b="1" spc="200" kern="0" dirty="0">
                <a:solidFill>
                  <a:srgbClr val="17A398"/>
                </a:solidFill>
                <a:latin typeface="Calibri" pitchFamily="34" charset="0"/>
                <a:ea typeface="Calibri" pitchFamily="34" charset="-122"/>
                <a:cs typeface="Calibri" pitchFamily="34" charset="-120"/>
              </a:rPr>
              <a:t>LIMITACIONES DECLARADAS</a:t>
            </a:r>
            <a:endParaRPr lang="en-US" sz="1100" dirty="0"/>
          </a:p>
        </p:txBody>
      </p:sp>
      <p:sp>
        <p:nvSpPr>
          <p:cNvPr id="3" name="Text 1"/>
          <p:cNvSpPr/>
          <p:nvPr/>
        </p:nvSpPr>
        <p:spPr>
          <a:xfrm>
            <a:off x="685800" y="658368"/>
            <a:ext cx="10789920" cy="685800"/>
          </a:xfrm>
          <a:prstGeom prst="rect">
            <a:avLst/>
          </a:prstGeom>
          <a:noFill/>
          <a:ln/>
        </p:spPr>
        <p:txBody>
          <a:bodyPr wrap="square" lIns="0" tIns="0" rIns="0" bIns="0" rtlCol="0" anchor="t"/>
          <a:lstStyle/>
          <a:p>
            <a:pPr indent="0" marL="0">
              <a:buNone/>
            </a:pPr>
            <a:r>
              <a:rPr lang="en-US" sz="3200" b="1" dirty="0">
                <a:solidFill>
                  <a:srgbClr val="16233F"/>
                </a:solidFill>
                <a:latin typeface="Cambria" pitchFamily="34" charset="0"/>
                <a:ea typeface="Cambria" pitchFamily="34" charset="-122"/>
                <a:cs typeface="Cambria" pitchFamily="34" charset="-120"/>
              </a:rPr>
              <a:t>Decisiones conscientes, no omisiones</a:t>
            </a:r>
            <a:endParaRPr lang="en-US" sz="3200" dirty="0"/>
          </a:p>
        </p:txBody>
      </p:sp>
      <p:sp>
        <p:nvSpPr>
          <p:cNvPr id="4" name="Text 2"/>
          <p:cNvSpPr/>
          <p:nvPr/>
        </p:nvSpPr>
        <p:spPr>
          <a:xfrm>
            <a:off x="685800" y="1783080"/>
            <a:ext cx="10607040" cy="365760"/>
          </a:xfrm>
          <a:prstGeom prst="rect">
            <a:avLst/>
          </a:prstGeom>
          <a:noFill/>
          <a:ln/>
        </p:spPr>
        <p:txBody>
          <a:bodyPr wrap="square" lIns="0" tIns="0" rIns="0" bIns="0" rtlCol="0" anchor="ctr"/>
          <a:lstStyle/>
          <a:p>
            <a:pPr indent="0" marL="0">
              <a:buNone/>
            </a:pPr>
            <a:r>
              <a:rPr lang="en-US" sz="1550" b="1" dirty="0">
                <a:solidFill>
                  <a:srgbClr val="16233F"/>
                </a:solidFill>
                <a:latin typeface="Cambria" pitchFamily="34" charset="0"/>
                <a:ea typeface="Cambria" pitchFamily="34" charset="-122"/>
                <a:cs typeface="Cambria" pitchFamily="34" charset="-120"/>
              </a:rPr>
              <a:t>La puntuación acústica depende más de quién habla que de cómo pronuncia</a:t>
            </a:r>
            <a:endParaRPr lang="en-US" sz="1550" dirty="0"/>
          </a:p>
        </p:txBody>
      </p:sp>
      <p:sp>
        <p:nvSpPr>
          <p:cNvPr id="5" name="Text 3"/>
          <p:cNvSpPr/>
          <p:nvPr/>
        </p:nvSpPr>
        <p:spPr>
          <a:xfrm>
            <a:off x="685800" y="2130552"/>
            <a:ext cx="10607040" cy="457200"/>
          </a:xfrm>
          <a:prstGeom prst="rect">
            <a:avLst/>
          </a:prstGeom>
          <a:noFill/>
          <a:ln/>
        </p:spPr>
        <p:txBody>
          <a:bodyPr wrap="square" lIns="0" tIns="0" rIns="0" bIns="0" rtlCol="0" anchor="t"/>
          <a:lstStyle/>
          <a:p>
            <a:pPr indent="0" marL="0">
              <a:buNone/>
            </a:pPr>
            <a:r>
              <a:rPr lang="en-US" sz="1250" dirty="0">
                <a:solidFill>
                  <a:srgbClr val="5A6478"/>
                </a:solidFill>
                <a:latin typeface="Calibri" pitchFamily="34" charset="0"/>
                <a:ea typeface="Calibri" pitchFamily="34" charset="-122"/>
                <a:cs typeface="Calibri" pitchFamily="34" charset="-120"/>
              </a:rPr>
              <a:t>Cuantificado en 7.08 frente a 1.20. Motivó el rediseño de la funcionalidad hacia el modo práctica.</a:t>
            </a:r>
            <a:endParaRPr lang="en-US" sz="1250" dirty="0"/>
          </a:p>
        </p:txBody>
      </p:sp>
      <p:sp>
        <p:nvSpPr>
          <p:cNvPr id="6" name="Text 4"/>
          <p:cNvSpPr/>
          <p:nvPr/>
        </p:nvSpPr>
        <p:spPr>
          <a:xfrm>
            <a:off x="685800" y="2651760"/>
            <a:ext cx="10607040" cy="365760"/>
          </a:xfrm>
          <a:prstGeom prst="rect">
            <a:avLst/>
          </a:prstGeom>
          <a:noFill/>
          <a:ln/>
        </p:spPr>
        <p:txBody>
          <a:bodyPr wrap="square" lIns="0" tIns="0" rIns="0" bIns="0" rtlCol="0" anchor="ctr"/>
          <a:lstStyle/>
          <a:p>
            <a:pPr indent="0" marL="0">
              <a:buNone/>
            </a:pPr>
            <a:r>
              <a:rPr lang="en-US" sz="1550" b="1" dirty="0">
                <a:solidFill>
                  <a:srgbClr val="16233F"/>
                </a:solidFill>
                <a:latin typeface="Cambria" pitchFamily="34" charset="0"/>
                <a:ea typeface="Cambria" pitchFamily="34" charset="-122"/>
                <a:cs typeface="Cambria" pitchFamily="34" charset="-120"/>
              </a:rPr>
              <a:t>Un error de un solo fonema se diluye en la puntuación global</a:t>
            </a:r>
            <a:endParaRPr lang="en-US" sz="1550" dirty="0"/>
          </a:p>
        </p:txBody>
      </p:sp>
      <p:sp>
        <p:nvSpPr>
          <p:cNvPr id="7" name="Text 5"/>
          <p:cNvSpPr/>
          <p:nvPr/>
        </p:nvSpPr>
        <p:spPr>
          <a:xfrm>
            <a:off x="685800" y="2999232"/>
            <a:ext cx="10607040" cy="457200"/>
          </a:xfrm>
          <a:prstGeom prst="rect">
            <a:avLst/>
          </a:prstGeom>
          <a:noFill/>
          <a:ln/>
        </p:spPr>
        <p:txBody>
          <a:bodyPr wrap="square" lIns="0" tIns="0" rIns="0" bIns="0" rtlCol="0" anchor="t"/>
          <a:lstStyle/>
          <a:p>
            <a:pPr indent="0" marL="0">
              <a:buNone/>
            </a:pPr>
            <a:r>
              <a:rPr lang="en-US" sz="1250" dirty="0">
                <a:solidFill>
                  <a:srgbClr val="5A6478"/>
                </a:solidFill>
                <a:latin typeface="Calibri" pitchFamily="34" charset="0"/>
                <a:ea typeface="Calibri" pitchFamily="34" charset="-122"/>
                <a:cs typeface="Calibri" pitchFamily="34" charset="-120"/>
              </a:rPr>
              <a:t>El margen observado, del orden del 10 %, coincide con la fracción de la frase que cambió. De ahí la puntuación por palabra.</a:t>
            </a:r>
            <a:endParaRPr lang="en-US" sz="1250" dirty="0"/>
          </a:p>
        </p:txBody>
      </p:sp>
      <p:sp>
        <p:nvSpPr>
          <p:cNvPr id="8" name="Text 6"/>
          <p:cNvSpPr/>
          <p:nvPr/>
        </p:nvSpPr>
        <p:spPr>
          <a:xfrm>
            <a:off x="685800" y="3520440"/>
            <a:ext cx="10607040" cy="365760"/>
          </a:xfrm>
          <a:prstGeom prst="rect">
            <a:avLst/>
          </a:prstGeom>
          <a:noFill/>
          <a:ln/>
        </p:spPr>
        <p:txBody>
          <a:bodyPr wrap="square" lIns="0" tIns="0" rIns="0" bIns="0" rtlCol="0" anchor="ctr"/>
          <a:lstStyle/>
          <a:p>
            <a:pPr indent="0" marL="0">
              <a:buNone/>
            </a:pPr>
            <a:r>
              <a:rPr lang="en-US" sz="1550" b="1" dirty="0">
                <a:solidFill>
                  <a:srgbClr val="16233F"/>
                </a:solidFill>
                <a:latin typeface="Cambria" pitchFamily="34" charset="0"/>
                <a:ea typeface="Cambria" pitchFamily="34" charset="-122"/>
                <a:cs typeface="Cambria" pitchFamily="34" charset="-120"/>
              </a:rPr>
              <a:t>El tutor no mantiene el hilo entre turnos</a:t>
            </a:r>
            <a:endParaRPr lang="en-US" sz="1550" dirty="0"/>
          </a:p>
        </p:txBody>
      </p:sp>
      <p:sp>
        <p:nvSpPr>
          <p:cNvPr id="9" name="Text 7"/>
          <p:cNvSpPr/>
          <p:nvPr/>
        </p:nvSpPr>
        <p:spPr>
          <a:xfrm>
            <a:off x="685800" y="3867912"/>
            <a:ext cx="10607040" cy="457200"/>
          </a:xfrm>
          <a:prstGeom prst="rect">
            <a:avLst/>
          </a:prstGeom>
          <a:noFill/>
          <a:ln/>
        </p:spPr>
        <p:txBody>
          <a:bodyPr wrap="square" lIns="0" tIns="0" rIns="0" bIns="0" rtlCol="0" anchor="t"/>
          <a:lstStyle/>
          <a:p>
            <a:pPr indent="0" marL="0">
              <a:buNone/>
            </a:pPr>
            <a:r>
              <a:rPr lang="en-US" sz="1250" dirty="0">
                <a:solidFill>
                  <a:srgbClr val="5A6478"/>
                </a:solidFill>
                <a:latin typeface="Calibri" pitchFamily="34" charset="0"/>
                <a:ea typeface="Calibri" pitchFamily="34" charset="-122"/>
                <a:cs typeface="Calibri" pitchFamily="34" charset="-120"/>
              </a:rPr>
              <a:t>Un T5 de instrucciones transforma frases, no dialoga. La memoria conversacional exige un modelo de chat y su latencia: es un compromiso explícito.</a:t>
            </a:r>
            <a:endParaRPr lang="en-US" sz="1250" dirty="0"/>
          </a:p>
        </p:txBody>
      </p:sp>
      <p:sp>
        <p:nvSpPr>
          <p:cNvPr id="10" name="Text 8"/>
          <p:cNvSpPr/>
          <p:nvPr/>
        </p:nvSpPr>
        <p:spPr>
          <a:xfrm>
            <a:off x="685800" y="4389120"/>
            <a:ext cx="10607040" cy="365760"/>
          </a:xfrm>
          <a:prstGeom prst="rect">
            <a:avLst/>
          </a:prstGeom>
          <a:noFill/>
          <a:ln/>
        </p:spPr>
        <p:txBody>
          <a:bodyPr wrap="square" lIns="0" tIns="0" rIns="0" bIns="0" rtlCol="0" anchor="ctr"/>
          <a:lstStyle/>
          <a:p>
            <a:pPr indent="0" marL="0">
              <a:buNone/>
            </a:pPr>
            <a:r>
              <a:rPr lang="en-US" sz="1550" b="1" dirty="0">
                <a:solidFill>
                  <a:srgbClr val="16233F"/>
                </a:solidFill>
                <a:latin typeface="Cambria" pitchFamily="34" charset="0"/>
                <a:ea typeface="Cambria" pitchFamily="34" charset="-122"/>
                <a:cs typeface="Cambria" pitchFamily="34" charset="-120"/>
              </a:rPr>
              <a:t>La detección de habla es frágil sobre voz real</a:t>
            </a:r>
            <a:endParaRPr lang="en-US" sz="1550" dirty="0"/>
          </a:p>
        </p:txBody>
      </p:sp>
      <p:sp>
        <p:nvSpPr>
          <p:cNvPr id="11" name="Text 9"/>
          <p:cNvSpPr/>
          <p:nvPr/>
        </p:nvSpPr>
        <p:spPr>
          <a:xfrm>
            <a:off x="685800" y="4736592"/>
            <a:ext cx="10607040" cy="457200"/>
          </a:xfrm>
          <a:prstGeom prst="rect">
            <a:avLst/>
          </a:prstGeom>
          <a:noFill/>
          <a:ln/>
        </p:spPr>
        <p:txBody>
          <a:bodyPr wrap="square" lIns="0" tIns="0" rIns="0" bIns="0" rtlCol="0" anchor="t"/>
          <a:lstStyle/>
          <a:p>
            <a:pPr indent="0" marL="0">
              <a:buNone/>
            </a:pPr>
            <a:r>
              <a:rPr lang="en-US" sz="1250" dirty="0">
                <a:solidFill>
                  <a:srgbClr val="5A6478"/>
                </a:solidFill>
                <a:latin typeface="Calibri" pitchFamily="34" charset="0"/>
                <a:ea typeface="Calibri" pitchFamily="34" charset="-122"/>
                <a:cs typeface="Calibri" pitchFamily="34" charset="-120"/>
              </a:rPr>
              <a:t>La fracción de tramas sonoras se sitúa entre 0.11 y 0.41 frente a un umbral de 0.10.</a:t>
            </a:r>
            <a:endParaRPr lang="en-US" sz="1250" dirty="0"/>
          </a:p>
        </p:txBody>
      </p:sp>
      <p:sp>
        <p:nvSpPr>
          <p:cNvPr id="12" name="Text 10"/>
          <p:cNvSpPr/>
          <p:nvPr/>
        </p:nvSpPr>
        <p:spPr>
          <a:xfrm>
            <a:off x="685800" y="5257800"/>
            <a:ext cx="10607040" cy="365760"/>
          </a:xfrm>
          <a:prstGeom prst="rect">
            <a:avLst/>
          </a:prstGeom>
          <a:noFill/>
          <a:ln/>
        </p:spPr>
        <p:txBody>
          <a:bodyPr wrap="square" lIns="0" tIns="0" rIns="0" bIns="0" rtlCol="0" anchor="ctr"/>
          <a:lstStyle/>
          <a:p>
            <a:pPr indent="0" marL="0">
              <a:buNone/>
            </a:pPr>
            <a:r>
              <a:rPr lang="en-US" sz="1550" b="1" dirty="0">
                <a:solidFill>
                  <a:srgbClr val="16233F"/>
                </a:solidFill>
                <a:latin typeface="Cambria" pitchFamily="34" charset="0"/>
                <a:ea typeface="Cambria" pitchFamily="34" charset="-122"/>
                <a:cs typeface="Cambria" pitchFamily="34" charset="-120"/>
              </a:rPr>
              <a:t>Firefox y Safari no se probaron en dispositivo real</a:t>
            </a:r>
            <a:endParaRPr lang="en-US" sz="1550" dirty="0"/>
          </a:p>
        </p:txBody>
      </p:sp>
      <p:sp>
        <p:nvSpPr>
          <p:cNvPr id="13" name="Text 11"/>
          <p:cNvSpPr/>
          <p:nvPr/>
        </p:nvSpPr>
        <p:spPr>
          <a:xfrm>
            <a:off x="685800" y="5605272"/>
            <a:ext cx="10607040" cy="457200"/>
          </a:xfrm>
          <a:prstGeom prst="rect">
            <a:avLst/>
          </a:prstGeom>
          <a:noFill/>
          <a:ln/>
        </p:spPr>
        <p:txBody>
          <a:bodyPr wrap="square" lIns="0" tIns="0" rIns="0" bIns="0" rtlCol="0" anchor="t"/>
          <a:lstStyle/>
          <a:p>
            <a:pPr indent="0" marL="0">
              <a:buNone/>
            </a:pPr>
            <a:r>
              <a:rPr lang="en-US" sz="1250" dirty="0">
                <a:solidFill>
                  <a:srgbClr val="5A6478"/>
                </a:solidFill>
                <a:latin typeface="Calibri" pitchFamily="34" charset="0"/>
                <a:ea typeface="Calibri" pitchFamily="34" charset="-122"/>
                <a:cs typeface="Calibri" pitchFamily="34" charset="-120"/>
              </a:rPr>
              <a:t>Los trabajadores de inferencia usan módulos ECMAScript, sin soporte en Firefox anterior a la versión 114.</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685800" y="1965960"/>
            <a:ext cx="96012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Demostración en vivo</a:t>
            </a:r>
            <a:endParaRPr lang="en-US" sz="4200" dirty="0"/>
          </a:p>
        </p:txBody>
      </p:sp>
      <p:sp>
        <p:nvSpPr>
          <p:cNvPr id="3" name="Text 1"/>
          <p:cNvSpPr/>
          <p:nvPr/>
        </p:nvSpPr>
        <p:spPr>
          <a:xfrm>
            <a:off x="685800" y="2834640"/>
            <a:ext cx="9601200" cy="457200"/>
          </a:xfrm>
          <a:prstGeom prst="rect">
            <a:avLst/>
          </a:prstGeom>
          <a:noFill/>
          <a:ln/>
        </p:spPr>
        <p:txBody>
          <a:bodyPr wrap="square" lIns="0" tIns="0" rIns="0" bIns="0" rtlCol="0" anchor="ctr"/>
          <a:lstStyle/>
          <a:p>
            <a:pPr indent="0" marL="0">
              <a:buNone/>
            </a:pPr>
            <a:r>
              <a:rPr lang="en-US" sz="2000" dirty="0">
                <a:solidFill>
                  <a:srgbClr val="17A398"/>
                </a:solidFill>
                <a:latin typeface="Calibri" pitchFamily="34" charset="0"/>
                <a:ea typeface="Calibri" pitchFamily="34" charset="-122"/>
                <a:cs typeface="Calibri" pitchFamily="34" charset="-120"/>
              </a:rPr>
              <a:t>humanoidcat.github.io/mpet</a:t>
            </a:r>
            <a:endParaRPr lang="en-US" sz="2000" dirty="0"/>
          </a:p>
        </p:txBody>
      </p:sp>
      <p:sp>
        <p:nvSpPr>
          <p:cNvPr id="4" name="Text 2"/>
          <p:cNvSpPr/>
          <p:nvPr/>
        </p:nvSpPr>
        <p:spPr>
          <a:xfrm>
            <a:off x="685800" y="4114800"/>
            <a:ext cx="24688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0.115 Hz</a:t>
            </a:r>
            <a:endParaRPr lang="en-US" sz="3000" dirty="0"/>
          </a:p>
        </p:txBody>
      </p:sp>
      <p:sp>
        <p:nvSpPr>
          <p:cNvPr id="5" name="Text 3"/>
          <p:cNvSpPr/>
          <p:nvPr/>
        </p:nvSpPr>
        <p:spPr>
          <a:xfrm>
            <a:off x="685800" y="4754880"/>
            <a:ext cx="2468880" cy="731520"/>
          </a:xfrm>
          <a:prstGeom prst="rect">
            <a:avLst/>
          </a:prstGeom>
          <a:noFill/>
          <a:ln/>
        </p:spPr>
        <p:txBody>
          <a:bodyPr wrap="square" lIns="0" tIns="0" rIns="0" bIns="0" rtlCol="0" anchor="t"/>
          <a:lstStyle/>
          <a:p>
            <a:pPr indent="0" marL="0">
              <a:buNone/>
            </a:pPr>
            <a:r>
              <a:rPr lang="en-US" sz="1250" dirty="0">
                <a:solidFill>
                  <a:srgbClr val="DCE7F5"/>
                </a:solidFill>
                <a:latin typeface="Calibri" pitchFamily="34" charset="0"/>
                <a:ea typeface="Calibri" pitchFamily="34" charset="-122"/>
                <a:cs typeface="Calibri" pitchFamily="34" charset="-120"/>
              </a:rPr>
              <a:t>error de frecuencia</a:t>
            </a:r>
            <a:endParaRPr lang="en-US" sz="1250" dirty="0"/>
          </a:p>
          <a:p>
            <a:pPr indent="0" marL="0">
              <a:buNone/>
            </a:pPr>
            <a:r>
              <a:rPr lang="en-US" sz="1250" dirty="0">
                <a:solidFill>
                  <a:srgbClr val="DCE7F5"/>
                </a:solidFill>
                <a:latin typeface="Calibri" pitchFamily="34" charset="0"/>
                <a:ea typeface="Calibri" pitchFamily="34" charset="-122"/>
                <a:cs typeface="Calibri" pitchFamily="34" charset="-120"/>
              </a:rPr>
              <a:t>fundamental</a:t>
            </a:r>
            <a:endParaRPr lang="en-US" sz="1250" dirty="0"/>
          </a:p>
        </p:txBody>
      </p:sp>
      <p:sp>
        <p:nvSpPr>
          <p:cNvPr id="6" name="Text 4"/>
          <p:cNvSpPr/>
          <p:nvPr/>
        </p:nvSpPr>
        <p:spPr>
          <a:xfrm>
            <a:off x="3429000" y="4114800"/>
            <a:ext cx="24688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0.009 %</a:t>
            </a:r>
            <a:endParaRPr lang="en-US" sz="3000" dirty="0"/>
          </a:p>
        </p:txBody>
      </p:sp>
      <p:sp>
        <p:nvSpPr>
          <p:cNvPr id="7" name="Text 5"/>
          <p:cNvSpPr/>
          <p:nvPr/>
        </p:nvSpPr>
        <p:spPr>
          <a:xfrm>
            <a:off x="3429000" y="4754880"/>
            <a:ext cx="2468880" cy="731520"/>
          </a:xfrm>
          <a:prstGeom prst="rect">
            <a:avLst/>
          </a:prstGeom>
          <a:noFill/>
          <a:ln/>
        </p:spPr>
        <p:txBody>
          <a:bodyPr wrap="square" lIns="0" tIns="0" rIns="0" bIns="0" rtlCol="0" anchor="t"/>
          <a:lstStyle/>
          <a:p>
            <a:pPr indent="0" marL="0">
              <a:buNone/>
            </a:pPr>
            <a:r>
              <a:rPr lang="en-US" sz="1250" dirty="0">
                <a:solidFill>
                  <a:srgbClr val="DCE7F5"/>
                </a:solidFill>
                <a:latin typeface="Calibri" pitchFamily="34" charset="0"/>
                <a:ea typeface="Calibri" pitchFamily="34" charset="-122"/>
                <a:cs typeface="Calibri" pitchFamily="34" charset="-120"/>
              </a:rPr>
              <a:t>error de coeficientes</a:t>
            </a:r>
            <a:endParaRPr lang="en-US" sz="1250" dirty="0"/>
          </a:p>
          <a:p>
            <a:pPr indent="0" marL="0">
              <a:buNone/>
            </a:pPr>
            <a:r>
              <a:rPr lang="en-US" sz="1250" dirty="0">
                <a:solidFill>
                  <a:srgbClr val="DCE7F5"/>
                </a:solidFill>
                <a:latin typeface="Calibri" pitchFamily="34" charset="0"/>
                <a:ea typeface="Calibri" pitchFamily="34" charset="-122"/>
                <a:cs typeface="Calibri" pitchFamily="34" charset="-120"/>
              </a:rPr>
              <a:t>cepstrales</a:t>
            </a:r>
            <a:endParaRPr lang="en-US" sz="1250" dirty="0"/>
          </a:p>
        </p:txBody>
      </p:sp>
      <p:sp>
        <p:nvSpPr>
          <p:cNvPr id="8" name="Text 6"/>
          <p:cNvSpPr/>
          <p:nvPr/>
        </p:nvSpPr>
        <p:spPr>
          <a:xfrm>
            <a:off x="6172200" y="4114800"/>
            <a:ext cx="24688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655</a:t>
            </a:r>
            <a:endParaRPr lang="en-US" sz="3000" dirty="0"/>
          </a:p>
        </p:txBody>
      </p:sp>
      <p:sp>
        <p:nvSpPr>
          <p:cNvPr id="9" name="Text 7"/>
          <p:cNvSpPr/>
          <p:nvPr/>
        </p:nvSpPr>
        <p:spPr>
          <a:xfrm>
            <a:off x="6172200" y="4754880"/>
            <a:ext cx="2468880" cy="731520"/>
          </a:xfrm>
          <a:prstGeom prst="rect">
            <a:avLst/>
          </a:prstGeom>
          <a:noFill/>
          <a:ln/>
        </p:spPr>
        <p:txBody>
          <a:bodyPr wrap="square" lIns="0" tIns="0" rIns="0" bIns="0" rtlCol="0" anchor="t"/>
          <a:lstStyle/>
          <a:p>
            <a:pPr indent="0" marL="0">
              <a:buNone/>
            </a:pPr>
            <a:r>
              <a:rPr lang="en-US" sz="1250" dirty="0">
                <a:solidFill>
                  <a:srgbClr val="DCE7F5"/>
                </a:solidFill>
                <a:latin typeface="Calibri" pitchFamily="34" charset="0"/>
                <a:ea typeface="Calibri" pitchFamily="34" charset="-122"/>
                <a:cs typeface="Calibri" pitchFamily="34" charset="-120"/>
              </a:rPr>
              <a:t>pruebas en</a:t>
            </a:r>
            <a:endParaRPr lang="en-US" sz="1250" dirty="0"/>
          </a:p>
          <a:p>
            <a:pPr indent="0" marL="0">
              <a:buNone/>
            </a:pPr>
            <a:r>
              <a:rPr lang="en-US" sz="1250" dirty="0">
                <a:solidFill>
                  <a:srgbClr val="DCE7F5"/>
                </a:solidFill>
                <a:latin typeface="Calibri" pitchFamily="34" charset="0"/>
                <a:ea typeface="Calibri" pitchFamily="34" charset="-122"/>
                <a:cs typeface="Calibri" pitchFamily="34" charset="-120"/>
              </a:rPr>
              <a:t>integración continua</a:t>
            </a:r>
            <a:endParaRPr lang="en-US" sz="1250" dirty="0"/>
          </a:p>
        </p:txBody>
      </p:sp>
      <p:sp>
        <p:nvSpPr>
          <p:cNvPr id="10" name="Text 8"/>
          <p:cNvSpPr/>
          <p:nvPr/>
        </p:nvSpPr>
        <p:spPr>
          <a:xfrm>
            <a:off x="8915400" y="4114800"/>
            <a:ext cx="24688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11" name="Text 9"/>
          <p:cNvSpPr/>
          <p:nvPr/>
        </p:nvSpPr>
        <p:spPr>
          <a:xfrm>
            <a:off x="8915400" y="4754880"/>
            <a:ext cx="2468880" cy="731520"/>
          </a:xfrm>
          <a:prstGeom prst="rect">
            <a:avLst/>
          </a:prstGeom>
          <a:noFill/>
          <a:ln/>
        </p:spPr>
        <p:txBody>
          <a:bodyPr wrap="square" lIns="0" tIns="0" rIns="0" bIns="0" rtlCol="0" anchor="t"/>
          <a:lstStyle/>
          <a:p>
            <a:pPr indent="0" marL="0">
              <a:buNone/>
            </a:pPr>
            <a:r>
              <a:rPr lang="en-US" sz="1250" dirty="0">
                <a:solidFill>
                  <a:srgbClr val="DCE7F5"/>
                </a:solidFill>
                <a:latin typeface="Calibri" pitchFamily="34" charset="0"/>
                <a:ea typeface="Calibri" pitchFamily="34" charset="-122"/>
                <a:cs typeface="Calibri" pitchFamily="34" charset="-120"/>
              </a:rPr>
              <a:t>llamadas a servicios</a:t>
            </a:r>
            <a:endParaRPr lang="en-US" sz="1250" dirty="0"/>
          </a:p>
          <a:p>
            <a:pPr indent="0" marL="0">
              <a:buNone/>
            </a:pPr>
            <a:r>
              <a:rPr lang="en-US" sz="1250" dirty="0">
                <a:solidFill>
                  <a:srgbClr val="DCE7F5"/>
                </a:solidFill>
                <a:latin typeface="Calibri" pitchFamily="34" charset="0"/>
                <a:ea typeface="Calibri" pitchFamily="34" charset="-122"/>
                <a:cs typeface="Calibri" pitchFamily="34" charset="-120"/>
              </a:rPr>
              <a:t>externos</a:t>
            </a:r>
            <a:endParaRPr lang="en-US" sz="1250" dirty="0"/>
          </a:p>
        </p:txBody>
      </p:sp>
      <p:sp>
        <p:nvSpPr>
          <p:cNvPr id="12" name="Text 10"/>
          <p:cNvSpPr/>
          <p:nvPr/>
        </p:nvSpPr>
        <p:spPr>
          <a:xfrm>
            <a:off x="685800" y="5806440"/>
            <a:ext cx="10515600" cy="365760"/>
          </a:xfrm>
          <a:prstGeom prst="rect">
            <a:avLst/>
          </a:prstGeom>
          <a:noFill/>
          <a:ln/>
        </p:spPr>
        <p:txBody>
          <a:bodyPr wrap="square" lIns="0" tIns="0" rIns="0" bIns="0" rtlCol="0" anchor="ctr"/>
          <a:lstStyle/>
          <a:p>
            <a:pPr indent="0" marL="0">
              <a:buNone/>
            </a:pPr>
            <a:r>
              <a:rPr lang="en-US" sz="1350" i="1" dirty="0">
                <a:solidFill>
                  <a:srgbClr val="8FA6C4"/>
                </a:solidFill>
                <a:latin typeface="Calibri" pitchFamily="34" charset="0"/>
                <a:ea typeface="Calibri" pitchFamily="34" charset="-122"/>
                <a:cs typeface="Calibri" pitchFamily="34" charset="-120"/>
              </a:rPr>
              <a:t>Todo el procesamiento de señales y toda la inferencia ocurren en el navegador del usuario.</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MPET - Presentación técnica</dc:title>
  <dc:subject>PptxGenJS Presentation</dc:subject>
  <dc:creator>Equipo MPET</dc:creator>
  <cp:lastModifiedBy>Equipo MPET</cp:lastModifiedBy>
  <cp:revision>1</cp:revision>
  <dcterms:created xsi:type="dcterms:W3CDTF">2026-08-17T21:44:22Z</dcterms:created>
  <dcterms:modified xsi:type="dcterms:W3CDTF">2026-08-17T21:44:22Z</dcterms:modified>
</cp:coreProperties>
</file>